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99"/>
  </p:handoutMasterIdLst>
  <p:sldIdLst>
    <p:sldId id="489" r:id="rId3"/>
    <p:sldId id="490" r:id="rId4"/>
    <p:sldId id="486" r:id="rId5"/>
    <p:sldId id="264" r:id="rId7"/>
    <p:sldId id="265" r:id="rId8"/>
    <p:sldId id="267" r:id="rId9"/>
    <p:sldId id="268" r:id="rId10"/>
    <p:sldId id="269" r:id="rId11"/>
    <p:sldId id="270" r:id="rId12"/>
    <p:sldId id="382" r:id="rId13"/>
    <p:sldId id="373" r:id="rId14"/>
    <p:sldId id="376" r:id="rId15"/>
    <p:sldId id="377" r:id="rId16"/>
    <p:sldId id="378" r:id="rId17"/>
    <p:sldId id="379" r:id="rId18"/>
    <p:sldId id="380" r:id="rId19"/>
    <p:sldId id="381" r:id="rId20"/>
    <p:sldId id="384" r:id="rId21"/>
    <p:sldId id="397" r:id="rId22"/>
    <p:sldId id="398" r:id="rId23"/>
    <p:sldId id="394" r:id="rId24"/>
    <p:sldId id="395" r:id="rId25"/>
    <p:sldId id="396" r:id="rId26"/>
    <p:sldId id="393" r:id="rId27"/>
    <p:sldId id="285" r:id="rId28"/>
    <p:sldId id="383" r:id="rId29"/>
    <p:sldId id="583" r:id="rId30"/>
    <p:sldId id="582" r:id="rId31"/>
    <p:sldId id="387" r:id="rId32"/>
    <p:sldId id="271" r:id="rId33"/>
    <p:sldId id="272" r:id="rId34"/>
    <p:sldId id="273" r:id="rId35"/>
    <p:sldId id="274" r:id="rId36"/>
    <p:sldId id="275" r:id="rId37"/>
    <p:sldId id="276" r:id="rId38"/>
    <p:sldId id="291" r:id="rId39"/>
    <p:sldId id="293" r:id="rId40"/>
    <p:sldId id="294" r:id="rId41"/>
    <p:sldId id="295" r:id="rId42"/>
    <p:sldId id="296" r:id="rId43"/>
    <p:sldId id="297" r:id="rId44"/>
    <p:sldId id="299" r:id="rId45"/>
    <p:sldId id="301" r:id="rId46"/>
    <p:sldId id="300" r:id="rId47"/>
    <p:sldId id="416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417" r:id="rId56"/>
    <p:sldId id="326" r:id="rId57"/>
    <p:sldId id="327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2" r:id="rId71"/>
    <p:sldId id="344" r:id="rId72"/>
    <p:sldId id="345" r:id="rId73"/>
    <p:sldId id="347" r:id="rId74"/>
    <p:sldId id="348" r:id="rId75"/>
    <p:sldId id="418" r:id="rId76"/>
    <p:sldId id="349" r:id="rId77"/>
    <p:sldId id="350" r:id="rId78"/>
    <p:sldId id="351" r:id="rId79"/>
    <p:sldId id="352" r:id="rId80"/>
    <p:sldId id="353" r:id="rId81"/>
    <p:sldId id="410" r:id="rId82"/>
    <p:sldId id="355" r:id="rId83"/>
    <p:sldId id="356" r:id="rId84"/>
    <p:sldId id="357" r:id="rId85"/>
    <p:sldId id="358" r:id="rId86"/>
    <p:sldId id="411" r:id="rId87"/>
    <p:sldId id="359" r:id="rId88"/>
    <p:sldId id="360" r:id="rId89"/>
    <p:sldId id="362" r:id="rId90"/>
    <p:sldId id="364" r:id="rId91"/>
    <p:sldId id="366" r:id="rId92"/>
    <p:sldId id="419" r:id="rId93"/>
    <p:sldId id="370" r:id="rId94"/>
    <p:sldId id="368" r:id="rId95"/>
    <p:sldId id="369" r:id="rId96"/>
    <p:sldId id="371" r:id="rId97"/>
    <p:sldId id="491" r:id="rId98"/>
  </p:sldIdLst>
  <p:sldSz cx="9144000" cy="6858000" type="screen4x3"/>
  <p:notesSz cx="6858000" cy="9144000"/>
  <p:custDataLst>
    <p:tags r:id="rId10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61A"/>
    <a:srgbClr val="33CCFF"/>
    <a:srgbClr val="39C757"/>
    <a:srgbClr val="CCCC00"/>
    <a:srgbClr val="3333CC"/>
    <a:srgbClr val="009900"/>
    <a:srgbClr val="CC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8029"/>
  </p:normalViewPr>
  <p:slideViewPr>
    <p:cSldViewPr showGuide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85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handoutMaster" Target="handoutMasters/handoutMaster1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3" Type="http://schemas.openxmlformats.org/officeDocument/2006/relationships/tags" Target="tags/tag2.xml"/><Relationship Id="rId102" Type="http://schemas.openxmlformats.org/officeDocument/2006/relationships/tableStyles" Target="tableStyles.xml"/><Relationship Id="rId101" Type="http://schemas.openxmlformats.org/officeDocument/2006/relationships/viewProps" Target="viewProps.xml"/><Relationship Id="rId100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页眉占位符 225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钱晓捷，汇编语言程序设计，电子工业出版社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日期占位符 22530"/>
          <p:cNvSpPr>
            <a:spLocks noGrp="1"/>
          </p:cNvSpPr>
          <p:nvPr>
            <p:ph type="dt" sz="quarter" idx="1"/>
          </p:nvPr>
        </p:nvSpPr>
        <p:spPr>
          <a:xfrm>
            <a:off x="4581525" y="0"/>
            <a:ext cx="227647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509E58-6761-4A9B-A4A2-4A08C44A209F}" type="datetime1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页脚占位符 22531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第1章 汇编语言基础知识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3" name="灯片编号占位符 22532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r>
              <a:rPr lang="en-US" altLang="zh-CN" sz="1200" dirty="0"/>
              <a:t>1-</a:t>
            </a: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页眉占位符 2150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钱晓捷，汇编语言程序设计，电子工业出版社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日期占位符 2150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7E7CEB-F521-4B08-851B-2C3D499E774E}" type="datetime1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幻灯片图像占位符 21507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文本占位符 21508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0" name="页脚占位符 2150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第1章 汇编语言基础知识</a:t>
            </a: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1" name="灯片编号占位符 2151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眉占位符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en-US" altLang="en-US" sz="1200" dirty="0"/>
              <a:t>钱晓捷，汇编语言程序设计，电子工业出版社</a:t>
            </a:r>
            <a:endParaRPr lang="en-US" altLang="en-US" sz="1200" dirty="0"/>
          </a:p>
        </p:txBody>
      </p:sp>
      <p:sp>
        <p:nvSpPr>
          <p:cNvPr id="8195" name="日期占位符 2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196" name="页脚占位符 3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en-US" altLang="en-US" sz="1200" dirty="0"/>
              <a:t>第1章 汇编语言基础知识</a:t>
            </a:r>
            <a:endParaRPr lang="en-US" altLang="en-US" sz="1200" dirty="0"/>
          </a:p>
        </p:txBody>
      </p:sp>
      <p:sp>
        <p:nvSpPr>
          <p:cNvPr id="8197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198" name="幻灯片图像占位符 24577"/>
          <p:cNvSpPr>
            <a:spLocks noTextEdit="1"/>
          </p:cNvSpPr>
          <p:nvPr>
            <p:ph type="sldImg"/>
          </p:nvPr>
        </p:nvSpPr>
        <p:spPr/>
      </p:sp>
      <p:sp>
        <p:nvSpPr>
          <p:cNvPr id="8199" name="文本占位符 24578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上位内存区 </a:t>
            </a:r>
            <a:r>
              <a:rPr lang="en-US" altLang="zh-CN" dirty="0"/>
              <a:t>(UMA)</a:t>
            </a:r>
            <a:r>
              <a:rPr lang="zh-CN" altLang="en-US" dirty="0"/>
              <a:t>，高端内存区</a:t>
            </a:r>
            <a:r>
              <a:rPr lang="en-US" altLang="zh-CN" dirty="0"/>
              <a:t> HMA → high memory area</a:t>
            </a:r>
            <a:endParaRPr lang="zh-CN" altLang="en-US" dirty="0"/>
          </a:p>
        </p:txBody>
      </p:sp>
      <p:sp>
        <p:nvSpPr>
          <p:cNvPr id="3379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r>
              <a:rPr lang="zh-CN" altLang="en-US"/>
              <a:t> 程序员工作台(prograrnmer'sWorkBench—PWB)是集各种强大工具于一身的开发环境,可以在其中编辑,编译,链接和调试Microsoft C语言应用程序.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7E7CEB-F521-4B08-851B-2C3D499E774E}" type="datetime1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r>
              <a:rPr lang="zh-CN" altLang="en-US"/>
              <a:t>SSE简介</a:t>
            </a:r>
            <a:endParaRPr lang="zh-CN" altLang="en-US"/>
          </a:p>
          <a:p>
            <a:r>
              <a:rPr lang="zh-CN" altLang="en-US"/>
              <a:t>SIMD（Single Instruction Multiple Data）是单指令多数据技术，目前Intel处理器支持的SIMD技术包括MMX，SSE，AVX。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SSE（Stream SIMD Extentions，数据流单指令多数据扩展）是英特尔继MMX（Multi Media eXtension，多媒体扩展指令集）之后推出的新一代CPU指令集。MMX提供了8个64bit的寄存器进行SIMD操作，SSE系列提供了8个128bit的寄存器进行SIMD操作。而最新的AVX指令则支持256bit的SIMD操作。</a:t>
            </a:r>
            <a:endParaRPr lang="zh-CN" altLang="en-US"/>
          </a:p>
          <a:p>
            <a:r>
              <a:rPr lang="zh-CN" altLang="en-US"/>
              <a:t>————————————————</a:t>
            </a:r>
            <a:endParaRPr lang="zh-CN" altLang="en-US"/>
          </a:p>
          <a:p>
            <a:r>
              <a:rPr lang="zh-CN" altLang="en-US"/>
              <a:t>版权声明：本文为CSDN博主「进击的路飞桑」的原创文章，遵循CC 4.0 BY-SA版权协议，转载请附上原文出处链接及本声明。</a:t>
            </a:r>
            <a:endParaRPr lang="zh-CN" altLang="en-US"/>
          </a:p>
          <a:p>
            <a:r>
              <a:rPr lang="zh-CN" altLang="en-US"/>
              <a:t>原文链接：https://blog.csdn.net/jgj123321/article/details/95633431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7E7CEB-F521-4B08-851B-2C3D499E774E}" type="datetime1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7E7CEB-F521-4B08-851B-2C3D499E774E}" type="datetime1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页眉占位符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en-US" altLang="en-US" sz="1200" dirty="0"/>
              <a:t>钱晓捷，汇编语言程序设计，电子工业出版社</a:t>
            </a:r>
            <a:endParaRPr lang="en-US" altLang="en-US" sz="1200" dirty="0"/>
          </a:p>
        </p:txBody>
      </p:sp>
      <p:sp>
        <p:nvSpPr>
          <p:cNvPr id="101379" name="日期占位符 2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1380" name="页脚占位符 3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en-US" altLang="en-US" sz="1200" dirty="0"/>
              <a:t>第1章 汇编语言基础知识</a:t>
            </a:r>
            <a:endParaRPr lang="en-US" altLang="en-US" sz="1200" dirty="0"/>
          </a:p>
        </p:txBody>
      </p:sp>
      <p:sp>
        <p:nvSpPr>
          <p:cNvPr id="101381" name="灯片编号占位符 4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1382" name="幻灯片图像占位符 161793"/>
          <p:cNvSpPr>
            <a:spLocks noTextEdit="1"/>
          </p:cNvSpPr>
          <p:nvPr>
            <p:ph type="sldImg"/>
          </p:nvPr>
        </p:nvSpPr>
        <p:spPr/>
      </p:sp>
      <p:sp>
        <p:nvSpPr>
          <p:cNvPr id="101383" name="文本占位符 161794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9488"/>
          <p:cNvGrpSpPr/>
          <p:nvPr userDrawn="1"/>
        </p:nvGrpSpPr>
        <p:grpSpPr>
          <a:xfrm>
            <a:off x="25400" y="25400"/>
            <a:ext cx="8686800" cy="1600200"/>
            <a:chOff x="0" y="0"/>
            <a:chExt cx="5472" cy="1008"/>
          </a:xfrm>
        </p:grpSpPr>
        <p:sp>
          <p:nvSpPr>
            <p:cNvPr id="16" name="矩形 19460"/>
            <p:cNvSpPr>
              <a:spLocks noChangeArrowheads="1"/>
            </p:cNvSpPr>
            <p:nvPr/>
          </p:nvSpPr>
          <p:spPr bwMode="auto">
            <a:xfrm>
              <a:off x="0" y="672"/>
              <a:ext cx="5472" cy="336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矩形 19482"/>
            <p:cNvSpPr>
              <a:spLocks noChangeArrowheads="1"/>
            </p:cNvSpPr>
            <p:nvPr/>
          </p:nvSpPr>
          <p:spPr bwMode="auto">
            <a:xfrm>
              <a:off x="336" y="0"/>
              <a:ext cx="336" cy="336"/>
            </a:xfrm>
            <a:prstGeom prst="rect">
              <a:avLst/>
            </a:prstGeom>
            <a:solidFill>
              <a:srgbClr val="CC0000">
                <a:alpha val="50195"/>
              </a:srgbClr>
            </a:solidFill>
            <a:ln w="2857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矩形 19483"/>
            <p:cNvSpPr>
              <a:spLocks noChangeArrowheads="1"/>
            </p:cNvSpPr>
            <p:nvPr/>
          </p:nvSpPr>
          <p:spPr bwMode="auto">
            <a:xfrm>
              <a:off x="672" y="336"/>
              <a:ext cx="336" cy="33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2857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9484"/>
            <p:cNvSpPr>
              <a:spLocks noChangeArrowheads="1"/>
            </p:cNvSpPr>
            <p:nvPr/>
          </p:nvSpPr>
          <p:spPr bwMode="auto">
            <a:xfrm>
              <a:off x="1008" y="672"/>
              <a:ext cx="336" cy="336"/>
            </a:xfrm>
            <a:prstGeom prst="rect">
              <a:avLst/>
            </a:prstGeom>
            <a:solidFill>
              <a:srgbClr val="3333CC">
                <a:alpha val="50195"/>
              </a:srgbClr>
            </a:solidFill>
            <a:ln w="2857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矩形 19485"/>
            <p:cNvSpPr>
              <a:spLocks noChangeArrowheads="1"/>
            </p:cNvSpPr>
            <p:nvPr/>
          </p:nvSpPr>
          <p:spPr bwMode="auto">
            <a:xfrm>
              <a:off x="2064" y="672"/>
              <a:ext cx="336" cy="336"/>
            </a:xfrm>
            <a:prstGeom prst="rect">
              <a:avLst/>
            </a:prstGeom>
            <a:solidFill>
              <a:srgbClr val="CC0000">
                <a:alpha val="50195"/>
              </a:srgbClr>
            </a:solidFill>
            <a:ln w="2857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矩形 19486"/>
            <p:cNvSpPr>
              <a:spLocks noChangeArrowheads="1"/>
            </p:cNvSpPr>
            <p:nvPr/>
          </p:nvSpPr>
          <p:spPr bwMode="auto">
            <a:xfrm>
              <a:off x="1728" y="336"/>
              <a:ext cx="336" cy="336"/>
            </a:xfrm>
            <a:prstGeom prst="rect">
              <a:avLst/>
            </a:prstGeom>
            <a:solidFill>
              <a:srgbClr val="CCCC00">
                <a:alpha val="50195"/>
              </a:srgbClr>
            </a:solidFill>
            <a:ln w="2857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459" name="标题 19458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lvl="0">
              <a:lnSpc>
                <a:spcPct val="90000"/>
              </a:lnSpc>
              <a:buClrTx/>
              <a:buSzTx/>
              <a:buFontTx/>
              <a:defRPr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9460" name="副标题 19459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524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>
              <a:lnSpc>
                <a:spcPct val="80000"/>
              </a:lnSpc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 sz="3200">
                <a:solidFill>
                  <a:schemeClr val="tx2"/>
                </a:solidFill>
              </a:defRPr>
            </a:lvl1pPr>
            <a:lvl2pPr marL="457200" lvl="1" indent="0" algn="ctr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 sz="3200">
                <a:solidFill>
                  <a:schemeClr val="tx2"/>
                </a:solidFill>
              </a:defRPr>
            </a:lvl2pPr>
            <a:lvl3pPr marL="914400" lvl="2" indent="0" algn="ctr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200">
                <a:solidFill>
                  <a:schemeClr val="tx2"/>
                </a:solidFill>
              </a:defRPr>
            </a:lvl3pPr>
            <a:lvl4pPr marL="1371600" lvl="3" indent="0" algn="ctr">
              <a:lnSpc>
                <a:spcPct val="8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>
                <a:solidFill>
                  <a:schemeClr val="tx2"/>
                </a:solidFill>
              </a:defRPr>
            </a:lvl4pPr>
            <a:lvl5pPr marL="1828800" lvl="4" indent="0" algn="ctr">
              <a:lnSpc>
                <a:spcPct val="8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 sz="320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2" name="日期占位符 19478"/>
          <p:cNvSpPr>
            <a:spLocks noGrp="1"/>
          </p:cNvSpPr>
          <p:nvPr>
            <p:ph type="dt" sz="half" idx="2"/>
          </p:nvPr>
        </p:nvSpPr>
        <p:spPr>
          <a:xfrm>
            <a:off x="6553200" y="6507163"/>
            <a:ext cx="1828800" cy="274638"/>
          </a:xfrm>
          <a:prstGeom prst="rect">
            <a:avLst/>
          </a:prstGeom>
        </p:spPr>
        <p:txBody>
          <a:bodyPr anchor="b">
            <a:spAutoFit/>
          </a:bodyPr>
          <a:lstStyle>
            <a:lvl1pPr algn="r">
              <a:defRPr sz="1200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页脚占位符 19479"/>
          <p:cNvSpPr>
            <a:spLocks noGrp="1"/>
          </p:cNvSpPr>
          <p:nvPr>
            <p:ph type="ftr" sz="quarter" idx="3"/>
          </p:nvPr>
        </p:nvSpPr>
        <p:spPr>
          <a:xfrm>
            <a:off x="1295400" y="6507163"/>
            <a:ext cx="2895600" cy="274638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1200">
                <a:solidFill>
                  <a:schemeClr val="folHlink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981075"/>
            <a:ext cx="4093178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535" y="981075"/>
            <a:ext cx="4093178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0357" y="76200"/>
            <a:ext cx="2088356" cy="63769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76200"/>
            <a:ext cx="6144005" cy="63769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18433"/>
          <p:cNvSpPr>
            <a:spLocks noGrp="1"/>
          </p:cNvSpPr>
          <p:nvPr>
            <p:ph type="body"/>
          </p:nvPr>
        </p:nvSpPr>
        <p:spPr>
          <a:xfrm>
            <a:off x="395288" y="981075"/>
            <a:ext cx="8353425" cy="54721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第二层</a:t>
            </a:r>
            <a:endParaRPr lang="zh-CN" altLang="en-US" dirty="0"/>
          </a:p>
          <a:p>
            <a:pPr lvl="2"/>
            <a:r>
              <a:rPr lang="zh-CN" altLang="en-US" dirty="0"/>
              <a:t>第三层</a:t>
            </a:r>
            <a:endParaRPr lang="zh-CN" altLang="en-US" dirty="0"/>
          </a:p>
          <a:p>
            <a:pPr lvl="3"/>
            <a:r>
              <a:rPr lang="zh-CN" altLang="en-US" dirty="0"/>
              <a:t>第四层</a:t>
            </a:r>
            <a:endParaRPr lang="zh-CN" altLang="en-US" dirty="0"/>
          </a:p>
          <a:p>
            <a:pPr lvl="4"/>
            <a:r>
              <a:rPr lang="zh-CN" altLang="en-US" dirty="0"/>
              <a:t>第五层</a:t>
            </a:r>
            <a:endParaRPr lang="zh-CN" altLang="en-US" dirty="0"/>
          </a:p>
        </p:txBody>
      </p:sp>
      <p:sp>
        <p:nvSpPr>
          <p:cNvPr id="1027" name="标题 18448"/>
          <p:cNvSpPr>
            <a:spLocks noGrp="1"/>
          </p:cNvSpPr>
          <p:nvPr>
            <p:ph type="title"/>
          </p:nvPr>
        </p:nvSpPr>
        <p:spPr>
          <a:xfrm>
            <a:off x="2051050" y="76200"/>
            <a:ext cx="6019800" cy="5445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8450" name="日期占位符 18449"/>
          <p:cNvSpPr>
            <a:spLocks noGrp="1"/>
          </p:cNvSpPr>
          <p:nvPr>
            <p:ph type="dt" sz="half" idx="2"/>
          </p:nvPr>
        </p:nvSpPr>
        <p:spPr>
          <a:xfrm>
            <a:off x="6553200" y="6507163"/>
            <a:ext cx="1828800" cy="274638"/>
          </a:xfrm>
          <a:prstGeom prst="rect">
            <a:avLst/>
          </a:prstGeom>
          <a:noFill/>
          <a:ln w="9525">
            <a:noFill/>
          </a:ln>
        </p:spPr>
        <p:txBody>
          <a:bodyPr anchor="b">
            <a:spAutoFit/>
          </a:bodyPr>
          <a:lstStyle>
            <a:lvl1pPr algn="r" eaLnBrk="1" hangingPunct="1">
              <a:defRPr sz="1200" noProof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51" name="页脚占位符 18450"/>
          <p:cNvSpPr>
            <a:spLocks noGrp="1"/>
          </p:cNvSpPr>
          <p:nvPr>
            <p:ph type="ftr" sz="quarter" idx="3"/>
          </p:nvPr>
        </p:nvSpPr>
        <p:spPr>
          <a:xfrm>
            <a:off x="1295400" y="6507163"/>
            <a:ext cx="2895600" cy="274638"/>
          </a:xfrm>
          <a:prstGeom prst="rect">
            <a:avLst/>
          </a:prstGeom>
          <a:noFill/>
          <a:ln w="9525">
            <a:noFill/>
          </a:ln>
        </p:spPr>
        <p:txBody>
          <a:bodyPr anchor="b">
            <a:spAutoFit/>
          </a:bodyPr>
          <a:lstStyle>
            <a:lvl1pPr eaLnBrk="1" hangingPunct="1">
              <a:defRPr sz="1200" noProof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18462"/>
          <p:cNvGrpSpPr/>
          <p:nvPr userDrawn="1"/>
        </p:nvGrpSpPr>
        <p:grpSpPr>
          <a:xfrm>
            <a:off x="12700" y="44450"/>
            <a:ext cx="9118600" cy="6794500"/>
            <a:chOff x="0" y="28"/>
            <a:chExt cx="5744" cy="4280"/>
          </a:xfrm>
        </p:grpSpPr>
        <p:sp>
          <p:nvSpPr>
            <p:cNvPr id="1032" name="矩形 18440"/>
            <p:cNvSpPr>
              <a:spLocks noChangeArrowheads="1"/>
            </p:cNvSpPr>
            <p:nvPr/>
          </p:nvSpPr>
          <p:spPr bwMode="auto">
            <a:xfrm>
              <a:off x="0" y="436"/>
              <a:ext cx="4176" cy="52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矩形 18443"/>
            <p:cNvSpPr>
              <a:spLocks noChangeArrowheads="1"/>
            </p:cNvSpPr>
            <p:nvPr/>
          </p:nvSpPr>
          <p:spPr bwMode="auto">
            <a:xfrm>
              <a:off x="5360" y="4068"/>
              <a:ext cx="240" cy="240"/>
            </a:xfrm>
            <a:prstGeom prst="rect">
              <a:avLst/>
            </a:prstGeom>
            <a:solidFill>
              <a:srgbClr val="3333CC">
                <a:alpha val="50195"/>
              </a:srgbClr>
            </a:solidFill>
            <a:ln w="1905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矩形 18444"/>
            <p:cNvSpPr>
              <a:spLocks noChangeArrowheads="1"/>
            </p:cNvSpPr>
            <p:nvPr/>
          </p:nvSpPr>
          <p:spPr bwMode="auto">
            <a:xfrm>
              <a:off x="5504" y="3876"/>
              <a:ext cx="240" cy="240"/>
            </a:xfrm>
            <a:prstGeom prst="rect">
              <a:avLst/>
            </a:prstGeom>
            <a:solidFill>
              <a:srgbClr val="CC0000">
                <a:alpha val="50195"/>
              </a:srgbClr>
            </a:solidFill>
            <a:ln w="1905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矩形 18453"/>
            <p:cNvSpPr>
              <a:spLocks noChangeArrowheads="1"/>
            </p:cNvSpPr>
            <p:nvPr/>
          </p:nvSpPr>
          <p:spPr bwMode="auto">
            <a:xfrm>
              <a:off x="790" y="268"/>
              <a:ext cx="240" cy="240"/>
            </a:xfrm>
            <a:prstGeom prst="rect">
              <a:avLst/>
            </a:prstGeom>
            <a:solidFill>
              <a:srgbClr val="3333CC">
                <a:alpha val="50195"/>
              </a:srgbClr>
            </a:solidFill>
            <a:ln w="19050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矩形 18454"/>
            <p:cNvSpPr>
              <a:spLocks noChangeArrowheads="1"/>
            </p:cNvSpPr>
            <p:nvPr/>
          </p:nvSpPr>
          <p:spPr bwMode="auto">
            <a:xfrm>
              <a:off x="22" y="604"/>
              <a:ext cx="240" cy="240"/>
            </a:xfrm>
            <a:prstGeom prst="rect">
              <a:avLst/>
            </a:prstGeom>
            <a:solidFill>
              <a:srgbClr val="3333CC">
                <a:alpha val="50195"/>
              </a:srgbClr>
            </a:solidFill>
            <a:ln w="19050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矩形 18455"/>
            <p:cNvSpPr>
              <a:spLocks noChangeArrowheads="1"/>
            </p:cNvSpPr>
            <p:nvPr/>
          </p:nvSpPr>
          <p:spPr bwMode="auto">
            <a:xfrm>
              <a:off x="262" y="364"/>
              <a:ext cx="240" cy="240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19050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矩形 18456"/>
            <p:cNvSpPr>
              <a:spLocks noChangeArrowheads="1"/>
            </p:cNvSpPr>
            <p:nvPr/>
          </p:nvSpPr>
          <p:spPr bwMode="auto">
            <a:xfrm>
              <a:off x="1030" y="28"/>
              <a:ext cx="240" cy="240"/>
            </a:xfrm>
            <a:prstGeom prst="rect">
              <a:avLst/>
            </a:prstGeom>
            <a:solidFill>
              <a:srgbClr val="CC0000">
                <a:alpha val="50195"/>
              </a:srgbClr>
            </a:solidFill>
            <a:ln w="19050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8459"/>
          <p:cNvSpPr txBox="1">
            <a:spLocks noChangeArrowheads="1"/>
          </p:cNvSpPr>
          <p:nvPr/>
        </p:nvSpPr>
        <p:spPr bwMode="auto">
          <a:xfrm>
            <a:off x="179388" y="79375"/>
            <a:ext cx="1008063" cy="396875"/>
          </a:xfrm>
          <a:prstGeom prst="rect">
            <a:avLst/>
          </a:prstGeom>
          <a:gradFill rotWithShape="0">
            <a:gsLst>
              <a:gs pos="0">
                <a:srgbClr val="5E5E00"/>
              </a:gs>
              <a:gs pos="50000">
                <a:schemeClr val="accent1"/>
              </a:gs>
              <a:gs pos="100000">
                <a:srgbClr val="5E5E00"/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folHlink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 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章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Ø"/>
        <a:defRPr sz="3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just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just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just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just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just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just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just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just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1.xml"/><Relationship Id="rId1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hyperlink" Target="..\..\ddd\&#21160;&#30011;1.htm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wmf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14.GI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oleObject" Target="../embeddings/oleObject1.bin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oleObject" Target="../embeddings/oleObject2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387350"/>
            <a:ext cx="1800225" cy="358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138" y="115888"/>
            <a:ext cx="900112" cy="900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" y="115888"/>
            <a:ext cx="1185863" cy="900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文本框 6"/>
          <p:cNvSpPr txBox="1"/>
          <p:nvPr/>
        </p:nvSpPr>
        <p:spPr>
          <a:xfrm>
            <a:off x="5600700" y="336550"/>
            <a:ext cx="26638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184586"/>
                </a:solidFill>
              </a:rPr>
              <a:t>网络空间安全学院</a:t>
            </a:r>
            <a:endParaRPr lang="zh-CN" altLang="en-US" sz="2400" dirty="0">
              <a:solidFill>
                <a:srgbClr val="184586"/>
              </a:solidFill>
            </a:endParaRPr>
          </a:p>
        </p:txBody>
      </p:sp>
      <p:sp>
        <p:nvSpPr>
          <p:cNvPr id="5126" name="文本框 7"/>
          <p:cNvSpPr txBox="1"/>
          <p:nvPr/>
        </p:nvSpPr>
        <p:spPr>
          <a:xfrm>
            <a:off x="115888" y="1916113"/>
            <a:ext cx="8912225" cy="1355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5400" dirty="0">
                <a:solidFill>
                  <a:srgbClr val="E6061A"/>
                </a:solidFill>
              </a:rPr>
              <a:t>汇编语言程序设计</a:t>
            </a:r>
            <a:endParaRPr lang="en-US" altLang="zh-CN" sz="5400" dirty="0">
              <a:solidFill>
                <a:srgbClr val="E6061A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E8061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Assembly Language Programming</a:t>
            </a:r>
            <a:endParaRPr lang="en-US" altLang="zh-CN" sz="2800" dirty="0">
              <a:solidFill>
                <a:srgbClr val="E8061A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127" name="文本框 8"/>
          <p:cNvSpPr txBox="1"/>
          <p:nvPr/>
        </p:nvSpPr>
        <p:spPr>
          <a:xfrm>
            <a:off x="2005013" y="3429000"/>
            <a:ext cx="5133975" cy="1322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dirty="0">
                <a:solidFill>
                  <a:srgbClr val="17468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主讲人</a:t>
            </a:r>
            <a:r>
              <a:rPr lang="en-US" altLang="zh-CN" sz="4000" dirty="0">
                <a:solidFill>
                  <a:srgbClr val="174685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: </a:t>
            </a:r>
            <a:r>
              <a:rPr lang="zh-CN" altLang="en-US" sz="4000" dirty="0">
                <a:solidFill>
                  <a:srgbClr val="174685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鲁宏伟</a:t>
            </a:r>
            <a:endParaRPr lang="en-US" altLang="zh-CN" sz="4000" dirty="0">
              <a:solidFill>
                <a:srgbClr val="174685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dirty="0">
                <a:solidFill>
                  <a:srgbClr val="174685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luhw@hust.edu.cn</a:t>
            </a:r>
            <a:endParaRPr lang="zh-CN" altLang="en-US" sz="4000" dirty="0">
              <a:solidFill>
                <a:srgbClr val="174685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146" name="文本框 9"/>
          <p:cNvSpPr txBox="1"/>
          <p:nvPr/>
        </p:nvSpPr>
        <p:spPr>
          <a:xfrm>
            <a:off x="2016125" y="2736850"/>
            <a:ext cx="511175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E6061A"/>
                </a:solidFill>
              </a:rPr>
              <a:t>第一章</a:t>
            </a:r>
            <a:endParaRPr lang="en-US" altLang="zh-CN" dirty="0">
              <a:solidFill>
                <a:srgbClr val="E6061A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>
                <a:solidFill>
                  <a:srgbClr val="15468A"/>
                </a:solidFill>
              </a:rPr>
              <a:t>汇编语言基础知识</a:t>
            </a:r>
            <a:endParaRPr lang="zh-CN" altLang="en-US" sz="4800" dirty="0">
              <a:solidFill>
                <a:srgbClr val="15468A"/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083"/>
          <p:cNvSpPr>
            <a:spLocks noGrp="1"/>
          </p:cNvSpPr>
          <p:nvPr>
            <p:ph type="ctrTitle"/>
          </p:nvPr>
        </p:nvSpPr>
        <p:spPr>
          <a:xfrm>
            <a:off x="3886200" y="260350"/>
            <a:ext cx="4495800" cy="68580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  <a:buFontTx/>
            </a:pPr>
            <a:r>
              <a:rPr lang="zh-CN" altLang="en-US" sz="4000" kern="1200" dirty="0">
                <a:latin typeface="+mj-lt"/>
                <a:ea typeface="+mj-ea"/>
                <a:cs typeface="+mj-cs"/>
              </a:rPr>
              <a:t>教学重点</a:t>
            </a:r>
            <a:endParaRPr lang="zh-CN" altLang="en-US" sz="40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171" name="副标题 3084"/>
          <p:cNvSpPr>
            <a:spLocks noGrp="1"/>
          </p:cNvSpPr>
          <p:nvPr>
            <p:ph type="subTitle" idx="1"/>
          </p:nvPr>
        </p:nvSpPr>
        <p:spPr>
          <a:xfrm>
            <a:off x="457200" y="1981200"/>
            <a:ext cx="7643813" cy="4471988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SzPct val="90000"/>
            </a:pPr>
            <a:r>
              <a:rPr lang="zh-CN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altLang="zh-CN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章是用汇编语言进行程序设计所需要了解的</a:t>
            </a:r>
            <a:r>
              <a:rPr lang="zh-CN" altLang="en-US" sz="2800" kern="1200" dirty="0">
                <a:solidFill>
                  <a:srgbClr val="E6061A"/>
                </a:solidFill>
                <a:latin typeface="+mn-lt"/>
                <a:ea typeface="+mn-ea"/>
                <a:cs typeface="+mn-cs"/>
              </a:rPr>
              <a:t>基本知识</a:t>
            </a:r>
            <a:r>
              <a:rPr lang="zh-CN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。在课堂上，我们重点掌握几个内容：</a:t>
            </a:r>
            <a:endParaRPr lang="zh-CN" alt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20000"/>
              </a:lnSpc>
              <a:buSzTx/>
              <a:buFont typeface="Wingdings" panose="05000000000000000000" pitchFamily="2" charset="2"/>
              <a:buChar char="ü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PC</a:t>
            </a:r>
            <a:r>
              <a:rPr lang="zh-CN" altLang="en-US" sz="2800" kern="1200" dirty="0">
                <a:latin typeface="+mn-lt"/>
                <a:ea typeface="+mn-ea"/>
                <a:cs typeface="+mn-cs"/>
              </a:rPr>
              <a:t>机软硬件系统</a:t>
            </a:r>
            <a:endParaRPr lang="zh-CN" altLang="en-US" sz="28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kern="1200" dirty="0">
                <a:latin typeface="+mn-lt"/>
                <a:ea typeface="+mn-ea"/>
                <a:cs typeface="+mn-cs"/>
              </a:rPr>
              <a:t>认识汇编语言</a:t>
            </a:r>
            <a:endParaRPr lang="zh-CN" altLang="en-US" sz="28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kern="1200" dirty="0">
                <a:latin typeface="+mn-lt"/>
                <a:ea typeface="+mn-ea"/>
                <a:cs typeface="+mn-cs"/>
              </a:rPr>
              <a:t>基础是熟悉寄存器组</a:t>
            </a:r>
            <a:endParaRPr lang="zh-CN" altLang="en-US" sz="2800" kern="1200" dirty="0"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110000"/>
              </a:lnSpc>
              <a:buSzTx/>
              <a:buFont typeface="Wingdings" panose="05000000000000000000" pitchFamily="2" charset="2"/>
              <a:buChar char="ü"/>
            </a:pPr>
            <a:r>
              <a:rPr lang="zh-CN" altLang="en-US" sz="2800" kern="1200" dirty="0">
                <a:solidFill>
                  <a:srgbClr val="E6061A"/>
                </a:solidFill>
                <a:latin typeface="+mn-lt"/>
                <a:ea typeface="+mn-ea"/>
                <a:cs typeface="+mn-cs"/>
              </a:rPr>
              <a:t>难点是各种寻址方式</a:t>
            </a:r>
            <a:endParaRPr lang="zh-CN" altLang="en-US" kern="1200" dirty="0">
              <a:solidFill>
                <a:srgbClr val="E6061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501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1.1  </a:t>
            </a:r>
            <a:r>
              <a:rPr lang="zh-CN" altLang="en-US" dirty="0"/>
              <a:t>计算机系统概述</a:t>
            </a:r>
            <a:endParaRPr lang="zh-CN" altLang="en-US" dirty="0"/>
          </a:p>
        </p:txBody>
      </p:sp>
      <p:sp>
        <p:nvSpPr>
          <p:cNvPr id="9219" name="内容占位符 5018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3200" dirty="0">
                <a:solidFill>
                  <a:schemeClr val="accent2"/>
                </a:solidFill>
              </a:rPr>
              <a:t>硬件</a:t>
            </a:r>
            <a:r>
              <a:rPr lang="zh-CN" altLang="en-US" sz="3200" dirty="0"/>
              <a:t>（</a:t>
            </a:r>
            <a:r>
              <a:rPr lang="en-US" altLang="zh-CN" sz="3200" dirty="0"/>
              <a:t>Hardware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/>
              <a:t>中央处理单元</a:t>
            </a:r>
            <a:r>
              <a:rPr lang="en-US" altLang="zh-CN" sz="2800" dirty="0"/>
              <a:t>CPU</a:t>
            </a:r>
            <a:endParaRPr lang="en-US" altLang="zh-CN" sz="28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控制器、运算器、寄存器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/>
              <a:t>存储器</a:t>
            </a:r>
            <a:endParaRPr lang="zh-CN" altLang="en-US" sz="28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主存储器：</a:t>
            </a:r>
            <a:r>
              <a:rPr lang="en-US" altLang="zh-CN" dirty="0"/>
              <a:t>RAM</a:t>
            </a:r>
            <a:r>
              <a:rPr lang="zh-CN" altLang="en-US" dirty="0"/>
              <a:t>和</a:t>
            </a:r>
            <a:r>
              <a:rPr lang="en-US" altLang="zh-CN" dirty="0"/>
              <a:t>ROM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辅助存储器：磁盘、光盘、</a:t>
            </a:r>
            <a:r>
              <a:rPr lang="en-US" altLang="zh-CN" dirty="0"/>
              <a:t>U</a:t>
            </a:r>
            <a:r>
              <a:rPr lang="zh-CN" altLang="en-US" dirty="0"/>
              <a:t>盘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/>
              <a:t>外部设备</a:t>
            </a:r>
            <a:endParaRPr lang="zh-CN" altLang="en-US" sz="2800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输入设备和输出设备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sz="3200" dirty="0">
                <a:solidFill>
                  <a:schemeClr val="accent2"/>
                </a:solidFill>
              </a:rPr>
              <a:t>软件</a:t>
            </a:r>
            <a:r>
              <a:rPr lang="zh-CN" altLang="en-US" sz="3200" dirty="0"/>
              <a:t>（</a:t>
            </a:r>
            <a:r>
              <a:rPr lang="en-US" altLang="zh-CN" sz="3200" dirty="0"/>
              <a:t>Software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/>
              <a:t>系统软件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/>
              <a:t>应用软件</a:t>
            </a:r>
            <a:endParaRPr lang="zh-CN" altLang="en-US" sz="2800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5120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微型计算机的系统组成</a:t>
            </a:r>
            <a:endParaRPr lang="zh-CN" altLang="en-US" dirty="0"/>
          </a:p>
        </p:txBody>
      </p:sp>
      <p:grpSp>
        <p:nvGrpSpPr>
          <p:cNvPr id="10243" name="组合 51231"/>
          <p:cNvGrpSpPr/>
          <p:nvPr/>
        </p:nvGrpSpPr>
        <p:grpSpPr>
          <a:xfrm>
            <a:off x="1042988" y="1268413"/>
            <a:ext cx="7058025" cy="4105275"/>
            <a:chOff x="1008" y="864"/>
            <a:chExt cx="3792" cy="2464"/>
          </a:xfrm>
        </p:grpSpPr>
        <p:sp>
          <p:nvSpPr>
            <p:cNvPr id="10244" name="矩形 51232"/>
            <p:cNvSpPr/>
            <p:nvPr/>
          </p:nvSpPr>
          <p:spPr>
            <a:xfrm>
              <a:off x="3001" y="1867"/>
              <a:ext cx="368" cy="1461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ts val="600"/>
                </a:spcBef>
                <a:buClrTx/>
                <a:buSzTx/>
                <a:buFontTx/>
                <a:buNone/>
              </a:pP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I/O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接</a:t>
              </a:r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口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5" name="矩形 51233"/>
            <p:cNvSpPr/>
            <p:nvPr/>
          </p:nvSpPr>
          <p:spPr>
            <a:xfrm>
              <a:off x="2999" y="1389"/>
              <a:ext cx="915" cy="37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20000"/>
                </a:lnSpc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主存储器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6" name="矩形 51234"/>
            <p:cNvSpPr/>
            <p:nvPr/>
          </p:nvSpPr>
          <p:spPr>
            <a:xfrm>
              <a:off x="2041" y="864"/>
              <a:ext cx="1089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系统总线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7" name="直接连接符 51235"/>
            <p:cNvSpPr/>
            <p:nvPr/>
          </p:nvSpPr>
          <p:spPr>
            <a:xfrm>
              <a:off x="2539" y="1129"/>
              <a:ext cx="0" cy="2165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  <p:grpSp>
          <p:nvGrpSpPr>
            <p:cNvPr id="10248" name="组合 51236"/>
            <p:cNvGrpSpPr/>
            <p:nvPr/>
          </p:nvGrpSpPr>
          <p:grpSpPr>
            <a:xfrm>
              <a:off x="1008" y="1429"/>
              <a:ext cx="1048" cy="1473"/>
              <a:chOff x="1008" y="1429"/>
              <a:chExt cx="1048" cy="1473"/>
            </a:xfrm>
          </p:grpSpPr>
          <p:sp>
            <p:nvSpPr>
              <p:cNvPr id="10258" name="矩形 51237"/>
              <p:cNvSpPr/>
              <p:nvPr/>
            </p:nvSpPr>
            <p:spPr>
              <a:xfrm>
                <a:off x="1288" y="1469"/>
                <a:ext cx="543" cy="22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ts val="30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CPU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259" name="组合 51238"/>
              <p:cNvGrpSpPr/>
              <p:nvPr/>
            </p:nvGrpSpPr>
            <p:grpSpPr>
              <a:xfrm>
                <a:off x="1194" y="1808"/>
                <a:ext cx="690" cy="949"/>
                <a:chOff x="0" y="-2"/>
                <a:chExt cx="20000" cy="20002"/>
              </a:xfrm>
            </p:grpSpPr>
            <p:sp>
              <p:nvSpPr>
                <p:cNvPr id="10261" name="矩形 51239"/>
                <p:cNvSpPr/>
                <p:nvPr/>
              </p:nvSpPr>
              <p:spPr>
                <a:xfrm>
                  <a:off x="0" y="14818"/>
                  <a:ext cx="20000" cy="5182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ysDot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lnSpc>
                      <a:spcPct val="9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dirty="0">
                      <a:latin typeface="Times New Roman" panose="02020603050405020304" pitchFamily="18" charset="0"/>
                    </a:rPr>
                    <a:t>寄存器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262" name="矩形 51240"/>
                <p:cNvSpPr/>
                <p:nvPr/>
              </p:nvSpPr>
              <p:spPr>
                <a:xfrm>
                  <a:off x="0" y="7266"/>
                  <a:ext cx="20000" cy="5185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ysDot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lnSpc>
                      <a:spcPct val="9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dirty="0">
                      <a:latin typeface="Times New Roman" panose="02020603050405020304" pitchFamily="18" charset="0"/>
                    </a:rPr>
                    <a:t>控制器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263" name="矩形 51241"/>
                <p:cNvSpPr/>
                <p:nvPr/>
              </p:nvSpPr>
              <p:spPr>
                <a:xfrm>
                  <a:off x="0" y="-2"/>
                  <a:ext cx="20000" cy="5182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ysDot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>
                    <a:lnSpc>
                      <a:spcPct val="9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dirty="0">
                      <a:latin typeface="Times New Roman" panose="02020603050405020304" pitchFamily="18" charset="0"/>
                    </a:rPr>
                    <a:t>运算器</a:t>
                  </a:r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260" name="矩形 51242"/>
              <p:cNvSpPr/>
              <p:nvPr/>
            </p:nvSpPr>
            <p:spPr>
              <a:xfrm>
                <a:off x="1008" y="1429"/>
                <a:ext cx="1048" cy="1473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0" dirty="0"/>
              </a:p>
            </p:txBody>
          </p:sp>
        </p:grpSp>
        <p:sp>
          <p:nvSpPr>
            <p:cNvPr id="10249" name="直接连接符 51243"/>
            <p:cNvSpPr/>
            <p:nvPr/>
          </p:nvSpPr>
          <p:spPr>
            <a:xfrm>
              <a:off x="2571" y="1574"/>
              <a:ext cx="413" cy="1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10250" name="直接连接符 51244"/>
            <p:cNvSpPr/>
            <p:nvPr/>
          </p:nvSpPr>
          <p:spPr>
            <a:xfrm>
              <a:off x="2075" y="2131"/>
              <a:ext cx="446" cy="1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10251" name="直接连接符 51245"/>
            <p:cNvSpPr/>
            <p:nvPr/>
          </p:nvSpPr>
          <p:spPr>
            <a:xfrm>
              <a:off x="2571" y="2503"/>
              <a:ext cx="413" cy="1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10252" name="矩形 51246"/>
            <p:cNvSpPr/>
            <p:nvPr/>
          </p:nvSpPr>
          <p:spPr>
            <a:xfrm>
              <a:off x="3796" y="1853"/>
              <a:ext cx="1004" cy="373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20000"/>
                </a:lnSpc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辅助存储器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3" name="矩形 51247"/>
            <p:cNvSpPr/>
            <p:nvPr/>
          </p:nvSpPr>
          <p:spPr>
            <a:xfrm>
              <a:off x="3796" y="2424"/>
              <a:ext cx="1004" cy="373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20000"/>
                </a:lnSpc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输入设备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4" name="矩形 51248"/>
            <p:cNvSpPr/>
            <p:nvPr/>
          </p:nvSpPr>
          <p:spPr>
            <a:xfrm>
              <a:off x="3796" y="2916"/>
              <a:ext cx="1004" cy="37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20000"/>
                </a:lnSpc>
                <a:spcBef>
                  <a:spcPts val="3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输出设备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5" name="直接连接符 51249"/>
            <p:cNvSpPr/>
            <p:nvPr/>
          </p:nvSpPr>
          <p:spPr>
            <a:xfrm flipH="1">
              <a:off x="3375" y="2045"/>
              <a:ext cx="410" cy="1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10256" name="直接连接符 51250"/>
            <p:cNvSpPr/>
            <p:nvPr/>
          </p:nvSpPr>
          <p:spPr>
            <a:xfrm flipH="1">
              <a:off x="3375" y="2616"/>
              <a:ext cx="410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10257" name="直接连接符 51251"/>
            <p:cNvSpPr/>
            <p:nvPr/>
          </p:nvSpPr>
          <p:spPr>
            <a:xfrm flipH="1">
              <a:off x="3375" y="3107"/>
              <a:ext cx="410" cy="1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triangle" w="sm" len="sm"/>
              <a:tailEnd type="triangle" w="sm" len="sm"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532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汇编语言程序员看到的硬件</a:t>
            </a:r>
            <a:endParaRPr lang="zh-CN" altLang="en-US" dirty="0"/>
          </a:p>
        </p:txBody>
      </p:sp>
      <p:sp>
        <p:nvSpPr>
          <p:cNvPr id="11267" name="文本占位符 5325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中央处理单元 </a:t>
            </a:r>
            <a:r>
              <a:rPr lang="en-US" altLang="zh-CN" dirty="0"/>
              <a:t>CPU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chemeClr val="accent2"/>
                </a:solidFill>
              </a:rPr>
              <a:t>Intel 80x86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对汇编语言程序员，最关心其中的</a:t>
            </a:r>
            <a:r>
              <a:rPr lang="zh-CN" altLang="en-US" dirty="0">
                <a:solidFill>
                  <a:schemeClr val="tx2"/>
                </a:solidFill>
              </a:rPr>
              <a:t>寄存器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/>
              <a:t>存储器（</a:t>
            </a:r>
            <a:r>
              <a:rPr lang="zh-CN" altLang="en-US" dirty="0">
                <a:solidFill>
                  <a:schemeClr val="accent2"/>
                </a:solidFill>
              </a:rPr>
              <a:t>主存储器</a:t>
            </a:r>
            <a:r>
              <a:rPr lang="zh-CN" altLang="en-US" dirty="0"/>
              <a:t>）</a:t>
            </a:r>
            <a:endParaRPr lang="zh-CN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呈现给汇编语言程序员的，是</a:t>
            </a:r>
            <a:r>
              <a:rPr lang="zh-CN" altLang="en-US" dirty="0">
                <a:solidFill>
                  <a:schemeClr val="tx2"/>
                </a:solidFill>
              </a:rPr>
              <a:t>存储器地址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/>
              <a:t>外部设备（</a:t>
            </a:r>
            <a:r>
              <a:rPr lang="zh-CN" altLang="en-US" dirty="0">
                <a:solidFill>
                  <a:schemeClr val="accent2"/>
                </a:solidFill>
              </a:rPr>
              <a:t>接口电路</a:t>
            </a:r>
            <a:r>
              <a:rPr lang="zh-CN" altLang="en-US" dirty="0"/>
              <a:t>）</a:t>
            </a:r>
            <a:endParaRPr lang="zh-CN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dirty="0"/>
              <a:t>汇编语言程序员看到的是</a:t>
            </a:r>
            <a:r>
              <a:rPr lang="zh-CN" altLang="en-US" dirty="0">
                <a:solidFill>
                  <a:schemeClr val="tx2"/>
                </a:solidFill>
              </a:rPr>
              <a:t>端口（</a:t>
            </a:r>
            <a:r>
              <a:rPr lang="en-US" altLang="zh-CN" dirty="0">
                <a:solidFill>
                  <a:schemeClr val="tx2"/>
                </a:solidFill>
              </a:rPr>
              <a:t>I/O</a:t>
            </a:r>
            <a:r>
              <a:rPr lang="zh-CN" altLang="en-US" dirty="0">
                <a:solidFill>
                  <a:schemeClr val="tx2"/>
                </a:solidFill>
              </a:rPr>
              <a:t>地址）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5427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寄存器（</a:t>
            </a:r>
            <a:r>
              <a:rPr lang="en-US" altLang="zh-CN" dirty="0"/>
              <a:t>Register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2291" name="文本占位符 5427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寄存器是</a:t>
            </a:r>
            <a:r>
              <a:rPr lang="en-US" altLang="zh-CN" sz="2800" dirty="0"/>
              <a:t>CPU</a:t>
            </a:r>
            <a:r>
              <a:rPr lang="zh-CN" altLang="en-US" sz="2800" dirty="0"/>
              <a:t>内部的高速存储单元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它们为处理器提供各种操作所需要的数据或地址等信息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汇编语言程序采用它们各自的符号名</a:t>
            </a:r>
            <a:endParaRPr lang="zh-CN" altLang="en-US" sz="2800" dirty="0"/>
          </a:p>
          <a:p>
            <a:pPr lvl="1" eaLnBrk="1" hangingPunct="1"/>
            <a:r>
              <a:rPr lang="en-US" altLang="zh-CN" sz="2200" dirty="0"/>
              <a:t>16</a:t>
            </a:r>
            <a:r>
              <a:rPr lang="zh-CN" altLang="en-US" sz="2200" dirty="0"/>
              <a:t>位</a:t>
            </a:r>
            <a:r>
              <a:rPr lang="en-US" altLang="zh-CN" sz="2200" dirty="0"/>
              <a:t>Intel 8086/80286 CPU</a:t>
            </a:r>
            <a:r>
              <a:rPr lang="zh-CN" altLang="en-US" sz="2200" dirty="0"/>
              <a:t>中有</a:t>
            </a:r>
            <a:endParaRPr lang="zh-CN" altLang="en-US" sz="2200" dirty="0"/>
          </a:p>
          <a:p>
            <a:pPr lvl="2" eaLnBrk="1" hangingPunct="1"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AX	BX	CX	DX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2" eaLnBrk="1" hangingPunct="1"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SI	DI	BP	SP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altLang="zh-CN" sz="2200" dirty="0"/>
              <a:t>32</a:t>
            </a:r>
            <a:r>
              <a:rPr lang="zh-CN" altLang="en-US" sz="2200" dirty="0"/>
              <a:t>位</a:t>
            </a:r>
            <a:r>
              <a:rPr lang="en-US" altLang="zh-CN" sz="2200" dirty="0"/>
              <a:t>80386/80486/Pentium</a:t>
            </a:r>
            <a:r>
              <a:rPr lang="zh-CN" altLang="en-US" sz="2200" dirty="0"/>
              <a:t>系列 </a:t>
            </a:r>
            <a:r>
              <a:rPr lang="en-US" altLang="zh-CN" sz="2200" dirty="0"/>
              <a:t>CPU</a:t>
            </a:r>
            <a:r>
              <a:rPr lang="zh-CN" altLang="en-US" sz="2200" dirty="0"/>
              <a:t>中有</a:t>
            </a:r>
            <a:endParaRPr lang="zh-CN" altLang="en-US" sz="2200" dirty="0"/>
          </a:p>
          <a:p>
            <a:pPr lvl="2" eaLnBrk="1" hangingPunct="1"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EAX	EBX	ECX	EDX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2" eaLnBrk="1" hangingPunct="1"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ESI	EDI	EBP	ESP</a:t>
            </a:r>
            <a:endParaRPr lang="en-US" altLang="zh-CN" sz="2200" dirty="0">
              <a:solidFill>
                <a:schemeClr val="tx2"/>
              </a:solidFill>
            </a:endParaRPr>
          </a:p>
          <a:p>
            <a:pPr lvl="1" algn="just" eaLnBrk="1" hangingPunct="1"/>
            <a:r>
              <a:rPr lang="en-US" altLang="zh-CN" sz="2200" dirty="0"/>
              <a:t>64位寄存器名将“E”改为“R”</a:t>
            </a:r>
            <a:endParaRPr lang="en-US" altLang="zh-CN" sz="2200" dirty="0"/>
          </a:p>
          <a:p>
            <a:pPr lvl="1" eaLnBrk="1" hangingPunct="1"/>
            <a:r>
              <a:rPr lang="en-US" altLang="zh-CN" sz="2200" dirty="0">
                <a:sym typeface="宋体" panose="02010600030101010101" pitchFamily="2" charset="-122"/>
              </a:rPr>
              <a:t>ARM</a:t>
            </a:r>
            <a:r>
              <a:rPr lang="zh-CN" altLang="en-US" sz="2200" dirty="0">
                <a:sym typeface="宋体" panose="02010600030101010101" pitchFamily="2" charset="-122"/>
              </a:rPr>
              <a:t>系列 </a:t>
            </a:r>
            <a:r>
              <a:rPr lang="en-US" altLang="zh-CN" sz="2200" dirty="0">
                <a:sym typeface="宋体" panose="02010600030101010101" pitchFamily="2" charset="-122"/>
              </a:rPr>
              <a:t>CPU</a:t>
            </a:r>
            <a:r>
              <a:rPr lang="zh-CN" altLang="en-US" sz="2200" dirty="0">
                <a:sym typeface="宋体" panose="02010600030101010101" pitchFamily="2" charset="-122"/>
              </a:rPr>
              <a:t>中有</a:t>
            </a:r>
            <a:endParaRPr lang="zh-CN" altLang="en-US" sz="2200" dirty="0"/>
          </a:p>
          <a:p>
            <a:pPr lvl="2" eaLnBrk="1" hangingPunct="1"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R0-R12  R13(SP)  R14(LR)  R15(PC)</a:t>
            </a:r>
            <a:endParaRPr lang="en-US" altLang="zh-CN" sz="2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5530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存储器地址（</a:t>
            </a:r>
            <a:r>
              <a:rPr lang="en-US" altLang="zh-CN" dirty="0"/>
              <a:t>Address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3315" name="文本占位符 5530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存储器是由大量存储单元组成，需要用编号区别每个单元：</a:t>
            </a:r>
            <a:r>
              <a:rPr lang="zh-CN" altLang="en-US" sz="3200" dirty="0">
                <a:solidFill>
                  <a:schemeClr val="tx2"/>
                </a:solidFill>
              </a:rPr>
              <a:t>编号＝地址</a:t>
            </a:r>
            <a:endParaRPr lang="zh-CN" altLang="en-US" sz="3200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sz="3200" dirty="0">
                <a:solidFill>
                  <a:schemeClr val="tx2"/>
                </a:solidFill>
              </a:rPr>
              <a:t>存储器地址</a:t>
            </a:r>
            <a:r>
              <a:rPr lang="zh-CN" altLang="en-US" sz="3200" dirty="0"/>
              <a:t>是存储器中存储单元的编号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每个存储单元存放一个字节量的数据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一个字节</a:t>
            </a:r>
            <a:r>
              <a:rPr lang="en-US" altLang="zh-CN" sz="2800" dirty="0"/>
              <a:t>B</a:t>
            </a:r>
            <a:r>
              <a:rPr lang="zh-CN" altLang="en-US" sz="2800" dirty="0"/>
              <a:t>（</a:t>
            </a:r>
            <a:r>
              <a:rPr lang="en-US" altLang="zh-CN" sz="2800" dirty="0"/>
              <a:t>Byte</a:t>
            </a:r>
            <a:r>
              <a:rPr lang="zh-CN" altLang="en-US" sz="2800" dirty="0"/>
              <a:t>）＝</a:t>
            </a:r>
            <a:r>
              <a:rPr lang="en-US" altLang="zh-CN" sz="2800" dirty="0"/>
              <a:t>8</a:t>
            </a:r>
            <a:r>
              <a:rPr lang="zh-CN" altLang="en-US" sz="2800" dirty="0"/>
              <a:t>个二进制位</a:t>
            </a:r>
            <a:r>
              <a:rPr lang="en-US" altLang="zh-CN" sz="2800" dirty="0"/>
              <a:t>b</a:t>
            </a:r>
            <a:r>
              <a:rPr lang="zh-CN" altLang="en-US" sz="2800" dirty="0"/>
              <a:t>（</a:t>
            </a:r>
            <a:r>
              <a:rPr lang="en-US" altLang="zh-CN" sz="2800" dirty="0"/>
              <a:t>bit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/>
            <a:r>
              <a:rPr lang="zh-CN" altLang="en-US" sz="3200" dirty="0"/>
              <a:t>采用十六进制数来表达地址</a:t>
            </a:r>
            <a:endParaRPr lang="zh-CN" altLang="zh-CN" sz="3200" dirty="0"/>
          </a:p>
          <a:p>
            <a:pPr lvl="1" eaLnBrk="1" hangingPunct="1"/>
            <a:r>
              <a:rPr lang="en-US" altLang="zh-CN" sz="2800" dirty="0"/>
              <a:t>Intel 8086</a:t>
            </a:r>
            <a:r>
              <a:rPr lang="zh-CN" altLang="en-US" sz="2800" dirty="0"/>
              <a:t>具有</a:t>
            </a:r>
            <a:r>
              <a:rPr lang="en-US" altLang="zh-CN" sz="2800" dirty="0"/>
              <a:t>1</a:t>
            </a:r>
            <a:r>
              <a:rPr lang="zh-CN" altLang="en-US" sz="2800" dirty="0"/>
              <a:t>兆字节（</a:t>
            </a:r>
            <a:r>
              <a:rPr lang="en-US" altLang="zh-CN" sz="2800" dirty="0"/>
              <a:t>1MB</a:t>
            </a:r>
            <a:r>
              <a:rPr lang="zh-CN" altLang="en-US" sz="2800" dirty="0"/>
              <a:t>）存储器容量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存储器地址表示为：</a:t>
            </a:r>
            <a:r>
              <a:rPr lang="en-US" altLang="zh-CN" sz="2800" dirty="0"/>
              <a:t>00000H </a:t>
            </a:r>
            <a:r>
              <a:rPr lang="zh-CN" altLang="en-US" sz="2800" dirty="0"/>
              <a:t>～ </a:t>
            </a:r>
            <a:r>
              <a:rPr lang="en-US" altLang="zh-CN" sz="2800" dirty="0"/>
              <a:t>FFFFFH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其中大写</a:t>
            </a:r>
            <a:r>
              <a:rPr lang="en-US" altLang="zh-CN" sz="2800" dirty="0"/>
              <a:t>H</a:t>
            </a:r>
            <a:r>
              <a:rPr lang="zh-CN" altLang="en-US" sz="2800" dirty="0"/>
              <a:t>（或小写</a:t>
            </a:r>
            <a:r>
              <a:rPr lang="en-US" altLang="zh-CN" sz="2800" dirty="0"/>
              <a:t>h</a:t>
            </a:r>
            <a:r>
              <a:rPr lang="zh-CN" altLang="en-US" sz="2800" dirty="0"/>
              <a:t>）表示是十六进制数</a:t>
            </a:r>
            <a:endParaRPr lang="zh-CN" altLang="en-US" sz="2800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563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端口（</a:t>
            </a:r>
            <a:r>
              <a:rPr lang="en-US" altLang="zh-CN" dirty="0"/>
              <a:t>Port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4339" name="文本占位符 5632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200" dirty="0"/>
              <a:t>I/O</a:t>
            </a:r>
            <a:r>
              <a:rPr lang="zh-CN" altLang="en-US" sz="3200" dirty="0"/>
              <a:t>接口电路由接口寄存器组成，需要用编号区别各个寄存器：</a:t>
            </a:r>
            <a:r>
              <a:rPr lang="zh-CN" altLang="en-US" sz="3200" dirty="0">
                <a:solidFill>
                  <a:schemeClr val="tx2"/>
                </a:solidFill>
              </a:rPr>
              <a:t>编号＝地址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3200" dirty="0">
                <a:solidFill>
                  <a:schemeClr val="tx2"/>
                </a:solidFill>
              </a:rPr>
              <a:t>I/O</a:t>
            </a:r>
            <a:r>
              <a:rPr lang="zh-CN" altLang="en-US" sz="3200" dirty="0">
                <a:solidFill>
                  <a:schemeClr val="tx2"/>
                </a:solidFill>
              </a:rPr>
              <a:t>地址</a:t>
            </a:r>
            <a:r>
              <a:rPr lang="zh-CN" altLang="en-US" sz="3200" dirty="0"/>
              <a:t>是接口电路中寄存器的编号</a:t>
            </a:r>
            <a:endParaRPr lang="zh-CN" altLang="en-US" sz="3200" dirty="0"/>
          </a:p>
          <a:p>
            <a:pPr eaLnBrk="1" hangingPunct="1"/>
            <a:r>
              <a:rPr lang="zh-CN" altLang="en-US" sz="3200" dirty="0">
                <a:solidFill>
                  <a:schemeClr val="tx2"/>
                </a:solidFill>
              </a:rPr>
              <a:t>端口</a:t>
            </a:r>
            <a:r>
              <a:rPr lang="zh-CN" altLang="en-US" sz="3200" dirty="0"/>
              <a:t>是</a:t>
            </a:r>
            <a:r>
              <a:rPr lang="en-US" altLang="zh-CN" sz="3200" dirty="0"/>
              <a:t>I/O</a:t>
            </a:r>
            <a:r>
              <a:rPr lang="zh-CN" altLang="en-US" sz="3200" dirty="0"/>
              <a:t>地址的通俗说法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系统通过这些端口与外设进行通信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采用十六进制数来表达端口</a:t>
            </a:r>
            <a:endParaRPr lang="zh-CN" altLang="zh-CN" sz="3200" dirty="0"/>
          </a:p>
          <a:p>
            <a:pPr lvl="1" eaLnBrk="1" hangingPunct="1"/>
            <a:r>
              <a:rPr lang="en-US" altLang="zh-CN" sz="2800" dirty="0"/>
              <a:t>Intel 8086</a:t>
            </a:r>
            <a:r>
              <a:rPr lang="zh-CN" altLang="en-US" sz="2800" dirty="0"/>
              <a:t>支持</a:t>
            </a:r>
            <a:r>
              <a:rPr lang="en-US" altLang="zh-CN" sz="2800" dirty="0"/>
              <a:t>64K</a:t>
            </a:r>
            <a:r>
              <a:rPr lang="zh-CN" altLang="en-US" sz="2800" dirty="0"/>
              <a:t>个</a:t>
            </a:r>
            <a:r>
              <a:rPr lang="en-US" altLang="zh-CN" sz="2800" dirty="0"/>
              <a:t>8</a:t>
            </a:r>
            <a:r>
              <a:rPr lang="zh-CN" altLang="en-US" sz="2800" dirty="0"/>
              <a:t>位端口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/>
              <a:t>I/O</a:t>
            </a:r>
            <a:r>
              <a:rPr lang="zh-CN" altLang="en-US" sz="2800" dirty="0"/>
              <a:t>地址可以表示为：</a:t>
            </a:r>
            <a:r>
              <a:rPr lang="en-US" altLang="zh-CN" sz="2800" dirty="0"/>
              <a:t>0000H </a:t>
            </a:r>
            <a:r>
              <a:rPr lang="zh-CN" altLang="en-US" sz="2800" dirty="0"/>
              <a:t>～ </a:t>
            </a:r>
            <a:r>
              <a:rPr lang="en-US" altLang="zh-CN" sz="2800" dirty="0"/>
              <a:t>FFFFH</a:t>
            </a:r>
            <a:endParaRPr lang="en-US" altLang="zh-CN" sz="2800" dirty="0"/>
          </a:p>
        </p:txBody>
      </p:sp>
    </p:spTree>
  </p:cSld>
  <p:clrMapOvr>
    <a:masterClrMapping/>
  </p:clrMapOvr>
  <p:transition spd="slow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8227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计算机的程序设计语言</a:t>
            </a:r>
            <a:endParaRPr lang="zh-CN" altLang="en-US" dirty="0"/>
          </a:p>
        </p:txBody>
      </p:sp>
      <p:sp>
        <p:nvSpPr>
          <p:cNvPr id="15363" name="文本占位符 18227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机器语言（</a:t>
            </a:r>
            <a:r>
              <a:rPr lang="en-US" altLang="zh-CN" dirty="0"/>
              <a:t>Machine Language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	</a:t>
            </a:r>
            <a:r>
              <a:rPr lang="en-US" altLang="zh-CN" dirty="0"/>
              <a:t>B8 64 00 	05 00 01</a:t>
            </a:r>
            <a:endParaRPr lang="en-US" altLang="zh-CN" dirty="0"/>
          </a:p>
          <a:p>
            <a:pPr eaLnBrk="1" hangingPunct="1"/>
            <a:r>
              <a:rPr lang="zh-CN" altLang="en-US" dirty="0"/>
              <a:t>汇编语言（</a:t>
            </a:r>
            <a:r>
              <a:rPr lang="en-US" altLang="zh-CN" dirty="0"/>
              <a:t>Assembly Language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mov ax,100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;</a:t>
            </a:r>
            <a:r>
              <a:rPr lang="zh-CN" altLang="en-US" dirty="0"/>
              <a:t>取得一个数据</a:t>
            </a:r>
            <a:r>
              <a:rPr lang="en-US" altLang="zh-CN" dirty="0"/>
              <a:t>100</a:t>
            </a:r>
            <a:r>
              <a:rPr lang="zh-CN" altLang="en-US" dirty="0"/>
              <a:t>（</a:t>
            </a:r>
            <a:r>
              <a:rPr lang="en-US" altLang="zh-CN" dirty="0"/>
              <a:t>MOV</a:t>
            </a:r>
            <a:r>
              <a:rPr lang="zh-CN" altLang="en-US" dirty="0"/>
              <a:t>是传送指令）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add ax,256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;</a:t>
            </a:r>
            <a:r>
              <a:rPr lang="zh-CN" altLang="en-US" dirty="0"/>
              <a:t>实现</a:t>
            </a:r>
            <a:r>
              <a:rPr lang="en-US" altLang="zh-CN" dirty="0"/>
              <a:t>100+256</a:t>
            </a:r>
            <a:r>
              <a:rPr lang="zh-CN" altLang="en-US" dirty="0"/>
              <a:t>（</a:t>
            </a:r>
            <a:r>
              <a:rPr lang="en-US" altLang="zh-CN" dirty="0"/>
              <a:t>ADD</a:t>
            </a:r>
            <a:r>
              <a:rPr lang="zh-CN" altLang="en-US" dirty="0"/>
              <a:t>是加法指令） </a:t>
            </a:r>
            <a:endParaRPr lang="zh-CN" altLang="en-US" dirty="0"/>
          </a:p>
          <a:p>
            <a:pPr eaLnBrk="1" hangingPunct="1"/>
            <a:r>
              <a:rPr lang="zh-CN" altLang="en-US" dirty="0"/>
              <a:t>高级语言（</a:t>
            </a:r>
            <a:r>
              <a:rPr lang="en-US" altLang="zh-CN" dirty="0"/>
              <a:t>High-level Language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sz="2800" dirty="0"/>
              <a:t>100</a:t>
            </a:r>
            <a:r>
              <a:rPr lang="zh-CN" altLang="en-US" sz="2800" dirty="0"/>
              <a:t>＋</a:t>
            </a:r>
            <a:r>
              <a:rPr lang="en-US" altLang="zh-CN" sz="2800" dirty="0"/>
              <a:t>256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7305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什么是汇编语言</a:t>
            </a:r>
            <a:endParaRPr lang="zh-CN" altLang="zh-CN" sz="2800" dirty="0"/>
          </a:p>
        </p:txBody>
      </p:sp>
      <p:sp>
        <p:nvSpPr>
          <p:cNvPr id="16387" name="文本占位符 173058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8958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以助记符形式表示计算机指令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助记符（</a:t>
            </a:r>
            <a:r>
              <a:rPr lang="en-US" altLang="zh-CN" sz="2800" dirty="0"/>
              <a:t>mnemonic</a:t>
            </a:r>
            <a:r>
              <a:rPr lang="zh-CN" altLang="en-US" sz="2800" dirty="0"/>
              <a:t>）是便于人们记忆、并能描述指令功能和指令操作数的符号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助记符是表明指令功能的英语单词或其缩写</a:t>
            </a:r>
            <a:endParaRPr lang="zh-CN" altLang="en-US" sz="2800" dirty="0"/>
          </a:p>
          <a:p>
            <a:pPr eaLnBrk="1" hangingPunct="1"/>
            <a:r>
              <a:rPr lang="zh-CN" altLang="en-US" sz="3200" dirty="0"/>
              <a:t>汇编格式指令以及使用它们编写程序的规则就形成汇编语言（</a:t>
            </a:r>
            <a:r>
              <a:rPr lang="en-US" altLang="zh-CN" sz="3200" dirty="0"/>
              <a:t>Assembly Language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汇编语言程序：用汇编语言书写的程序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汇编程序：将汇编语言程序“汇编”成机器代码目标模块的程序</a:t>
            </a:r>
            <a:endParaRPr lang="zh-CN" altLang="en-US" sz="3200" dirty="0"/>
          </a:p>
        </p:txBody>
      </p:sp>
      <p:sp>
        <p:nvSpPr>
          <p:cNvPr id="16388" name="圆角矩形 173059" descr="画布"/>
          <p:cNvSpPr/>
          <p:nvPr/>
        </p:nvSpPr>
        <p:spPr>
          <a:xfrm>
            <a:off x="900113" y="5949950"/>
            <a:ext cx="6767512" cy="627063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800" dirty="0">
                <a:solidFill>
                  <a:schemeClr val="accent2"/>
                </a:solidFill>
              </a:rPr>
              <a:t>  </a:t>
            </a:r>
            <a:r>
              <a:rPr lang="zh-CN" altLang="en-US" sz="2800" dirty="0">
                <a:solidFill>
                  <a:schemeClr val="accent2"/>
                </a:solidFill>
              </a:rPr>
              <a:t>汇编语言程序与汇编程序是两个概念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61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汇编语言和高级语言的比较</a:t>
            </a:r>
            <a:r>
              <a:rPr lang="en-US" altLang="zh-CN" dirty="0"/>
              <a:t>-</a:t>
            </a:r>
            <a:r>
              <a:rPr lang="en-US" altLang="zh-CN" sz="2800" dirty="0"/>
              <a:t>1</a:t>
            </a:r>
            <a:endParaRPr lang="en-US" altLang="zh-CN" sz="2800" dirty="0"/>
          </a:p>
        </p:txBody>
      </p:sp>
      <p:sp>
        <p:nvSpPr>
          <p:cNvPr id="17411" name="文本占位符 176130"/>
          <p:cNvSpPr>
            <a:spLocks noGrp="1"/>
          </p:cNvSpPr>
          <p:nvPr>
            <p:ph idx="1"/>
          </p:nvPr>
        </p:nvSpPr>
        <p:spPr>
          <a:xfrm>
            <a:off x="395288" y="1385888"/>
            <a:ext cx="8353425" cy="31226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汇编语言与处理器密切相关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↘ </a:t>
            </a:r>
            <a:r>
              <a:rPr lang="zh-CN" altLang="en-US" dirty="0"/>
              <a:t>汇编语言程序的通用性、可移植性较差</a:t>
            </a:r>
            <a:endParaRPr lang="zh-CN" altLang="en-US" dirty="0"/>
          </a:p>
          <a:p>
            <a:pPr eaLnBrk="1" hangingPunct="1"/>
            <a:r>
              <a:rPr lang="zh-CN" altLang="en-US" dirty="0"/>
              <a:t>高级语言与具体计算机无关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↗</a:t>
            </a:r>
            <a:r>
              <a:rPr lang="zh-CN" altLang="en-US" dirty="0"/>
              <a:t>高级语言程序是标准化语言，可在多种计算机上编译后执行</a:t>
            </a:r>
            <a:endParaRPr lang="zh-CN" altLang="en-US" dirty="0"/>
          </a:p>
        </p:txBody>
      </p:sp>
      <p:grpSp>
        <p:nvGrpSpPr>
          <p:cNvPr id="176132" name="组合 176131"/>
          <p:cNvGrpSpPr/>
          <p:nvPr/>
        </p:nvGrpSpPr>
        <p:grpSpPr>
          <a:xfrm>
            <a:off x="1447800" y="4724400"/>
            <a:ext cx="6437313" cy="608013"/>
            <a:chOff x="1104" y="3264"/>
            <a:chExt cx="3600" cy="162"/>
          </a:xfrm>
        </p:grpSpPr>
        <p:sp>
          <p:nvSpPr>
            <p:cNvPr id="17413" name="文本框 176132"/>
            <p:cNvSpPr txBox="1"/>
            <p:nvPr/>
          </p:nvSpPr>
          <p:spPr>
            <a:xfrm>
              <a:off x="1104" y="3264"/>
              <a:ext cx="1440" cy="162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汇编语言：</a:t>
              </a:r>
              <a:r>
                <a:rPr lang="en-US" altLang="zh-CN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×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4" name="文本框 176133"/>
            <p:cNvSpPr txBox="1"/>
            <p:nvPr/>
          </p:nvSpPr>
          <p:spPr>
            <a:xfrm>
              <a:off x="3264" y="3264"/>
              <a:ext cx="1440" cy="162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高级语言：</a:t>
              </a:r>
              <a:r>
                <a:rPr lang="en-US" altLang="zh-CN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√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771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汇编语言和高级语言的比较</a:t>
            </a:r>
            <a:r>
              <a:rPr lang="en-US" altLang="zh-CN" dirty="0"/>
              <a:t>-</a:t>
            </a:r>
            <a:r>
              <a:rPr lang="en-US" altLang="zh-CN" sz="2800" dirty="0"/>
              <a:t>2</a:t>
            </a:r>
            <a:endParaRPr lang="en-US" altLang="zh-CN" sz="2800" dirty="0"/>
          </a:p>
        </p:txBody>
      </p:sp>
      <p:sp>
        <p:nvSpPr>
          <p:cNvPr id="18435" name="文本占位符 177154"/>
          <p:cNvSpPr>
            <a:spLocks noGrp="1"/>
          </p:cNvSpPr>
          <p:nvPr>
            <p:ph idx="1"/>
          </p:nvPr>
        </p:nvSpPr>
        <p:spPr>
          <a:xfrm>
            <a:off x="854075" y="1473200"/>
            <a:ext cx="7677150" cy="35401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汇编语言功能有限、涉及硬件细节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↘ </a:t>
            </a:r>
            <a:r>
              <a:rPr lang="zh-CN" altLang="en-US" dirty="0"/>
              <a:t>程序编写比较繁琐，调试比较困难</a:t>
            </a:r>
            <a:endParaRPr lang="zh-CN" altLang="en-US" dirty="0"/>
          </a:p>
          <a:p>
            <a:pPr eaLnBrk="1" hangingPunct="1"/>
            <a:r>
              <a:rPr lang="zh-CN" altLang="en-US" dirty="0"/>
              <a:t>高级语言提供了强大的功能，不必关心琐碎问题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↗</a:t>
            </a:r>
            <a:r>
              <a:rPr lang="zh-CN" altLang="en-US" dirty="0"/>
              <a:t>类似自然语言的语法，易于掌握和应用</a:t>
            </a:r>
            <a:endParaRPr lang="zh-CN" altLang="en-US" dirty="0"/>
          </a:p>
        </p:txBody>
      </p:sp>
      <p:grpSp>
        <p:nvGrpSpPr>
          <p:cNvPr id="177156" name="组合 177155"/>
          <p:cNvGrpSpPr/>
          <p:nvPr/>
        </p:nvGrpSpPr>
        <p:grpSpPr>
          <a:xfrm>
            <a:off x="1447800" y="5300663"/>
            <a:ext cx="6580188" cy="608012"/>
            <a:chOff x="1104" y="3264"/>
            <a:chExt cx="3600" cy="383"/>
          </a:xfrm>
        </p:grpSpPr>
        <p:sp>
          <p:nvSpPr>
            <p:cNvPr id="18437" name="文本框 177156"/>
            <p:cNvSpPr txBox="1"/>
            <p:nvPr/>
          </p:nvSpPr>
          <p:spPr>
            <a:xfrm>
              <a:off x="1104" y="3264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汇编语言：</a:t>
              </a:r>
              <a:r>
                <a:rPr lang="en-US" altLang="zh-CN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×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38" name="文本框 177157"/>
            <p:cNvSpPr txBox="1"/>
            <p:nvPr/>
          </p:nvSpPr>
          <p:spPr>
            <a:xfrm>
              <a:off x="3264" y="3264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高级语言：</a:t>
              </a:r>
              <a:r>
                <a:rPr lang="en-US" altLang="zh-CN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√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7817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汇编语言和高级语言的比较</a:t>
            </a:r>
            <a:r>
              <a:rPr lang="en-US" altLang="zh-CN" dirty="0"/>
              <a:t>-</a:t>
            </a:r>
            <a:r>
              <a:rPr lang="en-US" altLang="zh-CN" sz="2800" dirty="0"/>
              <a:t>3</a:t>
            </a:r>
            <a:endParaRPr lang="en-US" altLang="zh-CN" sz="2800" dirty="0"/>
          </a:p>
        </p:txBody>
      </p:sp>
      <p:sp>
        <p:nvSpPr>
          <p:cNvPr id="19459" name="文本占位符 178178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2481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汇编语言本质上就是机器语言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↗ </a:t>
            </a:r>
            <a:r>
              <a:rPr lang="zh-CN" altLang="en-US" dirty="0"/>
              <a:t>可以直接、有效地控制计算机硬件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↗</a:t>
            </a:r>
            <a:r>
              <a:rPr lang="zh-CN" altLang="en-US" dirty="0"/>
              <a:t>易于产生速度快、容量小的高效率目标程序</a:t>
            </a:r>
            <a:endParaRPr lang="zh-CN" altLang="en-US" dirty="0"/>
          </a:p>
          <a:p>
            <a:pPr eaLnBrk="1" hangingPunct="1"/>
            <a:r>
              <a:rPr lang="zh-CN" altLang="en-US" dirty="0"/>
              <a:t>高级语言不针对具体计算机系统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↘</a:t>
            </a:r>
            <a:r>
              <a:rPr lang="zh-CN" altLang="en-US" dirty="0"/>
              <a:t>不易直接控制计算机的各种操作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↘</a:t>
            </a:r>
            <a:r>
              <a:rPr lang="zh-CN" altLang="en-US" dirty="0"/>
              <a:t>目标程序比较庞大、运行速度较慢</a:t>
            </a:r>
            <a:endParaRPr lang="zh-CN" altLang="en-US" dirty="0"/>
          </a:p>
        </p:txBody>
      </p:sp>
      <p:grpSp>
        <p:nvGrpSpPr>
          <p:cNvPr id="178180" name="组合 178179"/>
          <p:cNvGrpSpPr/>
          <p:nvPr/>
        </p:nvGrpSpPr>
        <p:grpSpPr>
          <a:xfrm>
            <a:off x="1331913" y="5516563"/>
            <a:ext cx="6076950" cy="608012"/>
            <a:chOff x="1104" y="3264"/>
            <a:chExt cx="3600" cy="383"/>
          </a:xfrm>
        </p:grpSpPr>
        <p:sp>
          <p:nvSpPr>
            <p:cNvPr id="19461" name="文本框 178180"/>
            <p:cNvSpPr txBox="1"/>
            <p:nvPr/>
          </p:nvSpPr>
          <p:spPr>
            <a:xfrm>
              <a:off x="1104" y="3264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汇编语言：</a:t>
              </a:r>
              <a:r>
                <a:rPr lang="en-US" altLang="zh-CN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√</a:t>
              </a:r>
              <a:endParaRPr lang="en-US" altLang="zh-CN" sz="3200" dirty="0">
                <a:solidFill>
                  <a:srgbClr val="0000FF"/>
                </a:solidFill>
                <a:latin typeface="Impact" panose="020B080603090205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9462" name="文本框 178181"/>
            <p:cNvSpPr txBox="1"/>
            <p:nvPr/>
          </p:nvSpPr>
          <p:spPr>
            <a:xfrm>
              <a:off x="3264" y="3264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高级语言：</a:t>
              </a:r>
              <a:r>
                <a:rPr lang="en-US" altLang="zh-CN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×</a:t>
              </a:r>
              <a:endParaRPr lang="en-US" altLang="zh-CN" sz="3200" dirty="0">
                <a:solidFill>
                  <a:srgbClr val="0000FF"/>
                </a:solidFill>
                <a:latin typeface="Impact" panose="020B080603090205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7920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汇编语言的特点</a:t>
            </a:r>
            <a:endParaRPr lang="zh-CN" altLang="en-US" sz="2800" dirty="0"/>
          </a:p>
        </p:txBody>
      </p:sp>
      <p:sp>
        <p:nvSpPr>
          <p:cNvPr id="20483" name="文本占位符 179202"/>
          <p:cNvSpPr>
            <a:spLocks noGrp="1"/>
          </p:cNvSpPr>
          <p:nvPr>
            <p:ph idx="1"/>
          </p:nvPr>
        </p:nvSpPr>
        <p:spPr>
          <a:xfrm>
            <a:off x="252413" y="1196975"/>
            <a:ext cx="8712200" cy="43926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汇编语言的优点：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直接控制计算机硬件部件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编写“时间”和“空间”两方面最有效程序</a:t>
            </a:r>
            <a:endParaRPr lang="zh-CN" altLang="en-US" dirty="0"/>
          </a:p>
          <a:p>
            <a:pPr eaLnBrk="1" hangingPunct="1"/>
            <a:r>
              <a:rPr lang="zh-CN" altLang="en-US" dirty="0"/>
              <a:t>汇编语言的缺点：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与处理器密切有关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需要熟悉计算机硬件系统、考虑许多细节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编写繁琐，调试、维护、交流和移植困难</a:t>
            </a:r>
            <a:endParaRPr lang="zh-CN" altLang="en-US" dirty="0"/>
          </a:p>
        </p:txBody>
      </p:sp>
      <p:grpSp>
        <p:nvGrpSpPr>
          <p:cNvPr id="179204" name="组合 179203"/>
          <p:cNvGrpSpPr/>
          <p:nvPr/>
        </p:nvGrpSpPr>
        <p:grpSpPr>
          <a:xfrm>
            <a:off x="1438275" y="5726113"/>
            <a:ext cx="6219825" cy="608012"/>
            <a:chOff x="1104" y="3264"/>
            <a:chExt cx="3600" cy="383"/>
          </a:xfrm>
        </p:grpSpPr>
        <p:sp>
          <p:nvSpPr>
            <p:cNvPr id="20485" name="文本框 179204"/>
            <p:cNvSpPr txBox="1"/>
            <p:nvPr/>
          </p:nvSpPr>
          <p:spPr>
            <a:xfrm>
              <a:off x="1104" y="3264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汇编语言：</a:t>
              </a:r>
              <a:r>
                <a:rPr lang="zh-CN" altLang="en-US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？</a:t>
              </a:r>
              <a:endParaRPr lang="zh-CN" altLang="en-US" sz="3200" dirty="0">
                <a:solidFill>
                  <a:srgbClr val="0000FF"/>
                </a:solidFill>
                <a:latin typeface="Impact" panose="020B080603090205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486" name="文本框 179205"/>
            <p:cNvSpPr txBox="1"/>
            <p:nvPr/>
          </p:nvSpPr>
          <p:spPr>
            <a:xfrm>
              <a:off x="3264" y="3264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高级语言：</a:t>
              </a:r>
              <a:r>
                <a:rPr lang="zh-CN" altLang="en-US" sz="3200" dirty="0">
                  <a:solidFill>
                    <a:srgbClr val="0000FF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？</a:t>
              </a:r>
              <a:endParaRPr lang="zh-CN" altLang="en-US" sz="3200" dirty="0">
                <a:solidFill>
                  <a:srgbClr val="0000FF"/>
                </a:solidFill>
                <a:latin typeface="Impact" panose="020B080603090205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8022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汇编语言和高级语言的混合编程</a:t>
            </a:r>
            <a:endParaRPr lang="zh-CN" altLang="en-US" sz="2800" dirty="0"/>
          </a:p>
        </p:txBody>
      </p:sp>
      <p:sp>
        <p:nvSpPr>
          <p:cNvPr id="21507" name="文本占位符 180226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4559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汇编语言的优点使得它在程序设计中占有重要的位置，不可被取代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汇编语言的缺点使得人们主要采用高级语言进行程序开发工作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有时需要采用高级语言和汇编语言混合编程，互相取长补短，更好地解决实际问题</a:t>
            </a:r>
            <a:endParaRPr lang="zh-CN" altLang="en-US" sz="3200" dirty="0"/>
          </a:p>
        </p:txBody>
      </p:sp>
      <p:grpSp>
        <p:nvGrpSpPr>
          <p:cNvPr id="180228" name="组合 180227"/>
          <p:cNvGrpSpPr/>
          <p:nvPr/>
        </p:nvGrpSpPr>
        <p:grpSpPr>
          <a:xfrm>
            <a:off x="1449388" y="4692650"/>
            <a:ext cx="5715000" cy="608013"/>
            <a:chOff x="912" y="3459"/>
            <a:chExt cx="3600" cy="383"/>
          </a:xfrm>
        </p:grpSpPr>
        <p:sp>
          <p:nvSpPr>
            <p:cNvPr id="21510" name="文本框 180228"/>
            <p:cNvSpPr txBox="1"/>
            <p:nvPr/>
          </p:nvSpPr>
          <p:spPr>
            <a:xfrm>
              <a:off x="912" y="3459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b="0" dirty="0">
                  <a:solidFill>
                    <a:schemeClr val="tx2"/>
                  </a:solidFill>
                  <a:latin typeface="Impact" panose="020B0806030902050204" pitchFamily="34" charset="0"/>
                  <a:ea typeface="黑体" panose="02010609060101010101" pitchFamily="49" charset="-122"/>
                </a:rPr>
                <a:t>混合编程</a:t>
              </a:r>
              <a:endParaRPr lang="zh-CN" altLang="en-US" sz="3200" b="0" dirty="0">
                <a:solidFill>
                  <a:schemeClr val="tx2"/>
                </a:solidFill>
                <a:latin typeface="Impact" panose="020B080603090205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1511" name="文本框 180229"/>
            <p:cNvSpPr txBox="1"/>
            <p:nvPr/>
          </p:nvSpPr>
          <p:spPr>
            <a:xfrm>
              <a:off x="3072" y="3459"/>
              <a:ext cx="1440" cy="383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取长补短</a:t>
              </a:r>
              <a:endParaRPr lang="zh-CN" altLang="en-US" sz="3200" b="0" dirty="0">
                <a:solidFill>
                  <a:schemeClr val="tx2"/>
                </a:solidFill>
                <a:latin typeface="Impact" panose="020B080603090205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7654" name="矩形 180230"/>
          <p:cNvSpPr>
            <a:spLocks noChangeArrowheads="1" noChangeShapeType="1" noTextEdit="1"/>
          </p:cNvSpPr>
          <p:nvPr/>
        </p:nvSpPr>
        <p:spPr bwMode="auto">
          <a:xfrm>
            <a:off x="539750" y="5373688"/>
            <a:ext cx="8001000" cy="1054100"/>
          </a:xfrm>
          <a:prstGeom prst="rect">
            <a:avLst/>
          </a:prstGeom>
        </p:spPr>
        <p:txBody>
          <a:bodyPr wrap="none" numCol="1" fromWordArt="1">
            <a:prstTxWarp prst="textCurveUp">
              <a:avLst>
                <a:gd name="adj" fmla="val 26042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0" cap="none" spc="0" normalizeH="0" baseline="0" noProof="0">
                <a:ln w="12700">
                  <a:solidFill>
                    <a:srgbClr val="3333CC"/>
                  </a:solidFill>
                  <a:round/>
                </a:ln>
                <a:solidFill>
                  <a:schemeClr val="hlink"/>
                </a:solid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汇编语言在低层（</a:t>
            </a:r>
            <a:r>
              <a:rPr kumimoji="0" lang="en-US" altLang="zh-CN" sz="3600" b="0" i="0" u="none" strike="noStrike" kern="10" cap="none" spc="0" normalizeH="0" baseline="0" noProof="0">
                <a:ln w="12700">
                  <a:solidFill>
                    <a:srgbClr val="3333CC"/>
                  </a:solidFill>
                  <a:round/>
                </a:ln>
                <a:solidFill>
                  <a:schemeClr val="hlink"/>
                </a:solid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Low Level</a:t>
            </a:r>
            <a:r>
              <a:rPr kumimoji="0" lang="zh-CN" altLang="en-US" sz="3600" b="0" i="0" u="none" strike="noStrike" kern="10" cap="none" spc="0" normalizeH="0" baseline="0" noProof="0">
                <a:ln w="12700">
                  <a:solidFill>
                    <a:srgbClr val="3333CC"/>
                  </a:solidFill>
                  <a:round/>
                </a:ln>
                <a:solidFill>
                  <a:schemeClr val="hlink"/>
                </a:solid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）但不低级</a:t>
            </a:r>
            <a:endParaRPr kumimoji="0" lang="zh-CN" altLang="en-US" sz="3600" b="0" i="0" u="none" strike="noStrike" kern="10" cap="none" spc="0" normalizeH="0" baseline="0" noProof="0">
              <a:ln w="12700">
                <a:solidFill>
                  <a:srgbClr val="3333CC"/>
                </a:solidFill>
                <a:round/>
              </a:ln>
              <a:solidFill>
                <a:schemeClr val="hlink"/>
              </a:solidFill>
              <a:effectLst>
                <a:outerShdw dist="45791" dir="2021404" algn="ctr" rotWithShape="0">
                  <a:srgbClr val="808080">
                    <a:alpha val="79999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  <p:bldP spid="276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8124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汇编语言的应用场合</a:t>
            </a:r>
            <a:endParaRPr lang="zh-CN" altLang="en-US" dirty="0"/>
          </a:p>
        </p:txBody>
      </p:sp>
      <p:sp>
        <p:nvSpPr>
          <p:cNvPr id="22531" name="文本占位符 18125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程序要具有较快的执行时间，或者只能占用较小的存储容量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程序与计算机硬件密切相关，程序要直接、有效地控制硬件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大型软件需要提高性能、优化处理的部分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没有合适的高级语言、或只能采用汇编语言的时候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分析具体系统尤其是该系统的低层软件、加密解密软件、分析和防治计算机病毒等等</a:t>
            </a:r>
            <a:endParaRPr lang="zh-CN" altLang="en-US" sz="3200" dirty="0"/>
          </a:p>
        </p:txBody>
      </p:sp>
      <p:sp>
        <p:nvSpPr>
          <p:cNvPr id="181252" name="圆角矩形 181251" descr="画布"/>
          <p:cNvSpPr/>
          <p:nvPr/>
        </p:nvSpPr>
        <p:spPr>
          <a:xfrm>
            <a:off x="1143000" y="2997200"/>
            <a:ext cx="7315200" cy="8890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zh-CN" altLang="en-US" dirty="0">
                <a:solidFill>
                  <a:schemeClr val="accent2"/>
                </a:solidFill>
              </a:rPr>
              <a:t>汇编语言的作用实在不小 ！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nimBg="1"/>
      <p:bldP spid="2253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8432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1.2  </a:t>
            </a:r>
            <a:r>
              <a:rPr lang="zh-CN" altLang="en-US" dirty="0"/>
              <a:t>数据表示</a:t>
            </a:r>
            <a:endParaRPr lang="zh-CN" altLang="en-US" dirty="0"/>
          </a:p>
        </p:txBody>
      </p:sp>
      <p:sp>
        <p:nvSpPr>
          <p:cNvPr id="23555" name="文本占位符 18432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accent2"/>
                </a:solidFill>
              </a:rPr>
              <a:t>1.2.1 </a:t>
            </a:r>
            <a:r>
              <a:rPr lang="zh-CN" altLang="en-US" dirty="0">
                <a:solidFill>
                  <a:schemeClr val="accent2"/>
                </a:solidFill>
              </a:rPr>
              <a:t>数制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/>
            <a:r>
              <a:rPr lang="zh-CN" altLang="en-US" dirty="0"/>
              <a:t>二进制数、十六进制数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它们与十进制数的相互转换</a:t>
            </a:r>
            <a:endParaRPr lang="zh-CN" altLang="en-US" dirty="0"/>
          </a:p>
          <a:p>
            <a:pPr eaLnBrk="1" hangingPunct="1"/>
            <a:r>
              <a:rPr lang="en-US" altLang="zh-CN" dirty="0">
                <a:solidFill>
                  <a:schemeClr val="accent2"/>
                </a:solidFill>
              </a:rPr>
              <a:t>1.2.2 </a:t>
            </a:r>
            <a:r>
              <a:rPr lang="zh-CN" altLang="en-US" dirty="0">
                <a:solidFill>
                  <a:schemeClr val="accent2"/>
                </a:solidFill>
              </a:rPr>
              <a:t>数值的编码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/>
            <a:r>
              <a:rPr lang="zh-CN" altLang="en-US" dirty="0"/>
              <a:t>定点整数编码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有符号整数的补码表示</a:t>
            </a:r>
            <a:endParaRPr lang="zh-CN" altLang="en-US" dirty="0"/>
          </a:p>
          <a:p>
            <a:pPr eaLnBrk="1" hangingPunct="1"/>
            <a:r>
              <a:rPr lang="en-US" altLang="zh-CN" dirty="0">
                <a:solidFill>
                  <a:schemeClr val="accent2"/>
                </a:solidFill>
              </a:rPr>
              <a:t>1.2.3 </a:t>
            </a:r>
            <a:r>
              <a:rPr lang="zh-CN" altLang="en-US" dirty="0">
                <a:solidFill>
                  <a:schemeClr val="accent2"/>
                </a:solidFill>
              </a:rPr>
              <a:t>字符的编码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/>
            <a:r>
              <a:rPr lang="en-US" altLang="zh-CN" dirty="0"/>
              <a:t>BCD</a:t>
            </a:r>
            <a:r>
              <a:rPr lang="zh-CN" altLang="en-US" dirty="0"/>
              <a:t>码和</a:t>
            </a:r>
            <a:r>
              <a:rPr lang="en-US" altLang="zh-CN" dirty="0"/>
              <a:t>ASCII</a:t>
            </a:r>
            <a:r>
              <a:rPr lang="zh-CN" altLang="en-US" dirty="0"/>
              <a:t>码的规律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cover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9865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BCD</a:t>
            </a:r>
            <a:r>
              <a:rPr lang="zh-CN" altLang="en-US" dirty="0"/>
              <a:t>码</a:t>
            </a:r>
            <a:r>
              <a:rPr lang="zh-CN" altLang="en-US" sz="2800" dirty="0"/>
              <a:t>（</a:t>
            </a:r>
            <a:r>
              <a:rPr lang="en-US" altLang="zh-CN" sz="2800" dirty="0"/>
              <a:t>Binary Coded Decimal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4579" name="文本占位符 19865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二进制编码的十进制数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一个十进制数位</a:t>
            </a:r>
            <a:r>
              <a:rPr lang="en-US" altLang="zh-CN" sz="2800" dirty="0"/>
              <a:t>0</a:t>
            </a:r>
            <a:r>
              <a:rPr lang="zh-CN" altLang="en-US" sz="2800" dirty="0"/>
              <a:t>～</a:t>
            </a:r>
            <a:r>
              <a:rPr lang="en-US" altLang="zh-CN" sz="2800" dirty="0"/>
              <a:t>9</a:t>
            </a:r>
            <a:r>
              <a:rPr lang="zh-CN" altLang="en-US" sz="2800" dirty="0"/>
              <a:t>用</a:t>
            </a:r>
            <a:r>
              <a:rPr lang="en-US" altLang="zh-CN" sz="2800" dirty="0"/>
              <a:t>4</a:t>
            </a:r>
            <a:r>
              <a:rPr lang="zh-CN" altLang="en-US" sz="2800" dirty="0"/>
              <a:t>位二进制编码来表示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常用</a:t>
            </a:r>
            <a:r>
              <a:rPr lang="en-US" altLang="zh-CN" sz="2800" dirty="0"/>
              <a:t>8421 BCD</a:t>
            </a:r>
            <a:r>
              <a:rPr lang="zh-CN" altLang="en-US" sz="2800" dirty="0"/>
              <a:t>码：低</a:t>
            </a:r>
            <a:r>
              <a:rPr lang="en-US" altLang="zh-CN" sz="2800" dirty="0"/>
              <a:t>10</a:t>
            </a:r>
            <a:r>
              <a:rPr lang="zh-CN" altLang="en-US" sz="2800" dirty="0"/>
              <a:t>个</a:t>
            </a:r>
            <a:r>
              <a:rPr lang="en-US" altLang="zh-CN" sz="2800" dirty="0"/>
              <a:t>4</a:t>
            </a:r>
            <a:r>
              <a:rPr lang="zh-CN" altLang="en-US" sz="2800" dirty="0"/>
              <a:t>位二进制编码表示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压缩</a:t>
            </a:r>
            <a:r>
              <a:rPr lang="en-US" altLang="zh-CN" sz="2800" dirty="0"/>
              <a:t>BCD</a:t>
            </a:r>
            <a:r>
              <a:rPr lang="zh-CN" altLang="en-US" sz="2800" dirty="0"/>
              <a:t>码：一个字节表达两位</a:t>
            </a:r>
            <a:r>
              <a:rPr lang="en-US" altLang="zh-CN" sz="2800" dirty="0"/>
              <a:t>BCD</a:t>
            </a:r>
            <a:r>
              <a:rPr lang="zh-CN" altLang="en-US" sz="2800" dirty="0"/>
              <a:t>码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非压缩</a:t>
            </a:r>
            <a:r>
              <a:rPr lang="en-US" altLang="zh-CN" sz="2800" dirty="0"/>
              <a:t>BCD</a:t>
            </a:r>
            <a:r>
              <a:rPr lang="zh-CN" altLang="en-US" sz="2800" dirty="0"/>
              <a:t>码：一个字节表达一位</a:t>
            </a:r>
            <a:r>
              <a:rPr lang="en-US" altLang="zh-CN" sz="2800" dirty="0"/>
              <a:t>BCD</a:t>
            </a:r>
            <a:r>
              <a:rPr lang="zh-CN" altLang="en-US" sz="2800" dirty="0"/>
              <a:t>码（低</a:t>
            </a:r>
            <a:r>
              <a:rPr lang="en-US" altLang="zh-CN" sz="2800" dirty="0"/>
              <a:t>4</a:t>
            </a:r>
            <a:r>
              <a:rPr lang="zh-CN" altLang="en-US" sz="2800" dirty="0"/>
              <a:t>位表达数值，高</a:t>
            </a:r>
            <a:r>
              <a:rPr lang="en-US" altLang="zh-CN" sz="2800" dirty="0"/>
              <a:t>4</a:t>
            </a:r>
            <a:r>
              <a:rPr lang="zh-CN" altLang="en-US" sz="2800" dirty="0"/>
              <a:t>位常设置为</a:t>
            </a:r>
            <a:r>
              <a:rPr lang="en-US" altLang="zh-CN" sz="2800" dirty="0"/>
              <a:t>0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/>
            <a:r>
              <a:rPr lang="en-US" altLang="zh-CN" sz="3200" dirty="0"/>
              <a:t>BCD</a:t>
            </a:r>
            <a:r>
              <a:rPr lang="zh-CN" altLang="en-US" sz="3200" dirty="0"/>
              <a:t>码很直观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en-US" altLang="zh-CN" sz="2800" dirty="0"/>
              <a:t>BCD</a:t>
            </a:r>
            <a:r>
              <a:rPr lang="zh-CN" altLang="en-US" sz="2800" dirty="0"/>
              <a:t>码：</a:t>
            </a:r>
            <a:r>
              <a:rPr lang="en-US" altLang="zh-CN" sz="2800" dirty="0"/>
              <a:t>0100 1001 0111 1000.0001 0100 1001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zh-CN" altLang="en-US" sz="2800" dirty="0"/>
              <a:t>十进制真值：	</a:t>
            </a:r>
            <a:r>
              <a:rPr lang="en-US" altLang="zh-CN" sz="2800" dirty="0"/>
              <a:t>4978.149</a:t>
            </a:r>
            <a:endParaRPr lang="en-US" altLang="zh-CN" sz="2800" dirty="0"/>
          </a:p>
        </p:txBody>
      </p:sp>
      <p:sp>
        <p:nvSpPr>
          <p:cNvPr id="24580" name="圆角矩形 198659"/>
          <p:cNvSpPr/>
          <p:nvPr/>
        </p:nvSpPr>
        <p:spPr>
          <a:xfrm>
            <a:off x="2339975" y="5805488"/>
            <a:ext cx="6192838" cy="5032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rnd" cmpd="sng">
            <a:solidFill>
              <a:srgbClr val="660066"/>
            </a:solidFill>
            <a:prstDash val="sysDot"/>
            <a:headEnd type="none" w="med" len="med"/>
            <a:tailEnd type="none" w="med" len="med"/>
          </a:ln>
          <a:effectLst>
            <a:outerShdw dist="35921" dir="2699999" algn="ctr" rotWithShape="0">
              <a:schemeClr val="folHlink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en-US" altLang="zh-CN" sz="2800" dirty="0"/>
              <a:t>BCD</a:t>
            </a:r>
            <a:r>
              <a:rPr lang="zh-CN" altLang="en-US" sz="2800" dirty="0"/>
              <a:t>码便于输入输出，表达数值准确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996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ASCII</a:t>
            </a:r>
            <a:r>
              <a:rPr lang="zh-CN" altLang="en-US" dirty="0"/>
              <a:t>码</a:t>
            </a:r>
            <a:r>
              <a:rPr lang="zh-CN" altLang="en-US" sz="2800" dirty="0"/>
              <a:t>（美国标准信息交换码）</a:t>
            </a:r>
            <a:endParaRPr lang="zh-CN" altLang="en-US" sz="2800" dirty="0"/>
          </a:p>
        </p:txBody>
      </p:sp>
      <p:sp>
        <p:nvSpPr>
          <p:cNvPr id="25603" name="文本占位符 19968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标准</a:t>
            </a:r>
            <a:r>
              <a:rPr lang="en-US" altLang="zh-CN" sz="3200" dirty="0"/>
              <a:t>ASCII</a:t>
            </a:r>
            <a:r>
              <a:rPr lang="zh-CN" altLang="en-US" sz="3200" dirty="0"/>
              <a:t>码用</a:t>
            </a:r>
            <a:r>
              <a:rPr lang="en-US" altLang="zh-CN" sz="3200" dirty="0"/>
              <a:t>7</a:t>
            </a:r>
            <a:r>
              <a:rPr lang="zh-CN" altLang="en-US" sz="3200" dirty="0"/>
              <a:t>位二进制编码，有</a:t>
            </a:r>
            <a:r>
              <a:rPr lang="en-US" altLang="zh-CN" sz="3200" dirty="0"/>
              <a:t>128</a:t>
            </a:r>
            <a:r>
              <a:rPr lang="zh-CN" altLang="en-US" sz="3200" dirty="0"/>
              <a:t>个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不可显示的控制字符</a:t>
            </a:r>
            <a:endParaRPr lang="zh-CN" altLang="en-US" sz="3200" dirty="0"/>
          </a:p>
          <a:p>
            <a:pPr eaLnBrk="1" hangingPunct="1">
              <a:buNone/>
            </a:pPr>
            <a:r>
              <a:rPr lang="zh-CN" altLang="en-US" sz="2800" dirty="0"/>
              <a:t>	前</a:t>
            </a:r>
            <a:r>
              <a:rPr lang="en-US" altLang="zh-CN" sz="2800" dirty="0"/>
              <a:t>32</a:t>
            </a:r>
            <a:r>
              <a:rPr lang="zh-CN" altLang="en-US" sz="2800" dirty="0"/>
              <a:t>个和最后一个编码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zh-CN" altLang="en-US" sz="2800" dirty="0"/>
              <a:t>回车</a:t>
            </a:r>
            <a:r>
              <a:rPr lang="en-US" altLang="zh-CN" sz="2800" dirty="0"/>
              <a:t>CR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0DH   </a:t>
            </a:r>
            <a:r>
              <a:rPr lang="zh-CN" altLang="en-US" sz="2800" dirty="0"/>
              <a:t>换行</a:t>
            </a:r>
            <a:r>
              <a:rPr lang="en-US" altLang="zh-CN" sz="2800" dirty="0"/>
              <a:t>LF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0AH   </a:t>
            </a:r>
            <a:r>
              <a:rPr lang="zh-CN" altLang="en-US" sz="2800" dirty="0"/>
              <a:t>响铃</a:t>
            </a:r>
            <a:r>
              <a:rPr lang="en-US" altLang="zh-CN" sz="2800" dirty="0"/>
              <a:t>BEL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07H</a:t>
            </a:r>
            <a:endParaRPr lang="en-US" altLang="zh-CN" sz="2800" dirty="0"/>
          </a:p>
          <a:p>
            <a:pPr eaLnBrk="1" hangingPunct="1"/>
            <a:r>
              <a:rPr lang="zh-CN" altLang="en-US" sz="3200" dirty="0"/>
              <a:t>可显示和打印的字符：</a:t>
            </a:r>
            <a:r>
              <a:rPr lang="en-US" altLang="zh-CN" sz="3200" dirty="0"/>
              <a:t>20H</a:t>
            </a:r>
            <a:r>
              <a:rPr lang="zh-CN" altLang="en-US" sz="3200" dirty="0"/>
              <a:t>开始的</a:t>
            </a:r>
            <a:r>
              <a:rPr lang="en-US" altLang="zh-CN" sz="3200" dirty="0"/>
              <a:t>95</a:t>
            </a:r>
            <a:r>
              <a:rPr lang="zh-CN" altLang="en-US" sz="3200" dirty="0"/>
              <a:t>个编码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数码</a:t>
            </a:r>
            <a:r>
              <a:rPr lang="en-US" altLang="zh-CN" sz="2800" dirty="0"/>
              <a:t>0</a:t>
            </a:r>
            <a:r>
              <a:rPr lang="zh-CN" altLang="en-US" sz="2800" dirty="0"/>
              <a:t>～</a:t>
            </a:r>
            <a:r>
              <a:rPr lang="en-US" altLang="zh-CN" sz="2800" dirty="0"/>
              <a:t>9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30H</a:t>
            </a:r>
            <a:r>
              <a:rPr lang="zh-CN" altLang="en-US" sz="2800" dirty="0">
                <a:solidFill>
                  <a:srgbClr val="0000CC"/>
                </a:solidFill>
              </a:rPr>
              <a:t>～</a:t>
            </a:r>
            <a:r>
              <a:rPr lang="en-US" altLang="zh-CN" sz="2800" dirty="0">
                <a:solidFill>
                  <a:srgbClr val="0000CC"/>
                </a:solidFill>
              </a:rPr>
              <a:t>39H</a:t>
            </a:r>
            <a:endParaRPr lang="en-US" altLang="zh-CN" sz="2800" dirty="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800" dirty="0"/>
              <a:t>大写字母</a:t>
            </a:r>
            <a:r>
              <a:rPr lang="en-US" altLang="zh-CN" sz="2800" dirty="0"/>
              <a:t>A</a:t>
            </a:r>
            <a:r>
              <a:rPr lang="zh-CN" altLang="en-US" sz="2800" dirty="0"/>
              <a:t>～</a:t>
            </a:r>
            <a:r>
              <a:rPr lang="en-US" altLang="zh-CN" sz="2800" dirty="0"/>
              <a:t>Z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41H</a:t>
            </a:r>
            <a:r>
              <a:rPr lang="zh-CN" altLang="en-US" sz="2800" dirty="0">
                <a:solidFill>
                  <a:srgbClr val="0000CC"/>
                </a:solidFill>
              </a:rPr>
              <a:t>～</a:t>
            </a:r>
            <a:r>
              <a:rPr lang="en-US" altLang="zh-CN" sz="2800" dirty="0">
                <a:solidFill>
                  <a:srgbClr val="0000CC"/>
                </a:solidFill>
              </a:rPr>
              <a:t>5AH</a:t>
            </a:r>
            <a:endParaRPr lang="en-US" altLang="zh-CN" sz="2800" dirty="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800" dirty="0"/>
              <a:t>小写字母</a:t>
            </a:r>
            <a:r>
              <a:rPr lang="en-US" altLang="zh-CN" sz="2800" dirty="0"/>
              <a:t>a</a:t>
            </a:r>
            <a:r>
              <a:rPr lang="zh-CN" altLang="en-US" sz="2800" dirty="0"/>
              <a:t>～</a:t>
            </a:r>
            <a:r>
              <a:rPr lang="en-US" altLang="zh-CN" sz="2800" dirty="0"/>
              <a:t>z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rgbClr val="0000CC"/>
                </a:solidFill>
              </a:rPr>
              <a:t>61H</a:t>
            </a:r>
            <a:r>
              <a:rPr lang="zh-CN" altLang="en-US" sz="2800" dirty="0">
                <a:solidFill>
                  <a:srgbClr val="0000CC"/>
                </a:solidFill>
              </a:rPr>
              <a:t>～</a:t>
            </a:r>
            <a:r>
              <a:rPr lang="en-US" altLang="zh-CN" sz="2800" dirty="0">
                <a:solidFill>
                  <a:srgbClr val="0000CC"/>
                </a:solidFill>
              </a:rPr>
              <a:t>7AH</a:t>
            </a:r>
            <a:endParaRPr lang="en-US" altLang="zh-CN" sz="2800" dirty="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800" dirty="0"/>
              <a:t>空格：</a:t>
            </a:r>
            <a:r>
              <a:rPr lang="en-US" altLang="zh-CN" sz="2800" dirty="0">
                <a:solidFill>
                  <a:srgbClr val="0000CC"/>
                </a:solidFill>
              </a:rPr>
              <a:t>20H</a:t>
            </a:r>
            <a:endParaRPr lang="en-US" altLang="zh-CN" sz="2800" dirty="0"/>
          </a:p>
          <a:p>
            <a:pPr eaLnBrk="1" hangingPunct="1"/>
            <a:r>
              <a:rPr lang="zh-CN" altLang="en-US" sz="3200" dirty="0"/>
              <a:t>扩展</a:t>
            </a:r>
            <a:r>
              <a:rPr lang="en-US" altLang="zh-CN" sz="3200" dirty="0"/>
              <a:t>ASCII</a:t>
            </a:r>
            <a:r>
              <a:rPr lang="zh-CN" altLang="en-US" sz="3200" dirty="0"/>
              <a:t>码：最高</a:t>
            </a:r>
            <a:r>
              <a:rPr lang="en-US" altLang="zh-CN" sz="3200" dirty="0"/>
              <a:t>D7</a:t>
            </a:r>
            <a:r>
              <a:rPr lang="zh-CN" altLang="en-US" sz="3200" dirty="0"/>
              <a:t>位为</a:t>
            </a:r>
            <a:r>
              <a:rPr lang="en-US" altLang="zh-CN" sz="3200" dirty="0"/>
              <a:t>1</a:t>
            </a:r>
            <a:r>
              <a:rPr lang="zh-CN" altLang="en-US" sz="3200" dirty="0"/>
              <a:t>，表达制表符</a:t>
            </a:r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955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真值和机器数</a:t>
            </a:r>
            <a:endParaRPr lang="zh-CN" altLang="en-US" dirty="0"/>
          </a:p>
        </p:txBody>
      </p:sp>
      <p:sp>
        <p:nvSpPr>
          <p:cNvPr id="26627" name="文本占位符 19558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>
                <a:solidFill>
                  <a:srgbClr val="0000CC"/>
                </a:solidFill>
              </a:rPr>
              <a:t>真值</a:t>
            </a:r>
            <a:r>
              <a:rPr lang="zh-CN" altLang="en-US" sz="2800" dirty="0"/>
              <a:t>：现实中真实的数值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rgbClr val="0000CC"/>
                </a:solidFill>
              </a:rPr>
              <a:t>机器数</a:t>
            </a:r>
            <a:r>
              <a:rPr lang="zh-CN" altLang="en-US" sz="2800" dirty="0"/>
              <a:t>：计算机中用</a:t>
            </a:r>
            <a:r>
              <a:rPr lang="en-US" altLang="zh-CN" sz="2800" dirty="0"/>
              <a:t>0</a:t>
            </a:r>
            <a:r>
              <a:rPr lang="zh-CN" altLang="en-US" sz="2800" dirty="0"/>
              <a:t>和</a:t>
            </a:r>
            <a:r>
              <a:rPr lang="en-US" altLang="zh-CN" sz="2800" dirty="0"/>
              <a:t>1</a:t>
            </a:r>
            <a:r>
              <a:rPr lang="zh-CN" altLang="en-US" sz="2800" dirty="0"/>
              <a:t>数码组合表达的数值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rgbClr val="CC3300"/>
                </a:solidFill>
              </a:rPr>
              <a:t>无符号数</a:t>
            </a:r>
            <a:r>
              <a:rPr lang="zh-CN" altLang="en-US" sz="2800" dirty="0"/>
              <a:t>：只表达</a:t>
            </a:r>
            <a:r>
              <a:rPr lang="en-US" altLang="zh-CN" sz="2800" dirty="0"/>
              <a:t>0</a:t>
            </a:r>
            <a:r>
              <a:rPr lang="zh-CN" altLang="en-US" sz="2800" dirty="0"/>
              <a:t>和正整数的定点整数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rgbClr val="CC3300"/>
                </a:solidFill>
              </a:rPr>
              <a:t>有符号数</a:t>
            </a:r>
            <a:r>
              <a:rPr lang="zh-CN" altLang="en-US" sz="2800" dirty="0"/>
              <a:t>：表达负整数、</a:t>
            </a:r>
            <a:r>
              <a:rPr lang="en-US" altLang="zh-CN" sz="2800" dirty="0"/>
              <a:t>0</a:t>
            </a:r>
            <a:r>
              <a:rPr lang="zh-CN" altLang="en-US" sz="2800" dirty="0"/>
              <a:t>和正整数的定点整数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符号位需要占用一个位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常用机器数的最高位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0</a:t>
            </a:r>
            <a:r>
              <a:rPr lang="zh-CN" altLang="en-US" sz="2400" dirty="0"/>
              <a:t>表示正数、</a:t>
            </a:r>
            <a:r>
              <a:rPr lang="en-US" altLang="zh-CN" sz="2400" dirty="0"/>
              <a:t>1</a:t>
            </a:r>
            <a:r>
              <a:rPr lang="zh-CN" altLang="en-US" sz="2400" dirty="0"/>
              <a:t>表示负数</a:t>
            </a:r>
            <a:endParaRPr lang="zh-CN" altLang="en-US" sz="2400" dirty="0"/>
          </a:p>
          <a:p>
            <a:pPr eaLnBrk="1" hangingPunct="1"/>
            <a:r>
              <a:rPr lang="zh-CN" altLang="en-US" sz="2800" dirty="0">
                <a:solidFill>
                  <a:srgbClr val="996633"/>
                </a:solidFill>
              </a:rPr>
              <a:t>定点数</a:t>
            </a:r>
            <a:r>
              <a:rPr lang="zh-CN" altLang="en-US" sz="2800" dirty="0"/>
              <a:t>：固定小数点的位置表达数值的机器数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定点整数：将小数点固定在机器数的最右侧表达的整数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定点小数：将小数点固定在机器数的最左侧表达的小数</a:t>
            </a:r>
            <a:endParaRPr lang="zh-CN" altLang="en-US" sz="2400" dirty="0"/>
          </a:p>
          <a:p>
            <a:pPr eaLnBrk="1" hangingPunct="1"/>
            <a:r>
              <a:rPr lang="zh-CN" altLang="en-US" sz="2800" dirty="0">
                <a:solidFill>
                  <a:srgbClr val="996633"/>
                </a:solidFill>
              </a:rPr>
              <a:t>浮点数</a:t>
            </a:r>
            <a:r>
              <a:rPr lang="zh-CN" altLang="en-US" sz="2800" dirty="0"/>
              <a:t>：小数点浮动表达的实数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966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补码（</a:t>
            </a:r>
            <a:r>
              <a:rPr lang="zh-CN" altLang="en-US" dirty="0">
                <a:solidFill>
                  <a:srgbClr val="FF0000"/>
                </a:solidFill>
              </a:rPr>
              <a:t>课后自学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7651" name="文本占位符 19661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有符号整数在计算机中默认采用补码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最高位表示符号：正数用</a:t>
            </a:r>
            <a:r>
              <a:rPr lang="en-US" altLang="zh-CN" sz="2400" dirty="0"/>
              <a:t>0</a:t>
            </a:r>
            <a:r>
              <a:rPr lang="zh-CN" altLang="en-US" sz="2400" dirty="0"/>
              <a:t>，负数用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正数补码：直接表示数值大小（同无符号数）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>
                <a:solidFill>
                  <a:srgbClr val="0000CC"/>
                </a:solidFill>
              </a:rPr>
              <a:t>负数补码：将对应正数补码取反加</a:t>
            </a:r>
            <a:r>
              <a:rPr lang="en-US" altLang="zh-CN" sz="2400" dirty="0">
                <a:solidFill>
                  <a:srgbClr val="0000CC"/>
                </a:solidFill>
              </a:rPr>
              <a:t>1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eaLnBrk="1" hangingPunct="1">
              <a:buNone/>
            </a:pPr>
            <a:r>
              <a:rPr lang="en-US" altLang="zh-CN" sz="2800" dirty="0"/>
              <a:t>	[105]</a:t>
            </a:r>
            <a:r>
              <a:rPr lang="zh-CN" altLang="en-US" sz="2800" baseline="-25000" dirty="0"/>
              <a:t>补码</a:t>
            </a:r>
            <a:r>
              <a:rPr lang="zh-CN" altLang="en-US" sz="2800" dirty="0"/>
              <a:t>＝</a:t>
            </a:r>
            <a:r>
              <a:rPr lang="en-US" altLang="zh-CN" sz="2800" dirty="0"/>
              <a:t>01101001B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	[-105]</a:t>
            </a:r>
            <a:r>
              <a:rPr lang="zh-CN" altLang="en-US" sz="2800" baseline="-25000" dirty="0"/>
              <a:t>补码</a:t>
            </a:r>
            <a:r>
              <a:rPr lang="zh-CN" altLang="en-US" sz="2800" dirty="0"/>
              <a:t>＝</a:t>
            </a:r>
            <a:r>
              <a:rPr lang="en-US" altLang="zh-CN" sz="2800" dirty="0"/>
              <a:t>[01101001B]</a:t>
            </a:r>
            <a:r>
              <a:rPr lang="zh-CN" altLang="en-US" sz="2800" baseline="-25000" dirty="0"/>
              <a:t>取反＋</a:t>
            </a:r>
            <a:r>
              <a:rPr lang="en-US" altLang="zh-CN" sz="2800" baseline="-25000" dirty="0"/>
              <a:t>1</a:t>
            </a:r>
            <a:endParaRPr lang="en-US" altLang="zh-CN" sz="2800" baseline="-25000" dirty="0"/>
          </a:p>
          <a:p>
            <a:pPr eaLnBrk="1" hangingPunct="1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＝</a:t>
            </a:r>
            <a:r>
              <a:rPr lang="en-US" altLang="zh-CN" sz="2800" dirty="0"/>
              <a:t>10010110B</a:t>
            </a:r>
            <a:r>
              <a:rPr lang="zh-CN" altLang="en-US" sz="2800" dirty="0"/>
              <a:t>＋</a:t>
            </a:r>
            <a:r>
              <a:rPr lang="en-US" altLang="zh-CN" sz="2800" dirty="0"/>
              <a:t>1</a:t>
            </a:r>
            <a:r>
              <a:rPr lang="zh-CN" altLang="en-US" sz="2800" dirty="0"/>
              <a:t>＝</a:t>
            </a:r>
            <a:r>
              <a:rPr lang="en-US" altLang="zh-CN" sz="2800" dirty="0"/>
              <a:t>10010111B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8</a:t>
            </a:r>
            <a:r>
              <a:rPr lang="zh-CN" altLang="en-US" sz="2800" dirty="0"/>
              <a:t>位二进制补码表示的数值范围：</a:t>
            </a:r>
            <a:r>
              <a:rPr lang="en-US" altLang="zh-CN" sz="2800" dirty="0"/>
              <a:t>-128</a:t>
            </a:r>
            <a:r>
              <a:rPr lang="zh-CN" altLang="en-US" sz="2800" dirty="0"/>
              <a:t>～</a:t>
            </a:r>
            <a:r>
              <a:rPr lang="en-US" altLang="zh-CN" sz="2800" dirty="0"/>
              <a:t>+127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16</a:t>
            </a:r>
            <a:r>
              <a:rPr lang="zh-CN" altLang="en-US" sz="2800" dirty="0"/>
              <a:t>位二进制补码表示的数值范围：</a:t>
            </a:r>
            <a:r>
              <a:rPr lang="en-US" altLang="zh-CN" sz="2800" dirty="0"/>
              <a:t>-2</a:t>
            </a:r>
            <a:r>
              <a:rPr lang="en-US" altLang="zh-CN" sz="2800" baseline="30000" dirty="0"/>
              <a:t>15</a:t>
            </a:r>
            <a:r>
              <a:rPr lang="zh-CN" altLang="en-US" sz="2800" dirty="0"/>
              <a:t>～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15</a:t>
            </a:r>
            <a:r>
              <a:rPr lang="en-US" altLang="zh-CN" sz="2800" dirty="0"/>
              <a:t>-1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32</a:t>
            </a:r>
            <a:r>
              <a:rPr lang="zh-CN" altLang="en-US" sz="2800" dirty="0"/>
              <a:t>位二进制补码表示的数值范围：</a:t>
            </a:r>
            <a:r>
              <a:rPr lang="en-US" altLang="zh-CN" sz="2800" dirty="0"/>
              <a:t>-2</a:t>
            </a:r>
            <a:r>
              <a:rPr lang="en-US" altLang="zh-CN" sz="2800" baseline="30000" dirty="0"/>
              <a:t>31</a:t>
            </a:r>
            <a:r>
              <a:rPr lang="zh-CN" altLang="en-US" sz="2800" dirty="0"/>
              <a:t>～</a:t>
            </a:r>
            <a:r>
              <a:rPr lang="en-US" altLang="zh-CN" sz="2800" dirty="0"/>
              <a:t>+2</a:t>
            </a:r>
            <a:r>
              <a:rPr lang="en-US" altLang="zh-CN" sz="2800" baseline="30000" dirty="0"/>
              <a:t>31</a:t>
            </a:r>
            <a:r>
              <a:rPr lang="en-US" altLang="zh-CN" sz="2800" dirty="0"/>
              <a:t>-1</a:t>
            </a:r>
            <a:endParaRPr lang="en-US" altLang="zh-CN" sz="2800" dirty="0"/>
          </a:p>
        </p:txBody>
      </p:sp>
      <p:sp>
        <p:nvSpPr>
          <p:cNvPr id="27652" name="爆炸形 1 196612"/>
          <p:cNvSpPr/>
          <p:nvPr/>
        </p:nvSpPr>
        <p:spPr>
          <a:xfrm>
            <a:off x="6011863" y="2852738"/>
            <a:ext cx="2952750" cy="1223962"/>
          </a:xfrm>
          <a:prstGeom prst="irregularSeal1">
            <a:avLst/>
          </a:prstGeom>
          <a:solidFill>
            <a:srgbClr val="DBDAB4"/>
          </a:solidFill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folHlink"/>
            </a:outerShdw>
          </a:effectLst>
        </p:spPr>
        <p:txBody>
          <a:bodyPr wrap="none"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为什么是补码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976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负数求补</a:t>
            </a:r>
            <a:r>
              <a:rPr lang="zh-CN" altLang="en-US" dirty="0">
                <a:sym typeface="+mn-ea"/>
              </a:rPr>
              <a:t>（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课后自学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28675" name="文本占位符 1976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>
                <a:solidFill>
                  <a:srgbClr val="0000CC"/>
                </a:solidFill>
              </a:rPr>
              <a:t>负数真值“取反加</a:t>
            </a:r>
            <a:r>
              <a:rPr lang="en-US" altLang="zh-CN" sz="3200" dirty="0">
                <a:solidFill>
                  <a:srgbClr val="0000CC"/>
                </a:solidFill>
              </a:rPr>
              <a:t>1”</a:t>
            </a:r>
            <a:r>
              <a:rPr lang="zh-CN" altLang="en-US" sz="3200" dirty="0">
                <a:solidFill>
                  <a:srgbClr val="0000CC"/>
                </a:solidFill>
              </a:rPr>
              <a:t>得机器数补码</a:t>
            </a:r>
            <a:endParaRPr lang="zh-CN" altLang="en-US" sz="3200" dirty="0">
              <a:solidFill>
                <a:srgbClr val="0000CC"/>
              </a:solidFill>
            </a:endParaRPr>
          </a:p>
          <a:p>
            <a:pPr eaLnBrk="1" hangingPunct="1"/>
            <a:r>
              <a:rPr lang="zh-CN" altLang="en-US" sz="3200" dirty="0">
                <a:solidFill>
                  <a:srgbClr val="0000CC"/>
                </a:solidFill>
              </a:rPr>
              <a:t>负数补码“取反加</a:t>
            </a:r>
            <a:r>
              <a:rPr lang="en-US" altLang="zh-CN" sz="3200" dirty="0">
                <a:solidFill>
                  <a:srgbClr val="0000CC"/>
                </a:solidFill>
              </a:rPr>
              <a:t>1”</a:t>
            </a:r>
            <a:r>
              <a:rPr lang="zh-CN" altLang="en-US" sz="3200" dirty="0">
                <a:solidFill>
                  <a:srgbClr val="0000CC"/>
                </a:solidFill>
              </a:rPr>
              <a:t>得到负数真值</a:t>
            </a:r>
            <a:endParaRPr lang="zh-CN" altLang="en-US" sz="3200" dirty="0">
              <a:solidFill>
                <a:srgbClr val="0000CC"/>
              </a:solidFill>
            </a:endParaRPr>
          </a:p>
          <a:p>
            <a:pPr lvl="1" eaLnBrk="1" hangingPunct="1">
              <a:buNone/>
            </a:pPr>
            <a:r>
              <a:rPr lang="zh-CN" altLang="en-US" sz="2800" dirty="0"/>
              <a:t>补码：</a:t>
            </a:r>
            <a:r>
              <a:rPr lang="en-US" altLang="zh-CN" sz="2800" dirty="0"/>
              <a:t>11100000B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zh-CN" altLang="en-US" sz="2800" dirty="0"/>
              <a:t>真值：</a:t>
            </a:r>
            <a:r>
              <a:rPr lang="en-US" altLang="zh-CN" sz="2800" dirty="0"/>
              <a:t>-([11100000]</a:t>
            </a:r>
            <a:r>
              <a:rPr lang="zh-CN" altLang="en-US" sz="2400" baseline="-25000" dirty="0"/>
              <a:t>求反＋</a:t>
            </a:r>
            <a:r>
              <a:rPr lang="en-US" altLang="zh-CN" sz="2400" baseline="-25000" dirty="0"/>
              <a:t>1</a:t>
            </a:r>
            <a:r>
              <a:rPr lang="en-US" altLang="zh-CN" sz="2800" dirty="0"/>
              <a:t>)</a:t>
            </a:r>
            <a:r>
              <a:rPr lang="zh-CN" altLang="en-US" sz="2800" dirty="0"/>
              <a:t>＝</a:t>
            </a:r>
            <a:r>
              <a:rPr lang="en-US" altLang="zh-CN" sz="2800" dirty="0"/>
              <a:t>-(00011111+1)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en-US" altLang="zh-CN" sz="2800" dirty="0"/>
              <a:t>	    </a:t>
            </a:r>
            <a:r>
              <a:rPr lang="zh-CN" altLang="en-US" sz="2800" dirty="0"/>
              <a:t>＝</a:t>
            </a:r>
            <a:r>
              <a:rPr lang="en-US" altLang="zh-CN" sz="2800" dirty="0"/>
              <a:t>-00100000</a:t>
            </a:r>
            <a:r>
              <a:rPr lang="zh-CN" altLang="en-US" sz="2800" dirty="0"/>
              <a:t>＝</a:t>
            </a:r>
            <a:r>
              <a:rPr lang="en-US" altLang="zh-CN" sz="2800" dirty="0"/>
              <a:t>-2</a:t>
            </a:r>
            <a:r>
              <a:rPr lang="en-US" altLang="zh-CN" sz="2800" baseline="30000" dirty="0"/>
              <a:t>5</a:t>
            </a:r>
            <a:r>
              <a:rPr lang="zh-CN" altLang="en-US" sz="2800" dirty="0"/>
              <a:t>＝</a:t>
            </a:r>
            <a:r>
              <a:rPr lang="en-US" altLang="zh-CN" sz="2800" dirty="0"/>
              <a:t>-32</a:t>
            </a:r>
            <a:endParaRPr lang="en-US" altLang="zh-CN" sz="2800" dirty="0"/>
          </a:p>
          <a:p>
            <a:pPr eaLnBrk="1" hangingPunct="1"/>
            <a:r>
              <a:rPr lang="zh-CN" altLang="en-US" sz="3200" dirty="0">
                <a:solidFill>
                  <a:srgbClr val="0000CC"/>
                </a:solidFill>
              </a:rPr>
              <a:t>负数求补运算，等效于用带借位的</a:t>
            </a:r>
            <a:r>
              <a:rPr lang="en-US" altLang="zh-CN" sz="3200" dirty="0">
                <a:solidFill>
                  <a:srgbClr val="0000CC"/>
                </a:solidFill>
              </a:rPr>
              <a:t>0</a:t>
            </a:r>
            <a:r>
              <a:rPr lang="zh-CN" altLang="en-US" sz="3200" dirty="0">
                <a:solidFill>
                  <a:srgbClr val="0000CC"/>
                </a:solidFill>
              </a:rPr>
              <a:t>作减法</a:t>
            </a:r>
            <a:endParaRPr lang="zh-CN" altLang="en-US" sz="3200" dirty="0">
              <a:solidFill>
                <a:srgbClr val="0000CC"/>
              </a:solidFill>
            </a:endParaRPr>
          </a:p>
          <a:p>
            <a:pPr lvl="1" eaLnBrk="1" hangingPunct="1">
              <a:buNone/>
            </a:pPr>
            <a:r>
              <a:rPr lang="zh-CN" altLang="en-US" sz="2800" dirty="0"/>
              <a:t>真值：</a:t>
            </a:r>
            <a:r>
              <a:rPr lang="en-US" altLang="zh-CN" sz="2800" dirty="0"/>
              <a:t>-8</a:t>
            </a:r>
            <a:r>
              <a:rPr lang="zh-CN" altLang="en-US" sz="2800" dirty="0"/>
              <a:t>，补码：</a:t>
            </a:r>
            <a:r>
              <a:rPr lang="en-US" altLang="zh-CN" sz="2800" dirty="0"/>
              <a:t>[-8]</a:t>
            </a:r>
            <a:r>
              <a:rPr lang="zh-CN" altLang="en-US" sz="2800" baseline="-25000" dirty="0"/>
              <a:t>补码</a:t>
            </a:r>
            <a:r>
              <a:rPr lang="zh-CN" altLang="en-US" sz="2800" dirty="0"/>
              <a:t>＝</a:t>
            </a:r>
            <a:r>
              <a:rPr lang="en-US" altLang="zh-CN" sz="2800" dirty="0"/>
              <a:t>00H-08H</a:t>
            </a:r>
            <a:r>
              <a:rPr lang="zh-CN" altLang="en-US" sz="2800" dirty="0"/>
              <a:t>＝</a:t>
            </a:r>
            <a:r>
              <a:rPr lang="en-US" altLang="zh-CN" sz="2800" dirty="0"/>
              <a:t>F8H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zh-CN" altLang="en-US" sz="2800" dirty="0"/>
              <a:t>补码：</a:t>
            </a:r>
            <a:r>
              <a:rPr lang="en-US" altLang="zh-CN" sz="2800" dirty="0"/>
              <a:t>11111000</a:t>
            </a:r>
            <a:r>
              <a:rPr lang="zh-CN" altLang="en-US" sz="2800" dirty="0"/>
              <a:t>，真值：</a:t>
            </a:r>
            <a:r>
              <a:rPr lang="en-US" altLang="zh-CN" sz="2800" dirty="0"/>
              <a:t>-(00H-F8H)</a:t>
            </a:r>
            <a:r>
              <a:rPr lang="zh-CN" altLang="en-US" sz="2800" dirty="0"/>
              <a:t>＝</a:t>
            </a:r>
            <a:r>
              <a:rPr lang="en-US" altLang="zh-CN" sz="2800" dirty="0"/>
              <a:t>-08H</a:t>
            </a:r>
            <a:r>
              <a:rPr lang="zh-CN" altLang="en-US" sz="2800" dirty="0"/>
              <a:t>＝</a:t>
            </a:r>
            <a:r>
              <a:rPr lang="en-US" altLang="zh-CN" sz="2800" dirty="0"/>
              <a:t>-8</a:t>
            </a:r>
            <a:endParaRPr lang="en-US" altLang="zh-CN" sz="2800" dirty="0"/>
          </a:p>
        </p:txBody>
      </p:sp>
      <p:sp>
        <p:nvSpPr>
          <p:cNvPr id="28676" name="圆角矩形 197636"/>
          <p:cNvSpPr/>
          <p:nvPr/>
        </p:nvSpPr>
        <p:spPr>
          <a:xfrm>
            <a:off x="2339975" y="5805488"/>
            <a:ext cx="5254625" cy="5032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rnd" cmpd="sng">
            <a:solidFill>
              <a:srgbClr val="660066"/>
            </a:solidFill>
            <a:prstDash val="sysDot"/>
            <a:headEnd type="none" w="med" len="med"/>
            <a:tailEnd type="none" w="med" len="med"/>
          </a:ln>
          <a:effectLst>
            <a:outerShdw dist="35921" dir="2699999" algn="ctr" rotWithShape="0">
              <a:schemeClr val="folHlink">
                <a:alpha val="50000"/>
              </a:schemeClr>
            </a:outerShdw>
          </a:effectLst>
        </p:spPr>
        <p:txBody>
          <a:bodyPr wrap="none"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用十六进制表达和运算，方便！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945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十六进制数的加减运算</a:t>
            </a:r>
            <a:r>
              <a:rPr lang="zh-CN" altLang="en-US" sz="2400" dirty="0">
                <a:sym typeface="+mn-ea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课后自学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29699" name="文本占位符 19456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二进制和十六进制数之间具有对应关系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整数从左向右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小数从右向左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每</a:t>
            </a:r>
            <a:r>
              <a:rPr lang="en-US" altLang="zh-CN" sz="2800" dirty="0"/>
              <a:t>4</a:t>
            </a:r>
            <a:r>
              <a:rPr lang="zh-CN" altLang="en-US" sz="2800" dirty="0"/>
              <a:t>个二进制位对应一个十六进制位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3200" dirty="0"/>
              <a:t>	</a:t>
            </a:r>
            <a:r>
              <a:rPr lang="en-US" altLang="zh-CN" sz="3200" dirty="0"/>
              <a:t>00111010B</a:t>
            </a:r>
            <a:r>
              <a:rPr lang="zh-CN" altLang="en-US" sz="3200" dirty="0"/>
              <a:t>＝</a:t>
            </a:r>
            <a:r>
              <a:rPr lang="en-US" altLang="zh-CN" sz="3200" dirty="0"/>
              <a:t>3AH</a:t>
            </a:r>
            <a:r>
              <a:rPr lang="zh-CN" altLang="en-US" sz="3200" dirty="0"/>
              <a:t>，</a:t>
            </a:r>
            <a:r>
              <a:rPr lang="en-US" altLang="zh-CN" sz="3200" dirty="0"/>
              <a:t>F2H</a:t>
            </a:r>
            <a:r>
              <a:rPr lang="zh-CN" altLang="en-US" sz="3200" dirty="0"/>
              <a:t>＝</a:t>
            </a:r>
            <a:r>
              <a:rPr lang="en-US" altLang="zh-CN" sz="3200" dirty="0"/>
              <a:t>11110010B</a:t>
            </a:r>
            <a:endParaRPr lang="en-US" altLang="zh-CN" sz="3200" dirty="0"/>
          </a:p>
          <a:p>
            <a:pPr eaLnBrk="1" hangingPunct="1"/>
            <a:r>
              <a:rPr lang="zh-CN" altLang="en-US" sz="3200" dirty="0"/>
              <a:t>十六进制数的加减运算类似十进制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逢</a:t>
            </a:r>
            <a:r>
              <a:rPr lang="en-US" altLang="zh-CN" sz="2800" dirty="0"/>
              <a:t>16</a:t>
            </a:r>
            <a:r>
              <a:rPr lang="zh-CN" altLang="en-US" sz="2800" dirty="0"/>
              <a:t>进位</a:t>
            </a:r>
            <a:r>
              <a:rPr lang="en-US" altLang="zh-CN" sz="2800" dirty="0"/>
              <a:t>1</a:t>
            </a:r>
            <a:r>
              <a:rPr lang="zh-CN" altLang="en-US" sz="2800" dirty="0"/>
              <a:t>，借</a:t>
            </a:r>
            <a:r>
              <a:rPr lang="en-US" altLang="zh-CN" sz="2800" dirty="0"/>
              <a:t>1</a:t>
            </a:r>
            <a:r>
              <a:rPr lang="zh-CN" altLang="en-US" sz="2800" dirty="0"/>
              <a:t>当</a:t>
            </a:r>
            <a:r>
              <a:rPr lang="zh-CN" altLang="pt-BR" sz="2800" dirty="0"/>
              <a:t>16</a:t>
            </a:r>
            <a:endParaRPr lang="zh-CN" altLang="pt-BR" sz="2800" dirty="0"/>
          </a:p>
          <a:p>
            <a:pPr algn="ctr" eaLnBrk="1" hangingPunct="1">
              <a:buNone/>
            </a:pPr>
            <a:r>
              <a:rPr lang="pt-BR" altLang="zh-CN" sz="3200" dirty="0"/>
              <a:t>	</a:t>
            </a:r>
            <a:r>
              <a:rPr lang="pt-BR" altLang="zh-CN" sz="3200" dirty="0">
                <a:solidFill>
                  <a:srgbClr val="0000CC"/>
                </a:solidFill>
              </a:rPr>
              <a:t>23D9H</a:t>
            </a:r>
            <a:r>
              <a:rPr lang="zh-CN" altLang="pt-BR" sz="3200" dirty="0">
                <a:solidFill>
                  <a:srgbClr val="0000CC"/>
                </a:solidFill>
              </a:rPr>
              <a:t>＋</a:t>
            </a:r>
            <a:r>
              <a:rPr lang="pt-BR" altLang="zh-CN" sz="3200" dirty="0">
                <a:solidFill>
                  <a:srgbClr val="0000CC"/>
                </a:solidFill>
              </a:rPr>
              <a:t>94BEH</a:t>
            </a:r>
            <a:r>
              <a:rPr lang="zh-CN" altLang="pt-BR" sz="3200" dirty="0">
                <a:solidFill>
                  <a:srgbClr val="0000CC"/>
                </a:solidFill>
              </a:rPr>
              <a:t>＝</a:t>
            </a:r>
            <a:r>
              <a:rPr lang="pt-BR" altLang="zh-CN" sz="3200" dirty="0">
                <a:solidFill>
                  <a:srgbClr val="0000CC"/>
                </a:solidFill>
              </a:rPr>
              <a:t>B897H</a:t>
            </a:r>
            <a:endParaRPr lang="pt-BR" altLang="zh-CN" sz="3200" dirty="0">
              <a:solidFill>
                <a:srgbClr val="0000CC"/>
              </a:solidFill>
            </a:endParaRPr>
          </a:p>
          <a:p>
            <a:pPr algn="ctr" eaLnBrk="1" hangingPunct="1">
              <a:buNone/>
            </a:pPr>
            <a:r>
              <a:rPr lang="pt-BR" altLang="zh-CN" sz="3200" dirty="0">
                <a:solidFill>
                  <a:srgbClr val="0000CC"/>
                </a:solidFill>
              </a:rPr>
              <a:t>	A59FH</a:t>
            </a:r>
            <a:r>
              <a:rPr lang="zh-CN" altLang="pt-BR" sz="3200" dirty="0">
                <a:solidFill>
                  <a:srgbClr val="0000CC"/>
                </a:solidFill>
              </a:rPr>
              <a:t>－</a:t>
            </a:r>
            <a:r>
              <a:rPr lang="pt-BR" altLang="zh-CN" sz="3200" dirty="0">
                <a:solidFill>
                  <a:srgbClr val="0000CC"/>
                </a:solidFill>
              </a:rPr>
              <a:t>62B8H</a:t>
            </a:r>
            <a:r>
              <a:rPr lang="zh-CN" altLang="pt-BR" sz="3200" dirty="0">
                <a:solidFill>
                  <a:srgbClr val="0000CC"/>
                </a:solidFill>
              </a:rPr>
              <a:t>＝</a:t>
            </a:r>
            <a:r>
              <a:rPr lang="pt-BR" altLang="zh-CN" sz="3200" dirty="0">
                <a:solidFill>
                  <a:srgbClr val="0000CC"/>
                </a:solidFill>
              </a:rPr>
              <a:t>42E7H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71696"/>
          <p:cNvSpPr>
            <a:spLocks noGrp="1"/>
          </p:cNvSpPr>
          <p:nvPr>
            <p:ph type="title"/>
          </p:nvPr>
        </p:nvSpPr>
        <p:spPr>
          <a:xfrm>
            <a:off x="2051050" y="44450"/>
            <a:ext cx="6019800" cy="5445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1.3  Intel 80x86</a:t>
            </a:r>
            <a:r>
              <a:rPr lang="zh-CN" altLang="en-US" dirty="0"/>
              <a:t>系列微处理器</a:t>
            </a:r>
            <a:endParaRPr lang="zh-CN" altLang="en-US" dirty="0"/>
          </a:p>
        </p:txBody>
      </p:sp>
      <p:grpSp>
        <p:nvGrpSpPr>
          <p:cNvPr id="30723" name="组合 71700"/>
          <p:cNvGrpSpPr/>
          <p:nvPr/>
        </p:nvGrpSpPr>
        <p:grpSpPr>
          <a:xfrm>
            <a:off x="755650" y="1268413"/>
            <a:ext cx="1758950" cy="1250950"/>
            <a:chOff x="262" y="754"/>
            <a:chExt cx="1108" cy="788"/>
          </a:xfrm>
        </p:grpSpPr>
        <p:pic>
          <p:nvPicPr>
            <p:cNvPr id="30743" name="图片 71701" descr="8088CPU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2" y="754"/>
              <a:ext cx="960" cy="71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4" name="文本框 71702"/>
            <p:cNvSpPr txBox="1"/>
            <p:nvPr/>
          </p:nvSpPr>
          <p:spPr>
            <a:xfrm>
              <a:off x="694" y="1330"/>
              <a:ext cx="67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0" dirty="0"/>
                <a:t>Intel 8086</a:t>
              </a:r>
              <a:endParaRPr lang="en-US" altLang="zh-CN" sz="1600" b="0" dirty="0"/>
            </a:p>
          </p:txBody>
        </p:sp>
      </p:grpSp>
      <p:pic>
        <p:nvPicPr>
          <p:cNvPr id="30724" name="图片 71703" descr="core2quad"/>
          <p:cNvPicPr>
            <a:picLocks noChangeAspect="1"/>
          </p:cNvPicPr>
          <p:nvPr/>
        </p:nvPicPr>
        <p:blipFill>
          <a:blip r:embed="rId2"/>
          <a:srcRect r="22697" b="2000"/>
          <a:stretch>
            <a:fillRect/>
          </a:stretch>
        </p:blipFill>
        <p:spPr>
          <a:xfrm>
            <a:off x="6084888" y="3789363"/>
            <a:ext cx="2592387" cy="2298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5" name="文本框 71704"/>
          <p:cNvSpPr txBox="1"/>
          <p:nvPr/>
        </p:nvSpPr>
        <p:spPr>
          <a:xfrm>
            <a:off x="1692275" y="4581525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80386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6" name="文本框 71705"/>
          <p:cNvSpPr txBox="1"/>
          <p:nvPr/>
        </p:nvSpPr>
        <p:spPr>
          <a:xfrm>
            <a:off x="2390775" y="4221163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80486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文本框 71706"/>
          <p:cNvSpPr txBox="1"/>
          <p:nvPr/>
        </p:nvSpPr>
        <p:spPr>
          <a:xfrm>
            <a:off x="3178175" y="3863975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奔腾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文本框 71707"/>
          <p:cNvSpPr txBox="1"/>
          <p:nvPr/>
        </p:nvSpPr>
        <p:spPr>
          <a:xfrm>
            <a:off x="3924300" y="34290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奔腾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II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9" name="文本框 71708"/>
          <p:cNvSpPr txBox="1"/>
          <p:nvPr/>
        </p:nvSpPr>
        <p:spPr>
          <a:xfrm>
            <a:off x="5487988" y="25654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奔腾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" name="文本框 71709"/>
          <p:cNvSpPr txBox="1"/>
          <p:nvPr/>
        </p:nvSpPr>
        <p:spPr>
          <a:xfrm>
            <a:off x="755650" y="5013325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80286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1" name="文本框 71710"/>
          <p:cNvSpPr txBox="1"/>
          <p:nvPr/>
        </p:nvSpPr>
        <p:spPr>
          <a:xfrm>
            <a:off x="395288" y="5456238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8086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2" name="文本框 71711"/>
          <p:cNvSpPr txBox="1"/>
          <p:nvPr/>
        </p:nvSpPr>
        <p:spPr>
          <a:xfrm>
            <a:off x="4740275" y="2981325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奔腾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III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3" name="直接连接符 71712"/>
          <p:cNvSpPr/>
          <p:nvPr/>
        </p:nvSpPr>
        <p:spPr>
          <a:xfrm flipV="1">
            <a:off x="901700" y="2138363"/>
            <a:ext cx="7924800" cy="4097337"/>
          </a:xfrm>
          <a:prstGeom prst="line">
            <a:avLst/>
          </a:prstGeom>
          <a:ln w="76200" cap="flat" cmpd="sng">
            <a:pattFill prst="pct50">
              <a:fgClr>
                <a:srgbClr val="0000FF"/>
              </a:fgClr>
              <a:bgClr>
                <a:srgbClr val="FFFFFF"/>
              </a:bgClr>
            </a:pattFill>
            <a:prstDash val="solid"/>
            <a:headEnd type="none" w="med" len="med"/>
            <a:tailEnd type="triangle" w="med" len="med"/>
          </a:ln>
          <a:effectLst>
            <a:outerShdw dist="107763" dir="2699999" algn="ctr" rotWithShape="0">
              <a:srgbClr val="C0C0C0"/>
            </a:outerShdw>
          </a:effectLst>
        </p:spPr>
      </p:sp>
      <p:sp>
        <p:nvSpPr>
          <p:cNvPr id="30734" name="文本框 71713"/>
          <p:cNvSpPr txBox="1"/>
          <p:nvPr/>
        </p:nvSpPr>
        <p:spPr>
          <a:xfrm>
            <a:off x="6659563" y="1412875"/>
            <a:ext cx="24574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酷睿多核系列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5" name="文本框 71714"/>
          <p:cNvSpPr txBox="1"/>
          <p:nvPr/>
        </p:nvSpPr>
        <p:spPr>
          <a:xfrm>
            <a:off x="395288" y="6149975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</a:rPr>
              <a:t>4004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6" name="右大括号 71715"/>
          <p:cNvSpPr/>
          <p:nvPr/>
        </p:nvSpPr>
        <p:spPr>
          <a:xfrm rot="-7068182">
            <a:off x="3749675" y="1100138"/>
            <a:ext cx="411163" cy="4537075"/>
          </a:xfrm>
          <a:prstGeom prst="rightBrace">
            <a:avLst>
              <a:gd name="adj1" fmla="val 91802"/>
              <a:gd name="adj2" fmla="val 48565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/>
          </a:p>
        </p:txBody>
      </p:sp>
      <p:sp>
        <p:nvSpPr>
          <p:cNvPr id="30737" name="文本框 71716"/>
          <p:cNvSpPr txBox="1"/>
          <p:nvPr/>
        </p:nvSpPr>
        <p:spPr>
          <a:xfrm>
            <a:off x="2287588" y="2720975"/>
            <a:ext cx="2162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IA-32</a:t>
            </a:r>
            <a:r>
              <a:rPr lang="zh-CN" altLang="en-US" sz="2800" dirty="0">
                <a:latin typeface="Times New Roman" panose="02020603050405020304" pitchFamily="18" charset="0"/>
              </a:rPr>
              <a:t>处理器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0738" name="文本框 71717"/>
          <p:cNvSpPr txBox="1"/>
          <p:nvPr/>
        </p:nvSpPr>
        <p:spPr>
          <a:xfrm>
            <a:off x="2222500" y="5940425"/>
            <a:ext cx="2924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16</a:t>
            </a:r>
            <a:r>
              <a:rPr lang="zh-CN" altLang="en-US" sz="2800" dirty="0">
                <a:latin typeface="Times New Roman" panose="02020603050405020304" pitchFamily="18" charset="0"/>
              </a:rPr>
              <a:t>位</a:t>
            </a:r>
            <a:r>
              <a:rPr lang="en-US" altLang="zh-CN" sz="2800" dirty="0">
                <a:latin typeface="Times New Roman" panose="02020603050405020304" pitchFamily="18" charset="0"/>
              </a:rPr>
              <a:t>80x86</a:t>
            </a:r>
            <a:r>
              <a:rPr lang="zh-CN" altLang="en-US" sz="2800" dirty="0">
                <a:latin typeface="Times New Roman" panose="02020603050405020304" pitchFamily="18" charset="0"/>
              </a:rPr>
              <a:t>处理器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0739" name="右大括号 71718"/>
          <p:cNvSpPr/>
          <p:nvPr/>
        </p:nvSpPr>
        <p:spPr>
          <a:xfrm rot="-7163532" flipH="1">
            <a:off x="1830388" y="5545138"/>
            <a:ext cx="263525" cy="1036637"/>
          </a:xfrm>
          <a:prstGeom prst="rightBrace">
            <a:avLst>
              <a:gd name="adj1" fmla="val 46913"/>
              <a:gd name="adj2" fmla="val 50009"/>
            </a:avLst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/>
          </a:p>
        </p:txBody>
      </p:sp>
      <p:sp>
        <p:nvSpPr>
          <p:cNvPr id="30740" name="文本框 71719"/>
          <p:cNvSpPr txBox="1"/>
          <p:nvPr/>
        </p:nvSpPr>
        <p:spPr>
          <a:xfrm>
            <a:off x="6223000" y="1878013"/>
            <a:ext cx="24447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奔腾多核系列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1" name="文本框 71720"/>
          <p:cNvSpPr txBox="1"/>
          <p:nvPr/>
        </p:nvSpPr>
        <p:spPr>
          <a:xfrm>
            <a:off x="3684588" y="1412875"/>
            <a:ext cx="24717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Intel 64</a:t>
            </a:r>
            <a:r>
              <a:rPr lang="zh-CN" altLang="en-US" sz="2800" dirty="0">
                <a:latin typeface="Times New Roman" panose="02020603050405020304" pitchFamily="18" charset="0"/>
              </a:rPr>
              <a:t>处理器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0742" name="右大括号 71721"/>
          <p:cNvSpPr/>
          <p:nvPr/>
        </p:nvSpPr>
        <p:spPr>
          <a:xfrm rot="-8625901">
            <a:off x="6156325" y="1412875"/>
            <a:ext cx="325438" cy="796925"/>
          </a:xfrm>
          <a:prstGeom prst="rightBrace">
            <a:avLst>
              <a:gd name="adj1" fmla="val 20372"/>
              <a:gd name="adj2" fmla="val 48565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/>
          </a:p>
        </p:txBody>
      </p:sp>
    </p:spTree>
  </p:cSld>
  <p:clrMapOvr>
    <a:masterClrMapping/>
  </p:clrMapOvr>
  <p:transition>
    <p:cover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8329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1.4  PC</a:t>
            </a:r>
            <a:r>
              <a:rPr lang="zh-CN" altLang="en-US" dirty="0"/>
              <a:t>微型计算机</a:t>
            </a:r>
            <a:endParaRPr lang="zh-CN" altLang="en-US" dirty="0"/>
          </a:p>
        </p:txBody>
      </p:sp>
      <p:sp>
        <p:nvSpPr>
          <p:cNvPr id="31747" name="文本占位符 183298"/>
          <p:cNvSpPr>
            <a:spLocks noGrp="1"/>
          </p:cNvSpPr>
          <p:nvPr>
            <p:ph idx="1"/>
          </p:nvPr>
        </p:nvSpPr>
        <p:spPr>
          <a:xfrm>
            <a:off x="395288" y="981075"/>
            <a:ext cx="8178800" cy="5472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本课程采用</a:t>
            </a:r>
            <a:r>
              <a:rPr lang="en-US" altLang="zh-CN" sz="3200" dirty="0"/>
              <a:t>16</a:t>
            </a:r>
            <a:r>
              <a:rPr lang="zh-CN" altLang="en-US" sz="3200" dirty="0"/>
              <a:t>位个人计算机</a:t>
            </a:r>
            <a:endParaRPr lang="zh-CN" altLang="en-US" sz="3200" dirty="0"/>
          </a:p>
          <a:p>
            <a:pPr eaLnBrk="1" hangingPunct="1"/>
            <a:r>
              <a:rPr lang="zh-CN" altLang="zh-CN" sz="3200" dirty="0"/>
              <a:t>16</a:t>
            </a:r>
            <a:r>
              <a:rPr lang="zh-CN" altLang="en-US" sz="3200" dirty="0"/>
              <a:t>位</a:t>
            </a:r>
            <a:r>
              <a:rPr lang="en-US" altLang="zh-CN" sz="3200" dirty="0"/>
              <a:t>PC</a:t>
            </a:r>
            <a:r>
              <a:rPr lang="zh-CN" altLang="en-US" sz="3200" dirty="0"/>
              <a:t>机</a:t>
            </a:r>
            <a:endParaRPr lang="zh-CN" altLang="en-US" sz="3200" dirty="0"/>
          </a:p>
          <a:p>
            <a:pPr lvl="1" eaLnBrk="1" hangingPunct="1"/>
            <a:r>
              <a:rPr lang="en-US" altLang="zh-CN" sz="2800" dirty="0"/>
              <a:t>8088 CPU</a:t>
            </a:r>
            <a:r>
              <a:rPr lang="zh-CN" altLang="en-US" sz="2800" dirty="0"/>
              <a:t>的</a:t>
            </a:r>
            <a:r>
              <a:rPr lang="en-US" altLang="zh-CN" sz="2800" dirty="0"/>
              <a:t>IBM PC</a:t>
            </a:r>
            <a:r>
              <a:rPr lang="zh-CN" altLang="en-US" sz="2800" dirty="0"/>
              <a:t>和</a:t>
            </a:r>
            <a:r>
              <a:rPr lang="en-US" altLang="zh-CN" sz="2800" dirty="0"/>
              <a:t>IBM PC/XT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80286 CPU</a:t>
            </a:r>
            <a:r>
              <a:rPr lang="zh-CN" altLang="en-US" sz="2800" dirty="0"/>
              <a:t>的</a:t>
            </a:r>
            <a:r>
              <a:rPr lang="en-US" altLang="zh-CN" sz="2800" dirty="0"/>
              <a:t>IBM PC/AT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16</a:t>
            </a:r>
            <a:r>
              <a:rPr lang="zh-CN" altLang="en-US" sz="2800" dirty="0"/>
              <a:t>位</a:t>
            </a:r>
            <a:r>
              <a:rPr lang="en-US" altLang="zh-CN" sz="2800" dirty="0"/>
              <a:t>80x86 CPU</a:t>
            </a:r>
            <a:r>
              <a:rPr lang="zh-CN" altLang="en-US" sz="2800" dirty="0"/>
              <a:t>的</a:t>
            </a:r>
            <a:r>
              <a:rPr lang="en-US" altLang="zh-CN" sz="2800" dirty="0"/>
              <a:t>PC</a:t>
            </a:r>
            <a:r>
              <a:rPr lang="zh-CN" altLang="en-US" sz="2800" dirty="0"/>
              <a:t>兼容机</a:t>
            </a:r>
            <a:endParaRPr lang="zh-CN" altLang="en-US" sz="2800" dirty="0"/>
          </a:p>
          <a:p>
            <a:pPr eaLnBrk="1" hangingPunct="1"/>
            <a:r>
              <a:rPr lang="en-US" altLang="zh-CN" sz="3200" dirty="0"/>
              <a:t>32</a:t>
            </a:r>
            <a:r>
              <a:rPr lang="zh-CN" altLang="en-US" sz="3200" dirty="0"/>
              <a:t>位</a:t>
            </a:r>
            <a:r>
              <a:rPr lang="en-US" altLang="zh-CN" sz="3200" dirty="0"/>
              <a:t>PC</a:t>
            </a:r>
            <a:r>
              <a:rPr lang="zh-CN" altLang="en-US" sz="3200" dirty="0"/>
              <a:t>机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采用</a:t>
            </a:r>
            <a:r>
              <a:rPr lang="en-US" altLang="zh-CN" sz="2800" dirty="0"/>
              <a:t>32</a:t>
            </a:r>
            <a:r>
              <a:rPr lang="zh-CN" altLang="en-US" sz="2800" dirty="0"/>
              <a:t>位</a:t>
            </a:r>
            <a:r>
              <a:rPr lang="en-US" altLang="zh-CN" sz="2800" dirty="0"/>
              <a:t>80x86 CPU</a:t>
            </a:r>
            <a:r>
              <a:rPr lang="zh-CN" altLang="en-US" sz="2800" dirty="0"/>
              <a:t>而形成的微机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基本结构仍然源于</a:t>
            </a:r>
            <a:r>
              <a:rPr lang="en-US" altLang="zh-CN" sz="2800" dirty="0"/>
              <a:t>PC/AT</a:t>
            </a:r>
            <a:r>
              <a:rPr lang="zh-CN" altLang="en-US" sz="2800" dirty="0"/>
              <a:t>机</a:t>
            </a:r>
            <a:endParaRPr lang="zh-CN" altLang="en-US" sz="3200" dirty="0"/>
          </a:p>
        </p:txBody>
      </p:sp>
      <p:pic>
        <p:nvPicPr>
          <p:cNvPr id="31748" name="图片 183299" descr="IBM PC-AT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938" y="1773238"/>
            <a:ext cx="1285875" cy="1065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8329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1.4  PC</a:t>
            </a:r>
            <a:r>
              <a:rPr lang="zh-CN" altLang="en-US" dirty="0"/>
              <a:t>微型计算机</a:t>
            </a:r>
            <a:endParaRPr lang="zh-CN" altLang="en-US" dirty="0"/>
          </a:p>
        </p:txBody>
      </p:sp>
      <p:sp>
        <p:nvSpPr>
          <p:cNvPr id="31747" name="文本占位符 183298"/>
          <p:cNvSpPr>
            <a:spLocks noGrp="1"/>
          </p:cNvSpPr>
          <p:nvPr>
            <p:ph idx="1"/>
          </p:nvPr>
        </p:nvSpPr>
        <p:spPr>
          <a:xfrm>
            <a:off x="395288" y="981075"/>
            <a:ext cx="8178800" cy="5472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200" dirty="0"/>
              <a:t>64</a:t>
            </a:r>
            <a:r>
              <a:rPr lang="zh-CN" altLang="en-US" sz="3200" dirty="0"/>
              <a:t>位</a:t>
            </a:r>
            <a:r>
              <a:rPr lang="en-US" altLang="zh-CN" sz="3200" dirty="0"/>
              <a:t>PC</a:t>
            </a:r>
            <a:r>
              <a:rPr lang="zh-CN" altLang="en-US" sz="3200" dirty="0"/>
              <a:t>机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采用</a:t>
            </a:r>
            <a:r>
              <a:rPr lang="en-US" altLang="zh-CN" sz="2800" dirty="0"/>
              <a:t>64</a:t>
            </a:r>
            <a:r>
              <a:rPr lang="zh-CN" altLang="en-US" sz="2800" dirty="0"/>
              <a:t>位</a:t>
            </a:r>
            <a:r>
              <a:rPr lang="en-US" altLang="zh-CN" sz="2800" dirty="0"/>
              <a:t>x64 CPU</a:t>
            </a:r>
            <a:r>
              <a:rPr lang="zh-CN" altLang="en-US" sz="2800" dirty="0"/>
              <a:t>而形成的微机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基本结构同样源于</a:t>
            </a:r>
            <a:r>
              <a:rPr lang="en-US" altLang="zh-CN" sz="2800" dirty="0"/>
              <a:t>PC/AT</a:t>
            </a:r>
            <a:r>
              <a:rPr lang="zh-CN" altLang="en-US" sz="2800" dirty="0"/>
              <a:t>机</a:t>
            </a:r>
            <a:endParaRPr lang="zh-CN" altLang="en-US" sz="2800" dirty="0"/>
          </a:p>
          <a:p>
            <a:pPr eaLnBrk="1" hangingPunct="1"/>
            <a:r>
              <a:rPr lang="zh-CN" altLang="en-US" sz="3200" dirty="0"/>
              <a:t>人们日常谈论的</a:t>
            </a:r>
            <a:r>
              <a:rPr lang="en-US" altLang="zh-CN" sz="3200" dirty="0"/>
              <a:t>PC</a:t>
            </a:r>
            <a:r>
              <a:rPr lang="zh-CN" altLang="en-US" sz="3200" dirty="0"/>
              <a:t>机或微机是上述微型计算机系统的统称</a:t>
            </a:r>
            <a:endParaRPr lang="zh-CN" altLang="en-US" sz="3200" dirty="0"/>
          </a:p>
        </p:txBody>
      </p:sp>
      <p:pic>
        <p:nvPicPr>
          <p:cNvPr id="31748" name="图片 183299" descr="IBM PC-AT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388" y="1340168"/>
            <a:ext cx="1285875" cy="1065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8329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1.4  PC</a:t>
            </a:r>
            <a:r>
              <a:rPr lang="zh-CN" altLang="en-US" dirty="0"/>
              <a:t>微型计算机</a:t>
            </a:r>
            <a:endParaRPr lang="zh-CN" altLang="en-US" dirty="0"/>
          </a:p>
        </p:txBody>
      </p:sp>
      <p:sp>
        <p:nvSpPr>
          <p:cNvPr id="31747" name="文本占位符 183298"/>
          <p:cNvSpPr>
            <a:spLocks noGrp="1"/>
          </p:cNvSpPr>
          <p:nvPr>
            <p:ph idx="1"/>
          </p:nvPr>
        </p:nvSpPr>
        <p:spPr>
          <a:xfrm>
            <a:off x="395288" y="981075"/>
            <a:ext cx="8178800" cy="5472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200" dirty="0"/>
              <a:t>64</a:t>
            </a:r>
            <a:r>
              <a:rPr lang="zh-CN" altLang="en-US" sz="3200" dirty="0"/>
              <a:t>位处理器</a:t>
            </a:r>
            <a:endParaRPr lang="zh-CN" altLang="en-US" sz="3200" dirty="0"/>
          </a:p>
        </p:txBody>
      </p:sp>
      <p:pic>
        <p:nvPicPr>
          <p:cNvPr id="31748" name="图片 183299" descr="IBM PC-AT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938" y="1773238"/>
            <a:ext cx="1285875" cy="1065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8085" y="1556385"/>
            <a:ext cx="5931535" cy="4671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1884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主存空间的分配</a:t>
            </a:r>
            <a:endParaRPr lang="zh-CN" altLang="en-US" dirty="0"/>
          </a:p>
        </p:txBody>
      </p:sp>
      <p:pic>
        <p:nvPicPr>
          <p:cNvPr id="32771" name="图片 188419" descr="wjyy07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812800"/>
            <a:ext cx="7559675" cy="5856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标题 5735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微机的软件</a:t>
            </a:r>
            <a:endParaRPr lang="zh-CN" altLang="en-US" dirty="0"/>
          </a:p>
        </p:txBody>
      </p:sp>
      <p:sp>
        <p:nvSpPr>
          <p:cNvPr id="34819" name="文本占位符 57352"/>
          <p:cNvSpPr>
            <a:spLocks noGrp="1"/>
          </p:cNvSpPr>
          <p:nvPr>
            <p:ph idx="1"/>
          </p:nvPr>
        </p:nvSpPr>
        <p:spPr>
          <a:xfrm>
            <a:off x="323850" y="1628775"/>
            <a:ext cx="8353425" cy="42481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系统软件：</a:t>
            </a:r>
            <a:r>
              <a:rPr lang="en-US" altLang="zh-CN" dirty="0"/>
              <a:t>DOSBox</a:t>
            </a:r>
            <a:r>
              <a:rPr lang="zh-CN" altLang="en-US" dirty="0"/>
              <a:t>虚拟环境</a:t>
            </a:r>
            <a:endParaRPr lang="zh-CN" altLang="en-US" dirty="0"/>
          </a:p>
          <a:p>
            <a:pPr eaLnBrk="1" hangingPunct="1"/>
            <a:r>
              <a:rPr lang="zh-CN" altLang="en-US" dirty="0"/>
              <a:t>应用软件：开发汇编语言程序涉及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文本编辑器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汇编程序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连接程序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调试程序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集成化开发环境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5837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文本编辑器（</a:t>
            </a:r>
            <a:r>
              <a:rPr lang="en-US" altLang="zh-CN" dirty="0"/>
              <a:t>Editor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5843" name="文本占位符 5837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文本编辑器用于编辑无任何格式的文档</a:t>
            </a:r>
            <a:endParaRPr lang="zh-CN" altLang="en-US" dirty="0"/>
          </a:p>
          <a:p>
            <a:pPr eaLnBrk="1" hangingPunct="1"/>
            <a:r>
              <a:rPr lang="zh-CN" altLang="en-US" dirty="0"/>
              <a:t>程序设计要采用文本编辑器编写源程序</a:t>
            </a:r>
            <a:endParaRPr lang="zh-CN" altLang="en-US" dirty="0"/>
          </a:p>
          <a:p>
            <a:pPr eaLnBrk="1" hangingPunct="1"/>
            <a:r>
              <a:rPr lang="zh-CN" altLang="en-US" dirty="0"/>
              <a:t>常见的文本编辑软件有很多</a:t>
            </a:r>
            <a:endParaRPr lang="en-US" altLang="zh-CN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5939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汇编程序（</a:t>
            </a:r>
            <a:r>
              <a:rPr lang="en-US" altLang="zh-CN" dirty="0"/>
              <a:t>Assembler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6867" name="文本占位符 5939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汇编程序将汇编语言源程序翻译（称为“汇编”）成机器代码目标模块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本课程采用微软的</a:t>
            </a:r>
            <a:r>
              <a:rPr lang="en-US" altLang="zh-CN" sz="3200" dirty="0"/>
              <a:t>MASM 6.11</a:t>
            </a:r>
            <a:endParaRPr lang="en-US" altLang="zh-CN" sz="3200" dirty="0"/>
          </a:p>
          <a:p>
            <a:pPr lvl="1" eaLnBrk="1" hangingPunct="1"/>
            <a:r>
              <a:rPr lang="en-US" altLang="zh-CN" sz="2800" dirty="0"/>
              <a:t>MASM</a:t>
            </a:r>
            <a:r>
              <a:rPr lang="zh-CN" altLang="en-US" sz="2800" dirty="0"/>
              <a:t>的最后一个独立版本</a:t>
            </a:r>
            <a:r>
              <a:rPr lang="en-US" altLang="zh-CN" sz="2800" dirty="0"/>
              <a:t>MASM 6.11</a:t>
            </a:r>
            <a:endParaRPr lang="en-US" altLang="zh-CN" sz="2400" dirty="0"/>
          </a:p>
          <a:p>
            <a:pPr lvl="1" eaLnBrk="1" hangingPunct="1"/>
            <a:r>
              <a:rPr lang="en-US" altLang="zh-CN" sz="2800" dirty="0"/>
              <a:t>Visual C++</a:t>
            </a:r>
            <a:r>
              <a:rPr lang="zh-CN" altLang="en-US" sz="2800" dirty="0"/>
              <a:t>中有</a:t>
            </a:r>
            <a:r>
              <a:rPr lang="en-US" altLang="zh-CN" sz="2800" dirty="0"/>
              <a:t>MASM 6.15</a:t>
            </a:r>
            <a:r>
              <a:rPr lang="zh-CN" altLang="en-US" sz="2800" dirty="0"/>
              <a:t>（支持</a:t>
            </a:r>
            <a:r>
              <a:rPr lang="en-US" altLang="zh-CN" sz="2800" dirty="0"/>
              <a:t>SSE2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/>
              <a:t>Visual C++.NET 2003</a:t>
            </a:r>
            <a:r>
              <a:rPr lang="zh-CN" altLang="en-US" sz="2800" dirty="0"/>
              <a:t>有</a:t>
            </a:r>
            <a:r>
              <a:rPr lang="en-US" altLang="zh-CN" sz="2800" dirty="0"/>
              <a:t>MASM 7.10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Visual C++.NET 2005</a:t>
            </a:r>
            <a:r>
              <a:rPr lang="zh-CN" altLang="en-US" sz="2800" dirty="0"/>
              <a:t>的</a:t>
            </a:r>
            <a:r>
              <a:rPr lang="en-US" altLang="zh-CN" sz="2800" dirty="0"/>
              <a:t>MASM</a:t>
            </a:r>
            <a:r>
              <a:rPr lang="zh-CN" altLang="en-US" sz="2800" dirty="0"/>
              <a:t>支持</a:t>
            </a:r>
            <a:r>
              <a:rPr lang="en-US" altLang="zh-CN" sz="2800" dirty="0"/>
              <a:t>Petium 4</a:t>
            </a:r>
            <a:r>
              <a:rPr lang="zh-CN" altLang="en-US" sz="2800" dirty="0"/>
              <a:t>的</a:t>
            </a:r>
            <a:r>
              <a:rPr lang="en-US" altLang="zh-CN" sz="2800" dirty="0"/>
              <a:t>SSE3</a:t>
            </a:r>
            <a:r>
              <a:rPr lang="zh-CN" altLang="en-US" sz="2800" dirty="0"/>
              <a:t>指令系统，同时有</a:t>
            </a:r>
            <a:r>
              <a:rPr lang="en-US" altLang="zh-CN" sz="2800" dirty="0"/>
              <a:t>ML64.EXE</a:t>
            </a:r>
            <a:r>
              <a:rPr lang="zh-CN" altLang="en-US" sz="2800" dirty="0"/>
              <a:t>程序用于支持</a:t>
            </a:r>
            <a:r>
              <a:rPr lang="en-US" altLang="zh-CN" sz="2800" dirty="0"/>
              <a:t>64</a:t>
            </a:r>
            <a:r>
              <a:rPr lang="zh-CN" altLang="en-US" sz="2800" dirty="0"/>
              <a:t>位指令系统</a:t>
            </a:r>
            <a:endParaRPr lang="zh-CN" altLang="en-US" sz="2800" dirty="0"/>
          </a:p>
        </p:txBody>
      </p:sp>
    </p:spTree>
  </p:cSld>
  <p:clrMapOvr>
    <a:masterClrMapping/>
  </p:clrMapOvr>
  <p:transition spd="slow">
    <p:split orient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60438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连接程序（</a:t>
            </a:r>
            <a:r>
              <a:rPr lang="en-US" altLang="zh-CN" dirty="0"/>
              <a:t>Linker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7891" name="文本占位符 60439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4417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3200" dirty="0"/>
              <a:t>连接程序将汇编后的目标模块转换为可执行程序</a:t>
            </a:r>
            <a:endParaRPr lang="zh-CN" altLang="en-US" sz="32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3200" dirty="0"/>
              <a:t>每个程序开发环境都有连接程序</a:t>
            </a:r>
            <a:endParaRPr lang="zh-CN" altLang="en-US" sz="32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3200" dirty="0"/>
              <a:t>连接程序的文件名通常是：</a:t>
            </a:r>
            <a:r>
              <a:rPr lang="en-US" altLang="zh-CN" sz="3200" dirty="0"/>
              <a:t>LINK.EXE</a:t>
            </a:r>
            <a:endParaRPr lang="en-US" altLang="zh-CN" sz="32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/>
              <a:t>32</a:t>
            </a:r>
            <a:r>
              <a:rPr lang="zh-CN" altLang="en-US" sz="3200" dirty="0"/>
              <a:t>位</a:t>
            </a:r>
            <a:r>
              <a:rPr lang="en-US" altLang="zh-CN" sz="3200" dirty="0"/>
              <a:t>Windows</a:t>
            </a:r>
            <a:r>
              <a:rPr lang="zh-CN" altLang="en-US" sz="3200" dirty="0"/>
              <a:t>连接程序不同于</a:t>
            </a:r>
            <a:r>
              <a:rPr lang="en-US" altLang="zh-CN" sz="3200" dirty="0"/>
              <a:t>16</a:t>
            </a:r>
            <a:r>
              <a:rPr lang="zh-CN" altLang="en-US" sz="3200" dirty="0"/>
              <a:t>位</a:t>
            </a:r>
            <a:r>
              <a:rPr lang="en-US" altLang="zh-CN" sz="3200" dirty="0"/>
              <a:t>DOS</a:t>
            </a:r>
            <a:r>
              <a:rPr lang="zh-CN" altLang="en-US" sz="3200" dirty="0"/>
              <a:t>连接程序</a:t>
            </a:r>
            <a:endParaRPr lang="zh-CN" altLang="en-US" sz="3200" dirty="0"/>
          </a:p>
        </p:txBody>
      </p:sp>
      <p:grpSp>
        <p:nvGrpSpPr>
          <p:cNvPr id="37892" name="组合 60441"/>
          <p:cNvGrpSpPr/>
          <p:nvPr/>
        </p:nvGrpSpPr>
        <p:grpSpPr>
          <a:xfrm>
            <a:off x="323850" y="4221163"/>
            <a:ext cx="8640763" cy="1498600"/>
            <a:chOff x="204" y="2659"/>
            <a:chExt cx="5443" cy="944"/>
          </a:xfrm>
        </p:grpSpPr>
        <p:grpSp>
          <p:nvGrpSpPr>
            <p:cNvPr id="37893" name="组合 60421"/>
            <p:cNvGrpSpPr/>
            <p:nvPr/>
          </p:nvGrpSpPr>
          <p:grpSpPr>
            <a:xfrm>
              <a:off x="709" y="2659"/>
              <a:ext cx="4938" cy="327"/>
              <a:chOff x="528" y="2448"/>
              <a:chExt cx="4656" cy="327"/>
            </a:xfrm>
          </p:grpSpPr>
          <p:grpSp>
            <p:nvGrpSpPr>
              <p:cNvPr id="37902" name="组合 60422"/>
              <p:cNvGrpSpPr/>
              <p:nvPr/>
            </p:nvGrpSpPr>
            <p:grpSpPr>
              <a:xfrm>
                <a:off x="528" y="2448"/>
                <a:ext cx="1536" cy="327"/>
                <a:chOff x="1152" y="2496"/>
                <a:chExt cx="1536" cy="327"/>
              </a:xfrm>
            </p:grpSpPr>
            <p:sp>
              <p:nvSpPr>
                <p:cNvPr id="37907" name="文本框 60423"/>
                <p:cNvSpPr txBox="1"/>
                <p:nvPr/>
              </p:nvSpPr>
              <p:spPr>
                <a:xfrm>
                  <a:off x="1152" y="2496"/>
                  <a:ext cx="105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源程序</a:t>
                  </a:r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08" name="直接连接符 60424"/>
                <p:cNvSpPr/>
                <p:nvPr/>
              </p:nvSpPr>
              <p:spPr>
                <a:xfrm>
                  <a:off x="2160" y="2640"/>
                  <a:ext cx="528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oval" w="med" len="med"/>
                  <a:tailEnd type="triangle" w="med" len="med"/>
                </a:ln>
              </p:spPr>
            </p:sp>
          </p:grpSp>
          <p:sp>
            <p:nvSpPr>
              <p:cNvPr id="37903" name="文本框 60425"/>
              <p:cNvSpPr txBox="1"/>
              <p:nvPr/>
            </p:nvSpPr>
            <p:spPr>
              <a:xfrm>
                <a:off x="3840" y="2448"/>
                <a:ext cx="13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l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可执行文件</a:t>
                </a:r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7904" name="组合 60426"/>
              <p:cNvGrpSpPr/>
              <p:nvPr/>
            </p:nvGrpSpPr>
            <p:grpSpPr>
              <a:xfrm>
                <a:off x="2208" y="2448"/>
                <a:ext cx="1536" cy="327"/>
                <a:chOff x="1152" y="2496"/>
                <a:chExt cx="1536" cy="327"/>
              </a:xfrm>
            </p:grpSpPr>
            <p:sp>
              <p:nvSpPr>
                <p:cNvPr id="37905" name="文本框 60427"/>
                <p:cNvSpPr txBox="1"/>
                <p:nvPr/>
              </p:nvSpPr>
              <p:spPr>
                <a:xfrm>
                  <a:off x="1152" y="2496"/>
                  <a:ext cx="105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l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目标模块</a:t>
                  </a:r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06" name="直接连接符 60428"/>
                <p:cNvSpPr/>
                <p:nvPr/>
              </p:nvSpPr>
              <p:spPr>
                <a:xfrm>
                  <a:off x="2160" y="2640"/>
                  <a:ext cx="528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oval" w="med" len="med"/>
                  <a:tailEnd type="triangle" w="med" len="med"/>
                </a:ln>
              </p:spPr>
            </p:sp>
          </p:grpSp>
        </p:grpSp>
        <p:sp>
          <p:nvSpPr>
            <p:cNvPr id="37894" name="直接连接符 60429"/>
            <p:cNvSpPr/>
            <p:nvPr/>
          </p:nvSpPr>
          <p:spPr>
            <a:xfrm flipV="1">
              <a:off x="807" y="2947"/>
              <a:ext cx="258" cy="325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  <p:sp>
          <p:nvSpPr>
            <p:cNvPr id="37895" name="文本框 60431"/>
            <p:cNvSpPr txBox="1"/>
            <p:nvPr/>
          </p:nvSpPr>
          <p:spPr>
            <a:xfrm>
              <a:off x="204" y="3272"/>
              <a:ext cx="127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文本编辑器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6" name="文本框 60432"/>
            <p:cNvSpPr txBox="1"/>
            <p:nvPr/>
          </p:nvSpPr>
          <p:spPr>
            <a:xfrm>
              <a:off x="1676" y="3272"/>
              <a:ext cx="112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汇编程序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7" name="文本框 60433"/>
            <p:cNvSpPr txBox="1"/>
            <p:nvPr/>
          </p:nvSpPr>
          <p:spPr>
            <a:xfrm>
              <a:off x="3102" y="3272"/>
              <a:ext cx="112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连接程序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8" name="文本框 60434"/>
            <p:cNvSpPr txBox="1"/>
            <p:nvPr/>
          </p:nvSpPr>
          <p:spPr>
            <a:xfrm>
              <a:off x="4527" y="3272"/>
              <a:ext cx="112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调试程序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9" name="直接连接符 60435"/>
            <p:cNvSpPr/>
            <p:nvPr/>
          </p:nvSpPr>
          <p:spPr>
            <a:xfrm flipH="1" flipV="1">
              <a:off x="1982" y="2899"/>
              <a:ext cx="254" cy="373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  <p:sp>
          <p:nvSpPr>
            <p:cNvPr id="37900" name="直接连接符 60436"/>
            <p:cNvSpPr/>
            <p:nvPr/>
          </p:nvSpPr>
          <p:spPr>
            <a:xfrm flipV="1">
              <a:off x="3662" y="2847"/>
              <a:ext cx="101" cy="432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  <p:sp>
          <p:nvSpPr>
            <p:cNvPr id="37901" name="直接连接符 60437"/>
            <p:cNvSpPr/>
            <p:nvPr/>
          </p:nvSpPr>
          <p:spPr>
            <a:xfrm flipH="1" flipV="1">
              <a:off x="4985" y="2943"/>
              <a:ext cx="51" cy="336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6146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调试程序（</a:t>
            </a:r>
            <a:r>
              <a:rPr lang="en-US" altLang="zh-CN" dirty="0"/>
              <a:t>Debugger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8915" name="文本占位符 61463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4417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调试程序进行程序排错、分析等</a:t>
            </a:r>
            <a:endParaRPr lang="zh-CN" altLang="en-US" dirty="0"/>
          </a:p>
          <a:p>
            <a:pPr eaLnBrk="1" hangingPunct="1"/>
            <a:r>
              <a:rPr lang="en-US" altLang="zh-CN" dirty="0"/>
              <a:t>DOS</a:t>
            </a:r>
            <a:r>
              <a:rPr lang="zh-CN" altLang="en-US" dirty="0"/>
              <a:t>的</a:t>
            </a:r>
            <a:r>
              <a:rPr lang="en-US" altLang="zh-CN" dirty="0"/>
              <a:t>DEBUG</a:t>
            </a:r>
            <a:r>
              <a:rPr lang="zh-CN" altLang="en-US" dirty="0"/>
              <a:t>程序（前</a:t>
            </a:r>
            <a:r>
              <a:rPr lang="en-US" altLang="zh-CN" dirty="0"/>
              <a:t>5</a:t>
            </a:r>
            <a:r>
              <a:rPr lang="zh-CN" altLang="en-US" dirty="0"/>
              <a:t>章可用）</a:t>
            </a:r>
            <a:endParaRPr lang="zh-CN" altLang="en-US" dirty="0"/>
          </a:p>
          <a:p>
            <a:pPr eaLnBrk="1" hangingPunct="1"/>
            <a:r>
              <a:rPr lang="zh-CN" altLang="en-US" dirty="0"/>
              <a:t>支持源程序调试的</a:t>
            </a:r>
            <a:r>
              <a:rPr lang="en-US" altLang="zh-CN" dirty="0"/>
              <a:t>CodeView</a:t>
            </a:r>
            <a:endParaRPr lang="en-US" altLang="zh-CN" dirty="0"/>
          </a:p>
          <a:p>
            <a:pPr eaLnBrk="1" hangingPunct="1"/>
            <a:r>
              <a:rPr lang="zh-CN" altLang="en-US" dirty="0"/>
              <a:t>还有</a:t>
            </a:r>
            <a:r>
              <a:rPr lang="en-US" altLang="zh-CN" dirty="0"/>
              <a:t>Turbo Debugger</a:t>
            </a:r>
            <a:r>
              <a:rPr lang="zh-CN" altLang="en-US" dirty="0"/>
              <a:t>等</a:t>
            </a:r>
            <a:endParaRPr lang="zh-CN" altLang="en-US" dirty="0"/>
          </a:p>
        </p:txBody>
      </p:sp>
      <p:grpSp>
        <p:nvGrpSpPr>
          <p:cNvPr id="38916" name="组合 61483"/>
          <p:cNvGrpSpPr/>
          <p:nvPr/>
        </p:nvGrpSpPr>
        <p:grpSpPr>
          <a:xfrm>
            <a:off x="323850" y="4221163"/>
            <a:ext cx="8640763" cy="1498600"/>
            <a:chOff x="204" y="2659"/>
            <a:chExt cx="5443" cy="944"/>
          </a:xfrm>
        </p:grpSpPr>
        <p:grpSp>
          <p:nvGrpSpPr>
            <p:cNvPr id="38917" name="组合 61484"/>
            <p:cNvGrpSpPr/>
            <p:nvPr/>
          </p:nvGrpSpPr>
          <p:grpSpPr>
            <a:xfrm>
              <a:off x="709" y="2659"/>
              <a:ext cx="4938" cy="327"/>
              <a:chOff x="528" y="2448"/>
              <a:chExt cx="4656" cy="327"/>
            </a:xfrm>
          </p:grpSpPr>
          <p:grpSp>
            <p:nvGrpSpPr>
              <p:cNvPr id="38926" name="组合 61485"/>
              <p:cNvGrpSpPr/>
              <p:nvPr/>
            </p:nvGrpSpPr>
            <p:grpSpPr>
              <a:xfrm>
                <a:off x="528" y="2448"/>
                <a:ext cx="1536" cy="327"/>
                <a:chOff x="1152" y="2496"/>
                <a:chExt cx="1536" cy="327"/>
              </a:xfrm>
            </p:grpSpPr>
            <p:sp>
              <p:nvSpPr>
                <p:cNvPr id="38931" name="文本框 61486"/>
                <p:cNvSpPr txBox="1"/>
                <p:nvPr/>
              </p:nvSpPr>
              <p:spPr>
                <a:xfrm>
                  <a:off x="1152" y="2496"/>
                  <a:ext cx="105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源程序</a:t>
                  </a:r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32" name="直接连接符 61487"/>
                <p:cNvSpPr/>
                <p:nvPr/>
              </p:nvSpPr>
              <p:spPr>
                <a:xfrm>
                  <a:off x="2160" y="2640"/>
                  <a:ext cx="528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oval" w="med" len="med"/>
                  <a:tailEnd type="triangle" w="med" len="med"/>
                </a:ln>
              </p:spPr>
            </p:sp>
          </p:grpSp>
          <p:sp>
            <p:nvSpPr>
              <p:cNvPr id="38927" name="文本框 61488"/>
              <p:cNvSpPr txBox="1"/>
              <p:nvPr/>
            </p:nvSpPr>
            <p:spPr>
              <a:xfrm>
                <a:off x="3840" y="2448"/>
                <a:ext cx="13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l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可执行文件</a:t>
                </a:r>
                <a:endParaRPr lang="zh-CN" altLang="en-US" sz="32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928" name="组合 61489"/>
              <p:cNvGrpSpPr/>
              <p:nvPr/>
            </p:nvGrpSpPr>
            <p:grpSpPr>
              <a:xfrm>
                <a:off x="2208" y="2448"/>
                <a:ext cx="1536" cy="327"/>
                <a:chOff x="1152" y="2496"/>
                <a:chExt cx="1536" cy="327"/>
              </a:xfrm>
            </p:grpSpPr>
            <p:sp>
              <p:nvSpPr>
                <p:cNvPr id="38929" name="文本框 61490"/>
                <p:cNvSpPr txBox="1"/>
                <p:nvPr/>
              </p:nvSpPr>
              <p:spPr>
                <a:xfrm>
                  <a:off x="1152" y="2496"/>
                  <a:ext cx="1056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Ø"/>
                    <a:defRPr sz="3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n"/>
                    <a:defRPr sz="32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just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l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solidFill>
                        <a:srgbClr val="0000FF"/>
                      </a:solidFill>
                      <a:latin typeface="宋体" panose="02010600030101010101" pitchFamily="2" charset="-122"/>
                    </a:rPr>
                    <a:t>目标模块</a:t>
                  </a:r>
                  <a:endParaRPr lang="zh-CN" altLang="en-US" sz="32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30" name="直接连接符 61491"/>
                <p:cNvSpPr/>
                <p:nvPr/>
              </p:nvSpPr>
              <p:spPr>
                <a:xfrm>
                  <a:off x="2160" y="2640"/>
                  <a:ext cx="528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oval" w="med" len="med"/>
                  <a:tailEnd type="triangle" w="med" len="med"/>
                </a:ln>
              </p:spPr>
            </p:sp>
          </p:grpSp>
        </p:grpSp>
        <p:sp>
          <p:nvSpPr>
            <p:cNvPr id="38918" name="直接连接符 61492"/>
            <p:cNvSpPr/>
            <p:nvPr/>
          </p:nvSpPr>
          <p:spPr>
            <a:xfrm flipV="1">
              <a:off x="807" y="2947"/>
              <a:ext cx="258" cy="325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  <p:sp>
          <p:nvSpPr>
            <p:cNvPr id="38919" name="文本框 61493"/>
            <p:cNvSpPr txBox="1"/>
            <p:nvPr/>
          </p:nvSpPr>
          <p:spPr>
            <a:xfrm>
              <a:off x="204" y="3272"/>
              <a:ext cx="127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文本编辑器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0" name="文本框 61494"/>
            <p:cNvSpPr txBox="1"/>
            <p:nvPr/>
          </p:nvSpPr>
          <p:spPr>
            <a:xfrm>
              <a:off x="1676" y="3272"/>
              <a:ext cx="112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汇编程序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1" name="文本框 61495"/>
            <p:cNvSpPr txBox="1"/>
            <p:nvPr/>
          </p:nvSpPr>
          <p:spPr>
            <a:xfrm>
              <a:off x="3102" y="3272"/>
              <a:ext cx="112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连接程序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2" name="文本框 61496"/>
            <p:cNvSpPr txBox="1"/>
            <p:nvPr/>
          </p:nvSpPr>
          <p:spPr>
            <a:xfrm>
              <a:off x="4527" y="3272"/>
              <a:ext cx="1120" cy="331"/>
            </a:xfrm>
            <a:prstGeom prst="rect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F91E07"/>
                  </a:solidFill>
                  <a:latin typeface="Times New Roman" panose="02020603050405020304" pitchFamily="18" charset="0"/>
                </a:rPr>
                <a:t>调试程序</a:t>
              </a:r>
              <a:endParaRPr lang="zh-CN" altLang="en-US" sz="2800" dirty="0">
                <a:solidFill>
                  <a:srgbClr val="F91E07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3" name="直接连接符 61497"/>
            <p:cNvSpPr/>
            <p:nvPr/>
          </p:nvSpPr>
          <p:spPr>
            <a:xfrm flipH="1" flipV="1">
              <a:off x="1982" y="2899"/>
              <a:ext cx="254" cy="373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  <p:sp>
          <p:nvSpPr>
            <p:cNvPr id="38924" name="直接连接符 61498"/>
            <p:cNvSpPr/>
            <p:nvPr/>
          </p:nvSpPr>
          <p:spPr>
            <a:xfrm flipV="1">
              <a:off x="3662" y="2847"/>
              <a:ext cx="101" cy="432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  <p:sp>
          <p:nvSpPr>
            <p:cNvPr id="38925" name="直接连接符 61499"/>
            <p:cNvSpPr/>
            <p:nvPr/>
          </p:nvSpPr>
          <p:spPr>
            <a:xfrm flipH="1" flipV="1">
              <a:off x="4985" y="2943"/>
              <a:ext cx="51" cy="336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headEnd type="none" w="med" len="med"/>
              <a:tailEnd type="arrow" w="med" len="med"/>
            </a:ln>
            <a:effectLst>
              <a:outerShdw dist="45791" dir="2021404" algn="ctr" rotWithShape="0">
                <a:srgbClr val="C0C0C0"/>
              </a:outerShdw>
            </a:effectLst>
          </p:spPr>
        </p:sp>
      </p:grpSp>
    </p:spTree>
  </p:cSld>
  <p:clrMapOvr>
    <a:masterClrMapping/>
  </p:clrMapOvr>
  <p:transition spd="slow"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6247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集成化开发环境</a:t>
            </a:r>
            <a:endParaRPr lang="zh-CN" altLang="zh-CN" dirty="0"/>
          </a:p>
        </p:txBody>
      </p:sp>
      <p:sp>
        <p:nvSpPr>
          <p:cNvPr id="39939" name="文本占位符 6247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进行程序设计使用的各种软件的有机集合，有文本编辑器，有语言翻译程序，有连接程序，还组合有调试程序等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大型的程序设计项目往往要借助这种集成开发环境，也就是软件开发工具（包）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微软的</a:t>
            </a:r>
            <a:r>
              <a:rPr lang="en-US" altLang="zh-CN" sz="3200" dirty="0"/>
              <a:t>Visual Studio</a:t>
            </a:r>
            <a:r>
              <a:rPr lang="zh-CN" altLang="en-US" sz="3200" dirty="0"/>
              <a:t>开发系统</a:t>
            </a:r>
            <a:endParaRPr lang="zh-CN" altLang="en-US" sz="3200" dirty="0"/>
          </a:p>
        </p:txBody>
      </p:sp>
    </p:spTree>
  </p:cSld>
  <p:clrMapOvr>
    <a:masterClrMapping/>
  </p:clrMapOvr>
  <p:transition spd="slow">
    <p:split orient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7884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1.5  8086</a:t>
            </a:r>
            <a:r>
              <a:rPr lang="zh-CN" altLang="en-US" dirty="0"/>
              <a:t>微处理器</a:t>
            </a:r>
            <a:endParaRPr lang="zh-CN" altLang="en-US" dirty="0"/>
          </a:p>
        </p:txBody>
      </p:sp>
      <p:sp>
        <p:nvSpPr>
          <p:cNvPr id="40963" name="文本占位符 7885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微处理器是微机的硬件核心，主要包含指令执行的运算和控制部件，还有多种寄存器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对程序员来说，微处理器抽象为以名称存取的寄存器</a:t>
            </a:r>
            <a:endParaRPr lang="zh-CN" altLang="en-US" sz="3200" dirty="0"/>
          </a:p>
          <a:p>
            <a:pPr eaLnBrk="1" hangingPunct="1"/>
            <a:r>
              <a:rPr lang="en-US" altLang="zh-CN" sz="3200" dirty="0"/>
              <a:t>8086</a:t>
            </a:r>
            <a:r>
              <a:rPr lang="zh-CN" altLang="en-US" sz="3200" dirty="0"/>
              <a:t>内部结构有两个功能模块，完成一条指令的取指和执行功能</a:t>
            </a:r>
            <a:endParaRPr lang="zh-CN" altLang="en-US" sz="3200" dirty="0"/>
          </a:p>
          <a:p>
            <a:pPr eaLnBrk="1" hangingPunct="1">
              <a:buSzTx/>
              <a:buFont typeface="Wingdings" panose="05000000000000000000" pitchFamily="2" charset="2"/>
              <a:buChar char="v"/>
            </a:pPr>
            <a:r>
              <a:rPr lang="zh-CN" altLang="en-US" sz="3200" dirty="0">
                <a:solidFill>
                  <a:schemeClr val="accent2"/>
                </a:solidFill>
              </a:rPr>
              <a:t> 总线接口单元</a:t>
            </a:r>
            <a:r>
              <a:rPr lang="en-US" altLang="zh-CN" sz="3200" dirty="0">
                <a:solidFill>
                  <a:schemeClr val="accent2"/>
                </a:solidFill>
              </a:rPr>
              <a:t>BIU</a:t>
            </a:r>
            <a:r>
              <a:rPr lang="zh-CN" altLang="en-US" sz="3200" dirty="0"/>
              <a:t>：负责读取指令和操作数</a:t>
            </a:r>
            <a:endParaRPr lang="zh-CN" altLang="en-US" sz="3200" dirty="0"/>
          </a:p>
          <a:p>
            <a:pPr eaLnBrk="1" hangingPunct="1">
              <a:buSzTx/>
              <a:buFont typeface="Wingdings" panose="05000000000000000000" pitchFamily="2" charset="2"/>
              <a:buChar char="v"/>
            </a:pPr>
            <a:r>
              <a:rPr lang="zh-CN" altLang="en-US" sz="3200" dirty="0">
                <a:solidFill>
                  <a:schemeClr val="accent2"/>
                </a:solidFill>
              </a:rPr>
              <a:t> 执行单元</a:t>
            </a:r>
            <a:r>
              <a:rPr lang="en-US" altLang="zh-CN" sz="3200" dirty="0">
                <a:solidFill>
                  <a:schemeClr val="accent2"/>
                </a:solidFill>
              </a:rPr>
              <a:t>EU</a:t>
            </a:r>
            <a:r>
              <a:rPr lang="en-US" altLang="zh-CN" sz="3200" dirty="0"/>
              <a:t> </a:t>
            </a:r>
            <a:r>
              <a:rPr lang="zh-CN" altLang="en-US" sz="3200" dirty="0"/>
              <a:t>：负责指令译码和执行</a:t>
            </a:r>
            <a:endParaRPr lang="zh-CN" altLang="en-US" sz="32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986" name="标题 80897"/>
          <p:cNvSpPr>
            <a:spLocks noGrp="1"/>
          </p:cNvSpPr>
          <p:nvPr>
            <p:ph type="title"/>
          </p:nvPr>
        </p:nvSpPr>
        <p:spPr>
          <a:xfrm>
            <a:off x="76200" y="0"/>
            <a:ext cx="3048000" cy="838200"/>
          </a:xfrm>
        </p:spPr>
        <p:txBody>
          <a:bodyPr vert="horz" wrap="square" lIns="91440" tIns="45720" rIns="91440" bIns="45720" anchor="ctr" anchorCtr="0"/>
          <a:p>
            <a:pPr eaLnBrk="1" hangingPunct="1">
              <a:lnSpc>
                <a:spcPct val="70000"/>
              </a:lnSpc>
            </a:pPr>
            <a:r>
              <a:rPr lang="en-US" altLang="zh-CN" sz="2400" u="sng" dirty="0"/>
              <a:t>8086</a:t>
            </a:r>
            <a:r>
              <a:rPr lang="zh-CN" altLang="en-US" sz="2400" u="sng" dirty="0"/>
              <a:t>的内部结构</a:t>
            </a:r>
            <a:endParaRPr lang="zh-CN" altLang="en-US" sz="2400" u="sng" dirty="0"/>
          </a:p>
        </p:txBody>
      </p:sp>
      <p:grpSp>
        <p:nvGrpSpPr>
          <p:cNvPr id="41987" name="组合 80899"/>
          <p:cNvGrpSpPr/>
          <p:nvPr/>
        </p:nvGrpSpPr>
        <p:grpSpPr>
          <a:xfrm>
            <a:off x="152400" y="152400"/>
            <a:ext cx="8991600" cy="6508750"/>
            <a:chOff x="96" y="96"/>
            <a:chExt cx="5664" cy="4100"/>
          </a:xfrm>
        </p:grpSpPr>
        <p:sp>
          <p:nvSpPr>
            <p:cNvPr id="41988" name="矩形 80900"/>
            <p:cNvSpPr/>
            <p:nvPr/>
          </p:nvSpPr>
          <p:spPr>
            <a:xfrm>
              <a:off x="912" y="576"/>
              <a:ext cx="864" cy="1536"/>
            </a:xfrm>
            <a:prstGeom prst="rect">
              <a:avLst/>
            </a:prstGeom>
            <a:solidFill>
              <a:srgbClr val="CCFFCC"/>
            </a:solid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sp>
          <p:nvSpPr>
            <p:cNvPr id="41989" name="直接连接符 80901"/>
            <p:cNvSpPr/>
            <p:nvPr/>
          </p:nvSpPr>
          <p:spPr>
            <a:xfrm>
              <a:off x="912" y="1728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0" name="直接连接符 80902"/>
            <p:cNvSpPr/>
            <p:nvPr/>
          </p:nvSpPr>
          <p:spPr>
            <a:xfrm>
              <a:off x="912" y="1920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1" name="直接连接符 80903"/>
            <p:cNvSpPr/>
            <p:nvPr/>
          </p:nvSpPr>
          <p:spPr>
            <a:xfrm>
              <a:off x="912" y="768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2" name="直接连接符 80904"/>
            <p:cNvSpPr/>
            <p:nvPr/>
          </p:nvSpPr>
          <p:spPr>
            <a:xfrm>
              <a:off x="912" y="960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3" name="直接连接符 80905"/>
            <p:cNvSpPr/>
            <p:nvPr/>
          </p:nvSpPr>
          <p:spPr>
            <a:xfrm>
              <a:off x="912" y="1152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4" name="直接连接符 80906"/>
            <p:cNvSpPr/>
            <p:nvPr/>
          </p:nvSpPr>
          <p:spPr>
            <a:xfrm>
              <a:off x="912" y="1344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5" name="直接连接符 80907"/>
            <p:cNvSpPr/>
            <p:nvPr/>
          </p:nvSpPr>
          <p:spPr>
            <a:xfrm>
              <a:off x="912" y="1536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6" name="直接连接符 80908"/>
            <p:cNvSpPr/>
            <p:nvPr/>
          </p:nvSpPr>
          <p:spPr>
            <a:xfrm>
              <a:off x="1344" y="576"/>
              <a:ext cx="0" cy="768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7" name="任意多边形 80909"/>
            <p:cNvSpPr/>
            <p:nvPr/>
          </p:nvSpPr>
          <p:spPr>
            <a:xfrm>
              <a:off x="768" y="2784"/>
              <a:ext cx="1200" cy="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0"/>
                </a:cxn>
                <a:cxn ang="0">
                  <a:pos x="480" y="192"/>
                </a:cxn>
                <a:cxn ang="0">
                  <a:pos x="720" y="192"/>
                </a:cxn>
                <a:cxn ang="0">
                  <a:pos x="816" y="0"/>
                </a:cxn>
                <a:cxn ang="0">
                  <a:pos x="1200" y="0"/>
                </a:cxn>
                <a:cxn ang="0">
                  <a:pos x="912" y="480"/>
                </a:cxn>
                <a:cxn ang="0">
                  <a:pos x="240" y="480"/>
                </a:cxn>
                <a:cxn ang="0">
                  <a:pos x="0" y="0"/>
                </a:cxn>
              </a:cxnLst>
              <a:pathLst>
                <a:path w="1200" h="480">
                  <a:moveTo>
                    <a:pt x="0" y="0"/>
                  </a:moveTo>
                  <a:lnTo>
                    <a:pt x="384" y="0"/>
                  </a:lnTo>
                  <a:lnTo>
                    <a:pt x="480" y="192"/>
                  </a:lnTo>
                  <a:lnTo>
                    <a:pt x="720" y="192"/>
                  </a:lnTo>
                  <a:lnTo>
                    <a:pt x="816" y="0"/>
                  </a:lnTo>
                  <a:lnTo>
                    <a:pt x="1200" y="0"/>
                  </a:lnTo>
                  <a:lnTo>
                    <a:pt x="912" y="480"/>
                  </a:lnTo>
                  <a:lnTo>
                    <a:pt x="240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99">
                <a:alpha val="100000"/>
              </a:srgbClr>
            </a:solidFill>
            <a:ln w="127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998" name="直接连接符 80910"/>
            <p:cNvSpPr/>
            <p:nvPr/>
          </p:nvSpPr>
          <p:spPr>
            <a:xfrm>
              <a:off x="1344" y="2112"/>
              <a:ext cx="0" cy="336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41999" name="直接连接符 80911"/>
            <p:cNvSpPr/>
            <p:nvPr/>
          </p:nvSpPr>
          <p:spPr>
            <a:xfrm>
              <a:off x="1008" y="2448"/>
              <a:ext cx="0" cy="336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42000" name="直接连接符 80912"/>
            <p:cNvSpPr/>
            <p:nvPr/>
          </p:nvSpPr>
          <p:spPr>
            <a:xfrm>
              <a:off x="1776" y="2448"/>
              <a:ext cx="0" cy="336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42001" name="矩形 80913"/>
            <p:cNvSpPr/>
            <p:nvPr/>
          </p:nvSpPr>
          <p:spPr>
            <a:xfrm>
              <a:off x="864" y="3648"/>
              <a:ext cx="1056" cy="240"/>
            </a:xfrm>
            <a:prstGeom prst="rect">
              <a:avLst/>
            </a:prstGeom>
            <a:solidFill>
              <a:srgbClr val="CCFFCC"/>
            </a:solid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sp>
          <p:nvSpPr>
            <p:cNvPr id="42002" name="直接连接符 80914"/>
            <p:cNvSpPr/>
            <p:nvPr/>
          </p:nvSpPr>
          <p:spPr>
            <a:xfrm>
              <a:off x="1536" y="3264"/>
              <a:ext cx="0" cy="384"/>
            </a:xfrm>
            <a:prstGeom prst="line">
              <a:avLst/>
            </a:prstGeom>
            <a:ln w="28575" cap="flat" cmpd="sng">
              <a:solidFill>
                <a:srgbClr val="99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2003" name="直接连接符 80915"/>
            <p:cNvSpPr/>
            <p:nvPr/>
          </p:nvSpPr>
          <p:spPr>
            <a:xfrm>
              <a:off x="624" y="2448"/>
              <a:ext cx="0" cy="1008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42004" name="直接连接符 80916"/>
            <p:cNvSpPr/>
            <p:nvPr/>
          </p:nvSpPr>
          <p:spPr>
            <a:xfrm>
              <a:off x="624" y="3426"/>
              <a:ext cx="576" cy="0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5" name="直接连接符 80917"/>
            <p:cNvSpPr/>
            <p:nvPr/>
          </p:nvSpPr>
          <p:spPr>
            <a:xfrm>
              <a:off x="1200" y="3264"/>
              <a:ext cx="0" cy="192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6" name="直接连接符 80918"/>
            <p:cNvSpPr/>
            <p:nvPr/>
          </p:nvSpPr>
          <p:spPr>
            <a:xfrm>
              <a:off x="96" y="2448"/>
              <a:ext cx="3264" cy="0"/>
            </a:xfrm>
            <a:prstGeom prst="line">
              <a:avLst/>
            </a:prstGeom>
            <a:ln w="117475" cap="flat" cmpd="sng">
              <a:solidFill>
                <a:srgbClr val="99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7" name="直接连接符 80919"/>
            <p:cNvSpPr/>
            <p:nvPr/>
          </p:nvSpPr>
          <p:spPr>
            <a:xfrm>
              <a:off x="288" y="2448"/>
              <a:ext cx="0" cy="1680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42008" name="直接连接符 80920"/>
            <p:cNvSpPr/>
            <p:nvPr/>
          </p:nvSpPr>
          <p:spPr>
            <a:xfrm>
              <a:off x="288" y="4098"/>
              <a:ext cx="1152" cy="0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9" name="直接连接符 80921"/>
            <p:cNvSpPr/>
            <p:nvPr/>
          </p:nvSpPr>
          <p:spPr>
            <a:xfrm>
              <a:off x="1440" y="3888"/>
              <a:ext cx="0" cy="240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0" name="任意多边形 80922">
              <a:hlinkClick r:id="rId1" action="ppaction://hlinkfile"/>
            </p:cNvPr>
            <p:cNvSpPr/>
            <p:nvPr/>
          </p:nvSpPr>
          <p:spPr>
            <a:xfrm>
              <a:off x="3360" y="384"/>
              <a:ext cx="1008" cy="384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288" y="384"/>
                </a:cxn>
                <a:cxn ang="0">
                  <a:pos x="384" y="192"/>
                </a:cxn>
                <a:cxn ang="0">
                  <a:pos x="624" y="192"/>
                </a:cxn>
                <a:cxn ang="0">
                  <a:pos x="720" y="384"/>
                </a:cxn>
                <a:cxn ang="0">
                  <a:pos x="1008" y="384"/>
                </a:cxn>
                <a:cxn ang="0">
                  <a:pos x="816" y="0"/>
                </a:cxn>
                <a:cxn ang="0">
                  <a:pos x="144" y="0"/>
                </a:cxn>
                <a:cxn ang="0">
                  <a:pos x="0" y="384"/>
                </a:cxn>
              </a:cxnLst>
              <a:pathLst>
                <a:path w="1008" h="384">
                  <a:moveTo>
                    <a:pt x="0" y="384"/>
                  </a:moveTo>
                  <a:lnTo>
                    <a:pt x="288" y="384"/>
                  </a:lnTo>
                  <a:lnTo>
                    <a:pt x="384" y="192"/>
                  </a:lnTo>
                  <a:lnTo>
                    <a:pt x="624" y="192"/>
                  </a:lnTo>
                  <a:lnTo>
                    <a:pt x="720" y="384"/>
                  </a:lnTo>
                  <a:lnTo>
                    <a:pt x="1008" y="384"/>
                  </a:lnTo>
                  <a:lnTo>
                    <a:pt x="816" y="0"/>
                  </a:lnTo>
                  <a:lnTo>
                    <a:pt x="144" y="0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12700" cap="flat" cmpd="sng">
              <a:solidFill>
                <a:srgbClr val="99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011" name="矩形 80923"/>
            <p:cNvSpPr/>
            <p:nvPr/>
          </p:nvSpPr>
          <p:spPr>
            <a:xfrm>
              <a:off x="3456" y="1056"/>
              <a:ext cx="864" cy="1200"/>
            </a:xfrm>
            <a:prstGeom prst="rect">
              <a:avLst/>
            </a:prstGeom>
            <a:solidFill>
              <a:srgbClr val="CCFFCC"/>
            </a:solid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2" name="直接连接符 80924"/>
            <p:cNvSpPr/>
            <p:nvPr/>
          </p:nvSpPr>
          <p:spPr>
            <a:xfrm>
              <a:off x="3456" y="1824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3" name="直接连接符 80925"/>
            <p:cNvSpPr/>
            <p:nvPr/>
          </p:nvSpPr>
          <p:spPr>
            <a:xfrm>
              <a:off x="3456" y="1632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4" name="直接连接符 80926"/>
            <p:cNvSpPr/>
            <p:nvPr/>
          </p:nvSpPr>
          <p:spPr>
            <a:xfrm>
              <a:off x="3456" y="1248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5" name="直接连接符 80927"/>
            <p:cNvSpPr/>
            <p:nvPr/>
          </p:nvSpPr>
          <p:spPr>
            <a:xfrm>
              <a:off x="3456" y="1440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6" name="直接连接符 80928"/>
            <p:cNvSpPr/>
            <p:nvPr/>
          </p:nvSpPr>
          <p:spPr>
            <a:xfrm>
              <a:off x="3456" y="2016"/>
              <a:ext cx="864" cy="0"/>
            </a:xfrm>
            <a:prstGeom prst="line">
              <a:avLst/>
            </a:prstGeom>
            <a:ln w="127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7" name="矩形 80929"/>
            <p:cNvSpPr/>
            <p:nvPr/>
          </p:nvSpPr>
          <p:spPr>
            <a:xfrm>
              <a:off x="2208" y="2784"/>
              <a:ext cx="720" cy="480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sp>
          <p:nvSpPr>
            <p:cNvPr id="42018" name="矩形 80930"/>
            <p:cNvSpPr/>
            <p:nvPr/>
          </p:nvSpPr>
          <p:spPr>
            <a:xfrm>
              <a:off x="3360" y="2880"/>
              <a:ext cx="864" cy="288"/>
            </a:xfrm>
            <a:prstGeom prst="rect">
              <a:avLst/>
            </a:prstGeom>
            <a:solidFill>
              <a:srgbClr val="CCFFFF"/>
            </a:solid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sp>
          <p:nvSpPr>
            <p:cNvPr id="42019" name="矩形 80931"/>
            <p:cNvSpPr/>
            <p:nvPr/>
          </p:nvSpPr>
          <p:spPr>
            <a:xfrm>
              <a:off x="4560" y="1392"/>
              <a:ext cx="720" cy="528"/>
            </a:xfrm>
            <a:prstGeom prst="rect">
              <a:avLst/>
            </a:prstGeom>
            <a:solidFill>
              <a:srgbClr val="FF9900"/>
            </a:solidFill>
            <a:ln w="12700" cap="flat" cmpd="sng">
              <a:solidFill>
                <a:srgbClr val="99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sp>
          <p:nvSpPr>
            <p:cNvPr id="42020" name="直接连接符 80932"/>
            <p:cNvSpPr/>
            <p:nvPr/>
          </p:nvSpPr>
          <p:spPr>
            <a:xfrm>
              <a:off x="5280" y="1680"/>
              <a:ext cx="480" cy="0"/>
            </a:xfrm>
            <a:prstGeom prst="line">
              <a:avLst/>
            </a:prstGeom>
            <a:ln w="117475" cap="flat" cmpd="sng">
              <a:solidFill>
                <a:srgbClr val="9966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42021" name="直接连接符 80933"/>
            <p:cNvSpPr/>
            <p:nvPr/>
          </p:nvSpPr>
          <p:spPr>
            <a:xfrm>
              <a:off x="5040" y="96"/>
              <a:ext cx="0" cy="1296"/>
            </a:xfrm>
            <a:prstGeom prst="line">
              <a:avLst/>
            </a:prstGeom>
            <a:ln w="117475" cap="flat" cmpd="sng">
              <a:solidFill>
                <a:srgbClr val="9966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42022" name="直接连接符 80934"/>
            <p:cNvSpPr/>
            <p:nvPr/>
          </p:nvSpPr>
          <p:spPr>
            <a:xfrm>
              <a:off x="3840" y="240"/>
              <a:ext cx="1152" cy="0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42023" name="直接连接符 80935"/>
            <p:cNvSpPr/>
            <p:nvPr/>
          </p:nvSpPr>
          <p:spPr>
            <a:xfrm>
              <a:off x="3840" y="240"/>
              <a:ext cx="0" cy="144"/>
            </a:xfrm>
            <a:prstGeom prst="line">
              <a:avLst/>
            </a:prstGeom>
            <a:ln w="76200" cap="flat" cmpd="sng">
              <a:solidFill>
                <a:srgbClr val="99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4" name="直接连接符 80936"/>
            <p:cNvSpPr/>
            <p:nvPr/>
          </p:nvSpPr>
          <p:spPr>
            <a:xfrm>
              <a:off x="3552" y="768"/>
              <a:ext cx="0" cy="288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sm"/>
              <a:tailEnd type="none" w="med" len="med"/>
            </a:ln>
          </p:spPr>
        </p:sp>
        <p:sp>
          <p:nvSpPr>
            <p:cNvPr id="42025" name="直接连接符 80937"/>
            <p:cNvSpPr/>
            <p:nvPr/>
          </p:nvSpPr>
          <p:spPr>
            <a:xfrm>
              <a:off x="4176" y="768"/>
              <a:ext cx="0" cy="288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42026" name="直接连接符 80938"/>
            <p:cNvSpPr/>
            <p:nvPr/>
          </p:nvSpPr>
          <p:spPr>
            <a:xfrm>
              <a:off x="4176" y="912"/>
              <a:ext cx="864" cy="0"/>
            </a:xfrm>
            <a:prstGeom prst="line">
              <a:avLst/>
            </a:prstGeom>
            <a:ln w="76200" cap="flat" cmpd="sng">
              <a:solidFill>
                <a:srgbClr val="996600"/>
              </a:solidFill>
              <a:prstDash val="solid"/>
              <a:headEnd type="triangle" w="sm" len="sm"/>
              <a:tailEnd type="triangle" w="sm" len="sm"/>
            </a:ln>
          </p:spPr>
        </p:sp>
        <p:sp>
          <p:nvSpPr>
            <p:cNvPr id="42027" name="文本框 80939"/>
            <p:cNvSpPr txBox="1"/>
            <p:nvPr/>
          </p:nvSpPr>
          <p:spPr>
            <a:xfrm>
              <a:off x="3484" y="2025"/>
              <a:ext cx="835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内部暂存器</a:t>
              </a:r>
              <a:endPara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8" name="文本框 80940"/>
            <p:cNvSpPr txBox="1"/>
            <p:nvPr/>
          </p:nvSpPr>
          <p:spPr>
            <a:xfrm>
              <a:off x="3504" y="1824"/>
              <a:ext cx="67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18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IP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29" name="文本框 80941"/>
            <p:cNvSpPr txBox="1"/>
            <p:nvPr/>
          </p:nvSpPr>
          <p:spPr>
            <a:xfrm>
              <a:off x="3552" y="1632"/>
              <a:ext cx="624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ES</a:t>
              </a:r>
              <a:endParaRPr lang="en-US" altLang="zh-CN" sz="1800" b="0" i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30" name="文本框 80942"/>
            <p:cNvSpPr txBox="1"/>
            <p:nvPr/>
          </p:nvSpPr>
          <p:spPr>
            <a:xfrm>
              <a:off x="3648" y="1440"/>
              <a:ext cx="384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SS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31" name="文本框 80943"/>
            <p:cNvSpPr txBox="1"/>
            <p:nvPr/>
          </p:nvSpPr>
          <p:spPr>
            <a:xfrm>
              <a:off x="3648" y="1248"/>
              <a:ext cx="432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DS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32" name="文本框 80944"/>
            <p:cNvSpPr txBox="1"/>
            <p:nvPr/>
          </p:nvSpPr>
          <p:spPr>
            <a:xfrm>
              <a:off x="3648" y="1056"/>
              <a:ext cx="528" cy="23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CS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33" name="文本框 80945"/>
            <p:cNvSpPr txBox="1"/>
            <p:nvPr/>
          </p:nvSpPr>
          <p:spPr>
            <a:xfrm>
              <a:off x="4560" y="1440"/>
              <a:ext cx="816" cy="40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输入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输出控制电路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34" name="文本框 80946"/>
            <p:cNvSpPr txBox="1"/>
            <p:nvPr/>
          </p:nvSpPr>
          <p:spPr>
            <a:xfrm>
              <a:off x="5471" y="1872"/>
              <a:ext cx="289" cy="12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外部总线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35" name="直接连接符 80947"/>
            <p:cNvSpPr/>
            <p:nvPr/>
          </p:nvSpPr>
          <p:spPr>
            <a:xfrm>
              <a:off x="2928" y="3024"/>
              <a:ext cx="432" cy="0"/>
            </a:xfrm>
            <a:prstGeom prst="line">
              <a:avLst/>
            </a:prstGeom>
            <a:ln w="95250" cap="flat" cmpd="sng">
              <a:solidFill>
                <a:srgbClr val="996600"/>
              </a:solidFill>
              <a:prstDash val="solid"/>
              <a:headEnd type="triangle" w="sm" len="sm"/>
              <a:tailEnd type="none" w="med" len="med"/>
            </a:ln>
          </p:spPr>
        </p:sp>
        <p:sp>
          <p:nvSpPr>
            <p:cNvPr id="42036" name="直接连接符 80948"/>
            <p:cNvSpPr/>
            <p:nvPr/>
          </p:nvSpPr>
          <p:spPr>
            <a:xfrm>
              <a:off x="5040" y="1920"/>
              <a:ext cx="0" cy="1104"/>
            </a:xfrm>
            <a:prstGeom prst="line">
              <a:avLst/>
            </a:prstGeom>
            <a:ln w="101600" cap="flat" cmpd="sng">
              <a:solidFill>
                <a:srgbClr val="99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7" name="直接连接符 80949"/>
            <p:cNvSpPr/>
            <p:nvPr/>
          </p:nvSpPr>
          <p:spPr>
            <a:xfrm>
              <a:off x="4224" y="3024"/>
              <a:ext cx="816" cy="0"/>
            </a:xfrm>
            <a:prstGeom prst="line">
              <a:avLst/>
            </a:prstGeom>
            <a:ln w="95250" cap="flat" cmpd="sng">
              <a:solidFill>
                <a:srgbClr val="996600"/>
              </a:solidFill>
              <a:prstDash val="solid"/>
              <a:headEnd type="triangle" w="sm" len="sm"/>
              <a:tailEnd type="none" w="med" len="med"/>
            </a:ln>
          </p:spPr>
        </p:sp>
        <p:sp>
          <p:nvSpPr>
            <p:cNvPr id="42038" name="直接连接符 80950"/>
            <p:cNvSpPr/>
            <p:nvPr/>
          </p:nvSpPr>
          <p:spPr>
            <a:xfrm>
              <a:off x="3216" y="2448"/>
              <a:ext cx="0" cy="576"/>
            </a:xfrm>
            <a:prstGeom prst="line">
              <a:avLst/>
            </a:prstGeom>
            <a:ln w="88900" cap="flat" cmpd="sng">
              <a:solidFill>
                <a:srgbClr val="996600"/>
              </a:solidFill>
              <a:prstDash val="solid"/>
              <a:headEnd type="triangle" w="sm" len="sm"/>
              <a:tailEnd type="none" w="med" len="med"/>
            </a:ln>
          </p:spPr>
        </p:sp>
        <p:sp>
          <p:nvSpPr>
            <p:cNvPr id="42039" name="直接连接符 80951"/>
            <p:cNvSpPr/>
            <p:nvPr/>
          </p:nvSpPr>
          <p:spPr>
            <a:xfrm>
              <a:off x="3120" y="2160"/>
              <a:ext cx="336" cy="0"/>
            </a:xfrm>
            <a:prstGeom prst="line">
              <a:avLst/>
            </a:prstGeom>
            <a:ln w="88900" cap="flat" cmpd="sng">
              <a:solidFill>
                <a:srgbClr val="9966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42040" name="直接连接符 80952"/>
            <p:cNvSpPr/>
            <p:nvPr/>
          </p:nvSpPr>
          <p:spPr>
            <a:xfrm flipH="1">
              <a:off x="3120" y="2160"/>
              <a:ext cx="1" cy="240"/>
            </a:xfrm>
            <a:prstGeom prst="line">
              <a:avLst/>
            </a:prstGeom>
            <a:ln w="88900" cap="flat" cmpd="sng">
              <a:solidFill>
                <a:srgbClr val="996600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42041" name="文本框 80953"/>
            <p:cNvSpPr txBox="1"/>
            <p:nvPr/>
          </p:nvSpPr>
          <p:spPr>
            <a:xfrm>
              <a:off x="2256" y="2832"/>
              <a:ext cx="720" cy="40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执行部分控制电路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42" name="直接连接符 80954"/>
            <p:cNvSpPr/>
            <p:nvPr/>
          </p:nvSpPr>
          <p:spPr>
            <a:xfrm>
              <a:off x="2112" y="2256"/>
              <a:ext cx="0" cy="1488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3" name="直接连接符 80955"/>
            <p:cNvSpPr/>
            <p:nvPr/>
          </p:nvSpPr>
          <p:spPr>
            <a:xfrm>
              <a:off x="1680" y="2256"/>
              <a:ext cx="432" cy="0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4" name="直接连接符 80956"/>
            <p:cNvSpPr/>
            <p:nvPr/>
          </p:nvSpPr>
          <p:spPr>
            <a:xfrm>
              <a:off x="1680" y="2112"/>
              <a:ext cx="0" cy="144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42045" name="直接连接符 80957"/>
            <p:cNvSpPr/>
            <p:nvPr/>
          </p:nvSpPr>
          <p:spPr>
            <a:xfrm>
              <a:off x="1824" y="3024"/>
              <a:ext cx="384" cy="0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42046" name="直接连接符 80958"/>
            <p:cNvSpPr/>
            <p:nvPr/>
          </p:nvSpPr>
          <p:spPr>
            <a:xfrm>
              <a:off x="1920" y="3744"/>
              <a:ext cx="192" cy="0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42047" name="直接连接符 80959"/>
            <p:cNvSpPr/>
            <p:nvPr/>
          </p:nvSpPr>
          <p:spPr>
            <a:xfrm>
              <a:off x="3504" y="2880"/>
              <a:ext cx="0" cy="288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48" name="直接连接符 80960"/>
            <p:cNvSpPr/>
            <p:nvPr/>
          </p:nvSpPr>
          <p:spPr>
            <a:xfrm>
              <a:off x="3648" y="2880"/>
              <a:ext cx="0" cy="288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49" name="直接连接符 80961"/>
            <p:cNvSpPr/>
            <p:nvPr/>
          </p:nvSpPr>
          <p:spPr>
            <a:xfrm>
              <a:off x="3792" y="2880"/>
              <a:ext cx="0" cy="288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50" name="直接连接符 80962"/>
            <p:cNvSpPr/>
            <p:nvPr/>
          </p:nvSpPr>
          <p:spPr>
            <a:xfrm>
              <a:off x="3936" y="2880"/>
              <a:ext cx="0" cy="288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51" name="直接连接符 80963"/>
            <p:cNvSpPr/>
            <p:nvPr/>
          </p:nvSpPr>
          <p:spPr>
            <a:xfrm>
              <a:off x="4080" y="2880"/>
              <a:ext cx="0" cy="288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52" name="文本框 80964"/>
            <p:cNvSpPr txBox="1"/>
            <p:nvPr/>
          </p:nvSpPr>
          <p:spPr>
            <a:xfrm>
              <a:off x="3360" y="2928"/>
              <a:ext cx="912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1 2  3  4  5  6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53" name="直接连接符 80965"/>
            <p:cNvSpPr/>
            <p:nvPr/>
          </p:nvSpPr>
          <p:spPr>
            <a:xfrm>
              <a:off x="3024" y="480"/>
              <a:ext cx="0" cy="3696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lgDashDot"/>
              <a:headEnd type="none" w="med" len="med"/>
              <a:tailEnd type="none" w="sm" len="sm"/>
            </a:ln>
          </p:spPr>
        </p:sp>
        <p:sp>
          <p:nvSpPr>
            <p:cNvPr id="42054" name="直接连接符 80966"/>
            <p:cNvSpPr/>
            <p:nvPr/>
          </p:nvSpPr>
          <p:spPr>
            <a:xfrm>
              <a:off x="5472" y="144"/>
              <a:ext cx="0" cy="3984"/>
            </a:xfrm>
            <a:prstGeom prst="line">
              <a:avLst/>
            </a:prstGeom>
            <a:ln w="12700" cap="flat" cmpd="sng">
              <a:solidFill>
                <a:srgbClr val="996600"/>
              </a:solidFill>
              <a:prstDash val="lgDashDot"/>
              <a:headEnd type="none" w="med" len="med"/>
              <a:tailEnd type="none" w="sm" len="sm"/>
            </a:ln>
          </p:spPr>
        </p:sp>
        <p:sp>
          <p:nvSpPr>
            <p:cNvPr id="42055" name="文本框 80967"/>
            <p:cNvSpPr txBox="1"/>
            <p:nvPr/>
          </p:nvSpPr>
          <p:spPr>
            <a:xfrm>
              <a:off x="3717" y="336"/>
              <a:ext cx="336" cy="288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∑</a:t>
              </a:r>
              <a:endParaRPr lang="en-US" altLang="zh-CN" sz="2400" dirty="0">
                <a:latin typeface="Tahoma" panose="020B0604030504040204" pitchFamily="34" charset="0"/>
              </a:endParaRPr>
            </a:p>
          </p:txBody>
        </p:sp>
        <p:sp>
          <p:nvSpPr>
            <p:cNvPr id="42056" name="文本框 80968"/>
            <p:cNvSpPr txBox="1"/>
            <p:nvPr/>
          </p:nvSpPr>
          <p:spPr>
            <a:xfrm>
              <a:off x="1104" y="2976"/>
              <a:ext cx="528" cy="288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ALU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57" name="文本框 80969"/>
            <p:cNvSpPr txBox="1"/>
            <p:nvPr/>
          </p:nvSpPr>
          <p:spPr>
            <a:xfrm>
              <a:off x="912" y="3648"/>
              <a:ext cx="96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标志寄存器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58" name="文本框 80970"/>
            <p:cNvSpPr txBox="1"/>
            <p:nvPr/>
          </p:nvSpPr>
          <p:spPr>
            <a:xfrm>
              <a:off x="864" y="576"/>
              <a:ext cx="96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  AH      AL   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59" name="文本框 80971"/>
            <p:cNvSpPr txBox="1"/>
            <p:nvPr/>
          </p:nvSpPr>
          <p:spPr>
            <a:xfrm>
              <a:off x="912" y="768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BH      BL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0" name="文本框 80972"/>
            <p:cNvSpPr txBox="1"/>
            <p:nvPr/>
          </p:nvSpPr>
          <p:spPr>
            <a:xfrm>
              <a:off x="960" y="960"/>
              <a:ext cx="81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CH      CL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1" name="文本框 80973"/>
            <p:cNvSpPr txBox="1"/>
            <p:nvPr/>
          </p:nvSpPr>
          <p:spPr>
            <a:xfrm>
              <a:off x="912" y="1152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DH      DL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2" name="文本框 80974"/>
            <p:cNvSpPr txBox="1"/>
            <p:nvPr/>
          </p:nvSpPr>
          <p:spPr>
            <a:xfrm>
              <a:off x="1056" y="1344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   SP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3" name="文本框 80975"/>
            <p:cNvSpPr txBox="1"/>
            <p:nvPr/>
          </p:nvSpPr>
          <p:spPr>
            <a:xfrm>
              <a:off x="1056" y="1536"/>
              <a:ext cx="528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   BP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4" name="文本框 80976"/>
            <p:cNvSpPr txBox="1"/>
            <p:nvPr/>
          </p:nvSpPr>
          <p:spPr>
            <a:xfrm>
              <a:off x="1056" y="1728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   SI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5" name="文本框 80977"/>
            <p:cNvSpPr txBox="1"/>
            <p:nvPr/>
          </p:nvSpPr>
          <p:spPr>
            <a:xfrm>
              <a:off x="1104" y="1920"/>
              <a:ext cx="48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</a:rPr>
                <a:t>   DI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6" name="文本框 80978"/>
            <p:cNvSpPr txBox="1"/>
            <p:nvPr/>
          </p:nvSpPr>
          <p:spPr>
            <a:xfrm>
              <a:off x="1872" y="624"/>
              <a:ext cx="960" cy="240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lnSpc>
                  <a:spcPct val="105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通用寄存器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7" name="文本框 80979"/>
            <p:cNvSpPr txBox="1"/>
            <p:nvPr/>
          </p:nvSpPr>
          <p:spPr>
            <a:xfrm>
              <a:off x="2784" y="144"/>
              <a:ext cx="1008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地址加法器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8" name="文本框 80980"/>
            <p:cNvSpPr txBox="1"/>
            <p:nvPr/>
          </p:nvSpPr>
          <p:spPr>
            <a:xfrm>
              <a:off x="3312" y="3216"/>
              <a:ext cx="120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</a:rPr>
                <a:t>指令队列缓冲器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69" name="文本框 80981"/>
            <p:cNvSpPr txBox="1"/>
            <p:nvPr/>
          </p:nvSpPr>
          <p:spPr>
            <a:xfrm>
              <a:off x="1920" y="3984"/>
              <a:ext cx="1152" cy="212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</a:rPr>
                <a:t>执行部件 （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EU)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2070" name="文本框 80982"/>
            <p:cNvSpPr txBox="1"/>
            <p:nvPr/>
          </p:nvSpPr>
          <p:spPr>
            <a:xfrm>
              <a:off x="3696" y="3936"/>
              <a:ext cx="1632" cy="212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</a:rPr>
                <a:t>总线接口部件 （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BIU)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42071" name="直接连接符 80983"/>
            <p:cNvSpPr/>
            <p:nvPr/>
          </p:nvSpPr>
          <p:spPr>
            <a:xfrm flipH="1">
              <a:off x="2350" y="2350"/>
              <a:ext cx="240" cy="193"/>
            </a:xfrm>
            <a:prstGeom prst="line">
              <a:avLst/>
            </a:prstGeom>
            <a:ln w="12700" cap="flat" cmpd="sng">
              <a:solidFill>
                <a:srgbClr val="A50021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72" name="文本框 80984"/>
            <p:cNvSpPr txBox="1"/>
            <p:nvPr/>
          </p:nvSpPr>
          <p:spPr>
            <a:xfrm>
              <a:off x="2352" y="2160"/>
              <a:ext cx="576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16</a:t>
              </a:r>
              <a:r>
                <a:rPr lang="zh-CN" altLang="en-US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73" name="直接连接符 80985"/>
            <p:cNvSpPr/>
            <p:nvPr/>
          </p:nvSpPr>
          <p:spPr>
            <a:xfrm flipH="1">
              <a:off x="4464" y="144"/>
              <a:ext cx="240" cy="192"/>
            </a:xfrm>
            <a:prstGeom prst="line">
              <a:avLst/>
            </a:prstGeom>
            <a:ln w="12700" cap="flat" cmpd="sng">
              <a:solidFill>
                <a:srgbClr val="A50021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74" name="文本框 80986"/>
            <p:cNvSpPr txBox="1"/>
            <p:nvPr/>
          </p:nvSpPr>
          <p:spPr>
            <a:xfrm>
              <a:off x="4368" y="288"/>
              <a:ext cx="576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20</a:t>
              </a:r>
              <a:r>
                <a:rPr lang="zh-CN" altLang="en-US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75" name="直接连接符 80987"/>
            <p:cNvSpPr/>
            <p:nvPr/>
          </p:nvSpPr>
          <p:spPr>
            <a:xfrm flipH="1">
              <a:off x="4560" y="816"/>
              <a:ext cx="192" cy="192"/>
            </a:xfrm>
            <a:prstGeom prst="line">
              <a:avLst/>
            </a:prstGeom>
            <a:ln w="12700" cap="flat" cmpd="sng">
              <a:solidFill>
                <a:srgbClr val="A50021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76" name="文本框 80988"/>
            <p:cNvSpPr txBox="1"/>
            <p:nvPr/>
          </p:nvSpPr>
          <p:spPr>
            <a:xfrm>
              <a:off x="4464" y="960"/>
              <a:ext cx="528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16</a:t>
              </a:r>
              <a:r>
                <a:rPr lang="zh-CN" altLang="en-US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77" name="直接连接符 80989"/>
            <p:cNvSpPr/>
            <p:nvPr/>
          </p:nvSpPr>
          <p:spPr>
            <a:xfrm flipH="1">
              <a:off x="3120" y="2928"/>
              <a:ext cx="192" cy="192"/>
            </a:xfrm>
            <a:prstGeom prst="line">
              <a:avLst/>
            </a:prstGeom>
            <a:ln w="12700" cap="flat" cmpd="sng">
              <a:solidFill>
                <a:srgbClr val="A50021"/>
              </a:solidFill>
              <a:prstDash val="solid"/>
              <a:headEnd type="none" w="med" len="med"/>
              <a:tailEnd type="none" w="sm" len="sm"/>
            </a:ln>
          </p:spPr>
        </p:sp>
        <p:sp>
          <p:nvSpPr>
            <p:cNvPr id="42078" name="文本框 80990"/>
            <p:cNvSpPr txBox="1"/>
            <p:nvPr/>
          </p:nvSpPr>
          <p:spPr>
            <a:xfrm>
              <a:off x="3024" y="3072"/>
              <a:ext cx="480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1600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split orient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3010" name="标题 8192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8086</a:t>
            </a:r>
            <a:r>
              <a:rPr lang="zh-CN" altLang="en-US" dirty="0"/>
              <a:t>的寄存器</a:t>
            </a:r>
            <a:endParaRPr lang="zh-CN" altLang="en-US" dirty="0"/>
          </a:p>
        </p:txBody>
      </p:sp>
      <p:pic>
        <p:nvPicPr>
          <p:cNvPr id="43011" name="图片 81923" descr="hy01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9144000" cy="6237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标题 8294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通用寄存器</a:t>
            </a:r>
            <a:endParaRPr lang="zh-CN" altLang="en-US" dirty="0"/>
          </a:p>
        </p:txBody>
      </p:sp>
      <p:sp>
        <p:nvSpPr>
          <p:cNvPr id="44035" name="文本占位符 8294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3200" dirty="0"/>
              <a:t>8086</a:t>
            </a:r>
            <a:r>
              <a:rPr lang="zh-CN" altLang="en-US" sz="3200" dirty="0"/>
              <a:t>的</a:t>
            </a:r>
            <a:r>
              <a:rPr lang="en-US" altLang="zh-CN" sz="3200" dirty="0"/>
              <a:t>16</a:t>
            </a:r>
            <a:r>
              <a:rPr lang="zh-CN" altLang="en-US" sz="3200" dirty="0"/>
              <a:t>位通用寄存器是：</a:t>
            </a:r>
            <a:endParaRPr lang="zh-CN" altLang="en-US" sz="32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zh-CN" dirty="0">
                <a:solidFill>
                  <a:schemeClr val="accent2"/>
                </a:solidFill>
              </a:rPr>
              <a:t>	</a:t>
            </a:r>
            <a:r>
              <a:rPr lang="en-US" altLang="zh-CN" sz="2800" dirty="0">
                <a:solidFill>
                  <a:schemeClr val="accent2"/>
                </a:solidFill>
              </a:rPr>
              <a:t>AX	BX	CX	DX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	SI	DI	BP	SP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3200" dirty="0"/>
              <a:t>其中前</a:t>
            </a:r>
            <a:r>
              <a:rPr lang="en-US" altLang="zh-CN" sz="3200" dirty="0"/>
              <a:t>4</a:t>
            </a:r>
            <a:r>
              <a:rPr lang="zh-CN" altLang="en-US" sz="3200" dirty="0"/>
              <a:t>个数据寄存器都还可以分成高</a:t>
            </a:r>
            <a:r>
              <a:rPr lang="en-US" altLang="zh-CN" sz="3200" dirty="0"/>
              <a:t>8</a:t>
            </a:r>
            <a:r>
              <a:rPr lang="zh-CN" altLang="en-US" sz="3200" dirty="0"/>
              <a:t>位和低</a:t>
            </a:r>
            <a:r>
              <a:rPr lang="en-US" altLang="zh-CN" sz="3200" dirty="0"/>
              <a:t>8</a:t>
            </a:r>
            <a:r>
              <a:rPr lang="zh-CN" altLang="en-US" sz="3200" dirty="0"/>
              <a:t>位两个独立的寄存器</a:t>
            </a:r>
            <a:endParaRPr lang="zh-CN" altLang="en-US" sz="32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3200" dirty="0"/>
              <a:t>8086</a:t>
            </a:r>
            <a:r>
              <a:rPr lang="zh-CN" altLang="en-US" sz="3200" dirty="0"/>
              <a:t>的</a:t>
            </a:r>
            <a:r>
              <a:rPr lang="en-US" altLang="zh-CN" sz="3200" dirty="0"/>
              <a:t>8</a:t>
            </a:r>
            <a:r>
              <a:rPr lang="zh-CN" altLang="en-US" sz="3200" dirty="0"/>
              <a:t>位通用寄存器是：</a:t>
            </a:r>
            <a:endParaRPr lang="zh-CN" altLang="en-US" sz="3200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AH	BH	CH	DH</a:t>
            </a:r>
            <a:endParaRPr lang="en-US" altLang="zh-CN" dirty="0">
              <a:solidFill>
                <a:schemeClr val="accent2"/>
              </a:solidFill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AL	BL	CL	DL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3200" dirty="0"/>
              <a:t>对其中某</a:t>
            </a:r>
            <a:r>
              <a:rPr lang="en-US" altLang="zh-CN" sz="3200" dirty="0"/>
              <a:t>8</a:t>
            </a:r>
            <a:r>
              <a:rPr lang="zh-CN" altLang="en-US" sz="3200" dirty="0"/>
              <a:t>位的操作，并不影响另外对应</a:t>
            </a:r>
            <a:r>
              <a:rPr lang="en-US" altLang="zh-CN" sz="3200" dirty="0"/>
              <a:t>8</a:t>
            </a:r>
            <a:r>
              <a:rPr lang="zh-CN" altLang="en-US" sz="3200" dirty="0"/>
              <a:t>位的数据</a:t>
            </a:r>
            <a:endParaRPr lang="zh-CN" altLang="en-US" sz="32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标题 8396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数据寄存器</a:t>
            </a:r>
            <a:endParaRPr lang="zh-CN" altLang="en-US" dirty="0"/>
          </a:p>
        </p:txBody>
      </p:sp>
      <p:sp>
        <p:nvSpPr>
          <p:cNvPr id="45059" name="文本占位符 8397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数据寄存器用来存放计算的结果和操作数，也可以存放地址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每个寄存器又有它们各自的专用目的</a:t>
            </a:r>
            <a:endParaRPr lang="zh-CN" altLang="en-US" sz="3200" dirty="0"/>
          </a:p>
          <a:p>
            <a:pPr lvl="1" eaLnBrk="1" hangingPunct="1"/>
            <a:r>
              <a:rPr lang="en-US" altLang="zh-CN" sz="2800" dirty="0"/>
              <a:t>AX</a:t>
            </a:r>
            <a:r>
              <a:rPr lang="zh-CN" altLang="en-US" sz="2800" dirty="0"/>
              <a:t>－－累加器，使用频度最高，用于算术、逻辑运算以及与外设传送信息等；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/>
              <a:t>BX</a:t>
            </a:r>
            <a:r>
              <a:rPr lang="zh-CN" altLang="en-US" sz="2800" dirty="0"/>
              <a:t>－－基址寄存器，常用做存放存储器地址；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/>
              <a:t>CX</a:t>
            </a:r>
            <a:r>
              <a:rPr lang="zh-CN" altLang="en-US" sz="2800" dirty="0"/>
              <a:t>－－计数器，作为循环和串操作等指令中的隐含计数器；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/>
              <a:t>DX</a:t>
            </a:r>
            <a:r>
              <a:rPr lang="zh-CN" altLang="en-US" sz="2800" dirty="0"/>
              <a:t>－－数据寄存器，常用来存放双字长数据的高</a:t>
            </a:r>
            <a:r>
              <a:rPr lang="en-US" altLang="zh-CN" sz="2800" dirty="0"/>
              <a:t>16</a:t>
            </a:r>
            <a:r>
              <a:rPr lang="zh-CN" altLang="en-US" sz="2800" dirty="0"/>
              <a:t>位，或存放外设端口地址。</a:t>
            </a:r>
            <a:endParaRPr lang="zh-CN" altLang="en-US" sz="2800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8499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变址及指针寄存器</a:t>
            </a:r>
            <a:endParaRPr lang="zh-CN" altLang="en-US" dirty="0"/>
          </a:p>
        </p:txBody>
      </p:sp>
      <p:sp>
        <p:nvSpPr>
          <p:cNvPr id="46083" name="文本占位符 8499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变址寄存器常用于存储器寻址时提供地址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>
                <a:solidFill>
                  <a:schemeClr val="accent2"/>
                </a:solidFill>
              </a:rPr>
              <a:t>SI</a:t>
            </a:r>
            <a:r>
              <a:rPr lang="zh-CN" altLang="en-US" sz="2800" dirty="0"/>
              <a:t>是源变址寄存器</a:t>
            </a:r>
            <a:endParaRPr lang="zh-CN" altLang="en-US" sz="2800" dirty="0"/>
          </a:p>
          <a:p>
            <a:pPr lvl="1" eaLnBrk="1" hangingPunct="1"/>
            <a:r>
              <a:rPr lang="en-US" altLang="zh-CN" sz="2800" dirty="0">
                <a:solidFill>
                  <a:schemeClr val="accent2"/>
                </a:solidFill>
              </a:rPr>
              <a:t>DI</a:t>
            </a:r>
            <a:r>
              <a:rPr lang="zh-CN" altLang="en-US" sz="2800" dirty="0"/>
              <a:t>是目的变址寄存器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latin typeface="宋体" panose="02010600030101010101" pitchFamily="2" charset="-122"/>
              </a:rPr>
              <a:t>指针寄存器用于寻址内存</a:t>
            </a:r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</a:rPr>
              <a:t>堆栈</a:t>
            </a:r>
            <a:r>
              <a:rPr lang="zh-CN" altLang="en-US" sz="2800" dirty="0">
                <a:latin typeface="宋体" panose="02010600030101010101" pitchFamily="2" charset="-122"/>
              </a:rPr>
              <a:t>内的数据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</a:rPr>
              <a:t>SP</a:t>
            </a:r>
            <a:r>
              <a:rPr lang="zh-CN" altLang="en-US" sz="2800" dirty="0">
                <a:latin typeface="宋体" panose="02010600030101010101" pitchFamily="2" charset="-122"/>
              </a:rPr>
              <a:t>为堆栈指针寄存器，指示栈顶的偏移地址，不能再用于其他目的，具有专用目的</a:t>
            </a:r>
            <a:endParaRPr lang="zh-CN" altLang="zh-CN" sz="2800" dirty="0"/>
          </a:p>
          <a:p>
            <a:pPr lvl="1" eaLnBrk="1" hangingPunct="1"/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</a:rPr>
              <a:t>BP</a:t>
            </a:r>
            <a:r>
              <a:rPr lang="zh-CN" altLang="en-US" sz="2800" dirty="0">
                <a:latin typeface="宋体" panose="02010600030101010101" pitchFamily="2" charset="-122"/>
              </a:rPr>
              <a:t>为基址指针寄存器，表示数据在堆栈段中的基地址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latin typeface="宋体" panose="02010600030101010101" pitchFamily="2" charset="-122"/>
              </a:rPr>
              <a:t>SI</a:t>
            </a:r>
            <a:r>
              <a:rPr lang="zh-CN" altLang="en-US" sz="2800" dirty="0">
                <a:latin typeface="宋体" panose="02010600030101010101" pitchFamily="2" charset="-122"/>
              </a:rPr>
              <a:t>和</a:t>
            </a:r>
            <a:r>
              <a:rPr lang="en-US" altLang="zh-CN" sz="2800" dirty="0">
                <a:latin typeface="宋体" panose="02010600030101010101" pitchFamily="2" charset="-122"/>
              </a:rPr>
              <a:t>DI</a:t>
            </a:r>
            <a:r>
              <a:rPr lang="zh-CN" altLang="en-US" sz="2800" dirty="0">
                <a:latin typeface="宋体" panose="02010600030101010101" pitchFamily="2" charset="-122"/>
              </a:rPr>
              <a:t>在串操作指令有特殊用法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latin typeface="宋体" panose="02010600030101010101" pitchFamily="2" charset="-122"/>
              </a:rPr>
              <a:t>SP</a:t>
            </a:r>
            <a:r>
              <a:rPr lang="zh-CN" altLang="en-US" sz="2800" dirty="0">
                <a:latin typeface="宋体" panose="02010600030101010101" pitchFamily="2" charset="-122"/>
              </a:rPr>
              <a:t>和</a:t>
            </a:r>
            <a:r>
              <a:rPr lang="en-US" altLang="zh-CN" sz="2800" dirty="0">
                <a:latin typeface="宋体" panose="02010600030101010101" pitchFamily="2" charset="-122"/>
              </a:rPr>
              <a:t>BP</a:t>
            </a:r>
            <a:r>
              <a:rPr lang="zh-CN" altLang="en-US" sz="2800" dirty="0">
                <a:latin typeface="宋体" panose="02010600030101010101" pitchFamily="2" charset="-122"/>
              </a:rPr>
              <a:t>寄存器与</a:t>
            </a:r>
            <a:r>
              <a:rPr lang="en-US" altLang="zh-CN" sz="2800" dirty="0">
                <a:latin typeface="宋体" panose="02010600030101010101" pitchFamily="2" charset="-122"/>
              </a:rPr>
              <a:t>SS</a:t>
            </a:r>
            <a:r>
              <a:rPr lang="zh-CN" altLang="en-US" sz="2800" dirty="0">
                <a:latin typeface="宋体" panose="02010600030101010101" pitchFamily="2" charset="-122"/>
              </a:rPr>
              <a:t>段寄存器联合使用确定堆栈段中的存储单元地址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8704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堆栈（</a:t>
            </a:r>
            <a:r>
              <a:rPr lang="en-US" altLang="zh-CN" dirty="0"/>
              <a:t>Stack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7107" name="文本占位符 87042"/>
          <p:cNvSpPr>
            <a:spLocks noGrp="1"/>
          </p:cNvSpPr>
          <p:nvPr>
            <p:ph idx="1"/>
          </p:nvPr>
        </p:nvSpPr>
        <p:spPr>
          <a:xfrm>
            <a:off x="395288" y="981075"/>
            <a:ext cx="8267700" cy="494347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堆栈是主存中一个特殊的区域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它采用</a:t>
            </a:r>
            <a:r>
              <a:rPr lang="zh-CN" altLang="en-US" sz="3200" i="1" dirty="0">
                <a:solidFill>
                  <a:srgbClr val="CC3300"/>
                </a:solidFill>
                <a:latin typeface="宋体" panose="02010600030101010101" pitchFamily="2" charset="-122"/>
              </a:rPr>
              <a:t>先进后出</a:t>
            </a:r>
            <a:r>
              <a:rPr lang="en-US" altLang="zh-CN" sz="3200" i="1" dirty="0">
                <a:solidFill>
                  <a:srgbClr val="CC3300"/>
                </a:solidFill>
                <a:latin typeface="宋体" panose="02010600030101010101" pitchFamily="2" charset="-122"/>
              </a:rPr>
              <a:t>FILO</a:t>
            </a:r>
            <a:r>
              <a:rPr lang="zh-CN" altLang="en-US" sz="3200" dirty="0">
                <a:latin typeface="宋体" panose="02010600030101010101" pitchFamily="2" charset="-122"/>
              </a:rPr>
              <a:t>（</a:t>
            </a:r>
            <a:r>
              <a:rPr lang="en-US" altLang="zh-CN" sz="3200" dirty="0">
                <a:latin typeface="宋体" panose="02010600030101010101" pitchFamily="2" charset="-122"/>
              </a:rPr>
              <a:t>First In Last Out</a:t>
            </a:r>
            <a:r>
              <a:rPr lang="zh-CN" altLang="en-US" sz="3200" dirty="0">
                <a:latin typeface="宋体" panose="02010600030101010101" pitchFamily="2" charset="-122"/>
              </a:rPr>
              <a:t>）或后进先出</a:t>
            </a:r>
            <a:r>
              <a:rPr lang="en-US" altLang="zh-CN" sz="3200" dirty="0">
                <a:latin typeface="宋体" panose="02010600030101010101" pitchFamily="2" charset="-122"/>
              </a:rPr>
              <a:t>LIFO</a:t>
            </a:r>
            <a:r>
              <a:rPr lang="zh-CN" altLang="en-US" sz="3200" dirty="0">
                <a:latin typeface="宋体" panose="02010600030101010101" pitchFamily="2" charset="-122"/>
              </a:rPr>
              <a:t>（</a:t>
            </a:r>
            <a:r>
              <a:rPr lang="en-US" altLang="zh-CN" sz="3200" dirty="0">
                <a:latin typeface="宋体" panose="02010600030101010101" pitchFamily="2" charset="-122"/>
              </a:rPr>
              <a:t>Last In First Out</a:t>
            </a:r>
            <a:r>
              <a:rPr lang="zh-CN" altLang="en-US" sz="3200" dirty="0">
                <a:latin typeface="宋体" panose="02010600030101010101" pitchFamily="2" charset="-122"/>
              </a:rPr>
              <a:t>）的原则进行存取操作，而不是随机存取操作方式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堆栈通常由处理器自动维护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在</a:t>
            </a:r>
            <a:r>
              <a:rPr lang="en-US" altLang="zh-CN" sz="3200" dirty="0">
                <a:latin typeface="宋体" panose="02010600030101010101" pitchFamily="2" charset="-122"/>
              </a:rPr>
              <a:t>8086</a:t>
            </a:r>
            <a:r>
              <a:rPr lang="zh-CN" altLang="en-US" sz="3200" dirty="0">
                <a:latin typeface="宋体" panose="02010600030101010101" pitchFamily="2" charset="-122"/>
              </a:rPr>
              <a:t>中，由堆栈段寄存器</a:t>
            </a:r>
            <a:r>
              <a:rPr lang="en-US" altLang="zh-CN" sz="3200" dirty="0">
                <a:latin typeface="宋体" panose="02010600030101010101" pitchFamily="2" charset="-122"/>
              </a:rPr>
              <a:t>SS</a:t>
            </a:r>
            <a:r>
              <a:rPr lang="zh-CN" altLang="en-US" sz="3200" dirty="0">
                <a:latin typeface="宋体" panose="02010600030101010101" pitchFamily="2" charset="-122"/>
              </a:rPr>
              <a:t>和堆栈指针寄存器</a:t>
            </a:r>
            <a:r>
              <a:rPr lang="en-US" altLang="zh-CN" sz="3200" dirty="0">
                <a:latin typeface="宋体" panose="02010600030101010101" pitchFamily="2" charset="-122"/>
              </a:rPr>
              <a:t>SP</a:t>
            </a:r>
            <a:r>
              <a:rPr lang="zh-CN" altLang="en-US" sz="3200" dirty="0">
                <a:latin typeface="宋体" panose="02010600030101010101" pitchFamily="2" charset="-122"/>
              </a:rPr>
              <a:t>共同指示</a:t>
            </a:r>
            <a:endParaRPr lang="zh-CN" altLang="en-US" sz="3200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8908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标志寄存器</a:t>
            </a:r>
            <a:endParaRPr lang="zh-CN" altLang="en-US" dirty="0"/>
          </a:p>
        </p:txBody>
      </p:sp>
      <p:sp>
        <p:nvSpPr>
          <p:cNvPr id="48131" name="文本占位符 89090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5354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标志（</a:t>
            </a:r>
            <a:r>
              <a:rPr lang="en-US" altLang="zh-CN" sz="2800" dirty="0"/>
              <a:t>Flag</a:t>
            </a:r>
            <a:r>
              <a:rPr lang="zh-CN" altLang="en-US" sz="2800" dirty="0"/>
              <a:t>）用于反映指令执行结果或控制指令执行形式，形成</a:t>
            </a:r>
            <a:r>
              <a:rPr lang="en-US" altLang="zh-CN" sz="2800" dirty="0"/>
              <a:t>16</a:t>
            </a:r>
            <a:r>
              <a:rPr lang="zh-CN" altLang="en-US" sz="2800" dirty="0"/>
              <a:t>位标志寄存器</a:t>
            </a:r>
            <a:r>
              <a:rPr lang="en-US" altLang="zh-CN" sz="2800" dirty="0"/>
              <a:t>FLAGS</a:t>
            </a:r>
            <a:r>
              <a:rPr lang="zh-CN" altLang="en-US" sz="2800" dirty="0"/>
              <a:t>（程序状态字</a:t>
            </a:r>
            <a:r>
              <a:rPr lang="en-US" altLang="zh-CN" sz="2800" dirty="0"/>
              <a:t>PSW</a:t>
            </a:r>
            <a:r>
              <a:rPr lang="zh-CN" altLang="en-US" sz="2800" dirty="0"/>
              <a:t>寄存器</a:t>
            </a:r>
            <a:r>
              <a:rPr lang="zh-CN" altLang="zh-CN" sz="2800" dirty="0"/>
              <a:t>）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状态标志－－用来记录程序运行结果的状态信息，许多指令的执行都将相应地设置它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CF  ZF  SF  PF  OF  AF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sz="2800" dirty="0"/>
              <a:t>控制标志－－可由程序根据需要用指令设置，用于控制处理器执行指令的方式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DF   IF   TF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grpSp>
        <p:nvGrpSpPr>
          <p:cNvPr id="48132" name="组合 89091"/>
          <p:cNvGrpSpPr/>
          <p:nvPr/>
        </p:nvGrpSpPr>
        <p:grpSpPr>
          <a:xfrm>
            <a:off x="107950" y="5283200"/>
            <a:ext cx="8991600" cy="882650"/>
            <a:chOff x="96" y="2976"/>
            <a:chExt cx="5664" cy="556"/>
          </a:xfrm>
        </p:grpSpPr>
        <p:sp>
          <p:nvSpPr>
            <p:cNvPr id="48133" name="文本框 89092"/>
            <p:cNvSpPr txBox="1"/>
            <p:nvPr/>
          </p:nvSpPr>
          <p:spPr>
            <a:xfrm>
              <a:off x="905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OF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4" name="文本框 89093"/>
            <p:cNvSpPr txBox="1"/>
            <p:nvPr/>
          </p:nvSpPr>
          <p:spPr>
            <a:xfrm>
              <a:off x="905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11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5" name="文本框 89094"/>
            <p:cNvSpPr txBox="1"/>
            <p:nvPr/>
          </p:nvSpPr>
          <p:spPr>
            <a:xfrm>
              <a:off x="96" y="3226"/>
              <a:ext cx="809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6" name="文本框 89095"/>
            <p:cNvSpPr txBox="1"/>
            <p:nvPr/>
          </p:nvSpPr>
          <p:spPr>
            <a:xfrm>
              <a:off x="96" y="2976"/>
              <a:ext cx="809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15      12</a:t>
              </a:r>
              <a:endParaRPr lang="en-US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7" name="文本框 89096"/>
            <p:cNvSpPr txBox="1"/>
            <p:nvPr/>
          </p:nvSpPr>
          <p:spPr>
            <a:xfrm>
              <a:off x="1310" y="3226"/>
              <a:ext cx="404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DF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8" name="文本框 89097"/>
            <p:cNvSpPr txBox="1"/>
            <p:nvPr/>
          </p:nvSpPr>
          <p:spPr>
            <a:xfrm>
              <a:off x="1310" y="2976"/>
              <a:ext cx="4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10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9" name="文本框 89098"/>
            <p:cNvSpPr txBox="1"/>
            <p:nvPr/>
          </p:nvSpPr>
          <p:spPr>
            <a:xfrm>
              <a:off x="1714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IF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0" name="文本框 89099"/>
            <p:cNvSpPr txBox="1"/>
            <p:nvPr/>
          </p:nvSpPr>
          <p:spPr>
            <a:xfrm>
              <a:off x="1714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9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1" name="文本框 89100"/>
            <p:cNvSpPr txBox="1"/>
            <p:nvPr/>
          </p:nvSpPr>
          <p:spPr>
            <a:xfrm>
              <a:off x="2119" y="3226"/>
              <a:ext cx="404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TF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2" name="文本框 89101"/>
            <p:cNvSpPr txBox="1"/>
            <p:nvPr/>
          </p:nvSpPr>
          <p:spPr>
            <a:xfrm>
              <a:off x="2119" y="2976"/>
              <a:ext cx="4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8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3" name="文本框 89102"/>
            <p:cNvSpPr txBox="1"/>
            <p:nvPr/>
          </p:nvSpPr>
          <p:spPr>
            <a:xfrm>
              <a:off x="2523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4" name="文本框 89103"/>
            <p:cNvSpPr txBox="1"/>
            <p:nvPr/>
          </p:nvSpPr>
          <p:spPr>
            <a:xfrm>
              <a:off x="2523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7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5" name="文本框 89104"/>
            <p:cNvSpPr txBox="1"/>
            <p:nvPr/>
          </p:nvSpPr>
          <p:spPr>
            <a:xfrm>
              <a:off x="2928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ZF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6" name="文本框 89105"/>
            <p:cNvSpPr txBox="1"/>
            <p:nvPr/>
          </p:nvSpPr>
          <p:spPr>
            <a:xfrm>
              <a:off x="2928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6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7" name="文本框 89106"/>
            <p:cNvSpPr txBox="1"/>
            <p:nvPr/>
          </p:nvSpPr>
          <p:spPr>
            <a:xfrm>
              <a:off x="3333" y="3226"/>
              <a:ext cx="404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8" name="文本框 89107"/>
            <p:cNvSpPr txBox="1"/>
            <p:nvPr/>
          </p:nvSpPr>
          <p:spPr>
            <a:xfrm>
              <a:off x="3333" y="2976"/>
              <a:ext cx="4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5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49" name="文本框 89108"/>
            <p:cNvSpPr txBox="1"/>
            <p:nvPr/>
          </p:nvSpPr>
          <p:spPr>
            <a:xfrm>
              <a:off x="3737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8150" name="文本框 89109"/>
            <p:cNvSpPr txBox="1"/>
            <p:nvPr/>
          </p:nvSpPr>
          <p:spPr>
            <a:xfrm>
              <a:off x="3737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4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1" name="文本框 89110"/>
            <p:cNvSpPr txBox="1"/>
            <p:nvPr/>
          </p:nvSpPr>
          <p:spPr>
            <a:xfrm>
              <a:off x="4142" y="3226"/>
              <a:ext cx="404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2" name="文本框 89111"/>
            <p:cNvSpPr txBox="1"/>
            <p:nvPr/>
          </p:nvSpPr>
          <p:spPr>
            <a:xfrm>
              <a:off x="4142" y="2976"/>
              <a:ext cx="4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3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3" name="文本框 89112"/>
            <p:cNvSpPr txBox="1"/>
            <p:nvPr/>
          </p:nvSpPr>
          <p:spPr>
            <a:xfrm>
              <a:off x="4546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PF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4" name="文本框 89113"/>
            <p:cNvSpPr txBox="1"/>
            <p:nvPr/>
          </p:nvSpPr>
          <p:spPr>
            <a:xfrm>
              <a:off x="4546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2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5" name="文本框 89114"/>
            <p:cNvSpPr txBox="1"/>
            <p:nvPr/>
          </p:nvSpPr>
          <p:spPr>
            <a:xfrm>
              <a:off x="4951" y="3226"/>
              <a:ext cx="404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6" name="文本框 89115"/>
            <p:cNvSpPr txBox="1"/>
            <p:nvPr/>
          </p:nvSpPr>
          <p:spPr>
            <a:xfrm>
              <a:off x="4951" y="2976"/>
              <a:ext cx="4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1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7" name="文本框 89116"/>
            <p:cNvSpPr txBox="1"/>
            <p:nvPr/>
          </p:nvSpPr>
          <p:spPr>
            <a:xfrm>
              <a:off x="5355" y="3226"/>
              <a:ext cx="405" cy="306"/>
            </a:xfrm>
            <a:prstGeom prst="rect">
              <a:avLst/>
            </a:prstGeom>
            <a:noFill/>
            <a:ln w="28575" cap="sq" cmpd="sng">
              <a:solidFill>
                <a:srgbClr val="0000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8" name="文本框 89117"/>
            <p:cNvSpPr txBox="1"/>
            <p:nvPr/>
          </p:nvSpPr>
          <p:spPr>
            <a:xfrm>
              <a:off x="5355" y="2976"/>
              <a:ext cx="405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 dirty="0">
                  <a:latin typeface="Times New Roman" panose="02020603050405020304" pitchFamily="18" charset="0"/>
                </a:rPr>
                <a:t>0</a:t>
              </a:r>
              <a:endParaRPr lang="zh-CN" altLang="zh-CN" sz="2400" dirty="0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8806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指令指针</a:t>
            </a:r>
            <a:r>
              <a:rPr lang="en-US" altLang="zh-CN" dirty="0"/>
              <a:t>IP</a:t>
            </a:r>
            <a:endParaRPr lang="en-US" altLang="zh-CN" dirty="0"/>
          </a:p>
        </p:txBody>
      </p:sp>
      <p:sp>
        <p:nvSpPr>
          <p:cNvPr id="49155" name="文本占位符 88066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5894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指令指针寄存器</a:t>
            </a:r>
            <a:r>
              <a:rPr lang="en-US" altLang="zh-CN" sz="3200" dirty="0"/>
              <a:t>IP</a:t>
            </a:r>
            <a:r>
              <a:rPr lang="zh-CN" altLang="en-US" sz="3200" dirty="0"/>
              <a:t>，指示代码段中指令的偏移地址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它与代码段寄存器</a:t>
            </a:r>
            <a:r>
              <a:rPr lang="en-US" altLang="zh-CN" sz="3200" dirty="0"/>
              <a:t>CS</a:t>
            </a:r>
            <a:r>
              <a:rPr lang="zh-CN" altLang="en-US" sz="3200" dirty="0"/>
              <a:t>联用，确定下一条指令的物理地址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计算机通过</a:t>
            </a:r>
            <a:r>
              <a:rPr lang="en-US" altLang="zh-CN" sz="3200" dirty="0"/>
              <a:t>CS : IP</a:t>
            </a:r>
            <a:r>
              <a:rPr lang="zh-CN" altLang="en-US" sz="3200" dirty="0"/>
              <a:t>寄存器来控制指令序列的执行流程</a:t>
            </a:r>
            <a:endParaRPr lang="zh-CN" altLang="en-US" sz="3200" dirty="0"/>
          </a:p>
          <a:p>
            <a:pPr eaLnBrk="1" hangingPunct="1"/>
            <a:r>
              <a:rPr lang="en-US" altLang="zh-CN" sz="3200" dirty="0"/>
              <a:t>IP</a:t>
            </a:r>
            <a:r>
              <a:rPr lang="zh-CN" altLang="en-US" sz="3200" dirty="0"/>
              <a:t>寄存器是一个专用寄存器</a:t>
            </a:r>
            <a:endParaRPr lang="zh-CN" altLang="en-US" sz="3200" dirty="0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标题 2273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段寄存器</a:t>
            </a:r>
            <a:endParaRPr lang="zh-CN" altLang="en-US" dirty="0"/>
          </a:p>
        </p:txBody>
      </p:sp>
      <p:sp>
        <p:nvSpPr>
          <p:cNvPr id="50179" name="文本占位符 227330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55435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8086</a:t>
            </a:r>
            <a:r>
              <a:rPr lang="zh-CN" altLang="en-US" sz="2800" dirty="0"/>
              <a:t>有</a:t>
            </a:r>
            <a:r>
              <a:rPr lang="en-US" altLang="zh-CN" sz="2800" dirty="0"/>
              <a:t>4</a:t>
            </a:r>
            <a:r>
              <a:rPr lang="zh-CN" altLang="en-US" sz="2800" dirty="0"/>
              <a:t>个</a:t>
            </a:r>
            <a:r>
              <a:rPr lang="en-US" altLang="zh-CN" sz="2800" dirty="0"/>
              <a:t>16</a:t>
            </a:r>
            <a:r>
              <a:rPr lang="zh-CN" altLang="en-US" sz="2800" dirty="0"/>
              <a:t>位段寄存器，每个段寄存器确定一个逻辑段的起始地址，每种逻辑段均有各自的用途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CS</a:t>
            </a:r>
            <a:r>
              <a:rPr lang="zh-CN" altLang="en-US" sz="2800" dirty="0"/>
              <a:t>（</a:t>
            </a:r>
            <a:r>
              <a:rPr lang="en-US" altLang="zh-CN" sz="2800" dirty="0"/>
              <a:t>Code Segment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1414780" lvl="1" indent="-335280" eaLnBrk="1" hangingPunct="1"/>
            <a:r>
              <a:rPr lang="zh-CN" altLang="en-US" sz="2800" dirty="0"/>
              <a:t>指明代码段的起始地址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SS</a:t>
            </a:r>
            <a:r>
              <a:rPr lang="zh-CN" altLang="en-US" sz="2800" dirty="0"/>
              <a:t>（</a:t>
            </a:r>
            <a:r>
              <a:rPr lang="en-US" altLang="zh-CN" sz="2800" dirty="0"/>
              <a:t>Stack Segment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1414780" lvl="1" indent="-335280" eaLnBrk="1" hangingPunct="1"/>
            <a:r>
              <a:rPr lang="zh-CN" altLang="en-US" sz="2800" dirty="0"/>
              <a:t>指明堆栈段的起始地址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DS</a:t>
            </a:r>
            <a:r>
              <a:rPr lang="zh-CN" altLang="en-US" sz="2800" dirty="0"/>
              <a:t>（</a:t>
            </a:r>
            <a:r>
              <a:rPr lang="en-US" altLang="zh-CN" sz="2800" dirty="0"/>
              <a:t>Data Segment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1414780" lvl="1" indent="-335280" eaLnBrk="1" hangingPunct="1"/>
            <a:r>
              <a:rPr lang="zh-CN" altLang="en-US" sz="2800" dirty="0"/>
              <a:t>指明数据段的起始地址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ES</a:t>
            </a:r>
            <a:r>
              <a:rPr lang="zh-CN" altLang="en-US" sz="2800" dirty="0"/>
              <a:t>（</a:t>
            </a:r>
            <a:r>
              <a:rPr lang="en-US" altLang="zh-CN" sz="2800" dirty="0"/>
              <a:t>Extra Segment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1414780" lvl="1" indent="-335280" eaLnBrk="1" hangingPunct="1"/>
            <a:r>
              <a:rPr lang="zh-CN" altLang="en-US" sz="2800" dirty="0"/>
              <a:t>指明附加段的起始地址</a:t>
            </a:r>
            <a:endParaRPr lang="zh-CN" altLang="en-US" sz="28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10752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数据信息的表达单位</a:t>
            </a:r>
            <a:endParaRPr lang="zh-CN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03" name="文本占位符 10752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390525" eaLnBrk="1" hangingPunct="1"/>
            <a:r>
              <a:rPr lang="zh-CN" altLang="en-US" sz="3200" dirty="0"/>
              <a:t>计算机中信息的单位</a:t>
            </a:r>
            <a:endParaRPr lang="zh-CN" altLang="en-US" sz="3200" dirty="0"/>
          </a:p>
          <a:p>
            <a:pPr marL="581025" lvl="1" indent="274955" eaLnBrk="1" hangingPunct="1"/>
            <a:r>
              <a:rPr lang="zh-CN" altLang="en-US" sz="2800" dirty="0">
                <a:latin typeface="宋体" panose="02010600030101010101" pitchFamily="2" charset="-122"/>
              </a:rPr>
              <a:t>二进制位</a:t>
            </a:r>
            <a:r>
              <a:rPr lang="zh-CN" altLang="zh-CN" sz="2800" dirty="0">
                <a:latin typeface="宋体" panose="02010600030101010101" pitchFamily="2" charset="-122"/>
              </a:rPr>
              <a:t>Bit：</a:t>
            </a:r>
            <a:r>
              <a:rPr lang="zh-CN" altLang="en-US" sz="2800" dirty="0">
                <a:latin typeface="宋体" panose="02010600030101010101" pitchFamily="2" charset="-122"/>
              </a:rPr>
              <a:t>存储一位二进制数：</a:t>
            </a:r>
            <a:r>
              <a:rPr lang="en-US" altLang="zh-CN" sz="2800" dirty="0">
                <a:latin typeface="宋体" panose="02010600030101010101" pitchFamily="2" charset="-12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</a:rPr>
              <a:t>或</a:t>
            </a:r>
            <a:r>
              <a:rPr lang="en-US" altLang="zh-CN" sz="2800" dirty="0">
                <a:latin typeface="宋体" panose="02010600030101010101" pitchFamily="2" charset="-122"/>
              </a:rPr>
              <a:t>1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81025" lvl="1" indent="274955" eaLnBrk="1" hangingPunct="1"/>
            <a:r>
              <a:rPr lang="zh-CN" altLang="en-US" sz="2800" dirty="0">
                <a:latin typeface="宋体" panose="02010600030101010101" pitchFamily="2" charset="-122"/>
              </a:rPr>
              <a:t>字节</a:t>
            </a:r>
            <a:r>
              <a:rPr lang="en-US" altLang="zh-CN" sz="2800" dirty="0">
                <a:latin typeface="宋体" panose="02010600030101010101" pitchFamily="2" charset="-122"/>
              </a:rPr>
              <a:t>Byte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  <a:r>
              <a:rPr lang="en-US" altLang="zh-CN" sz="2800" dirty="0">
                <a:latin typeface="宋体" panose="02010600030101010101" pitchFamily="2" charset="-122"/>
              </a:rPr>
              <a:t>8</a:t>
            </a:r>
            <a:r>
              <a:rPr lang="zh-CN" altLang="en-US" sz="2800" dirty="0">
                <a:latin typeface="宋体" panose="02010600030101010101" pitchFamily="2" charset="-122"/>
              </a:rPr>
              <a:t>个二进制位</a:t>
            </a:r>
            <a:r>
              <a:rPr lang="zh-CN" altLang="zh-CN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D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7</a:t>
            </a:r>
            <a:r>
              <a:rPr lang="zh-CN" altLang="en-US" sz="2800" dirty="0">
                <a:latin typeface="宋体" panose="02010600030101010101" pitchFamily="2" charset="-122"/>
              </a:rPr>
              <a:t>～</a:t>
            </a:r>
            <a:r>
              <a:rPr lang="en-US" altLang="zh-CN" sz="2800" dirty="0">
                <a:latin typeface="宋体" panose="02010600030101010101" pitchFamily="2" charset="-122"/>
              </a:rPr>
              <a:t>D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0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81025" lvl="1" indent="274955" eaLnBrk="1" hangingPunct="1"/>
            <a:r>
              <a:rPr lang="zh-CN" altLang="en-US" sz="2800" dirty="0">
                <a:latin typeface="宋体" panose="02010600030101010101" pitchFamily="2" charset="-122"/>
              </a:rPr>
              <a:t>字</a:t>
            </a:r>
            <a:r>
              <a:rPr lang="en-US" altLang="zh-CN" sz="2800" dirty="0">
                <a:latin typeface="宋体" panose="02010600030101010101" pitchFamily="2" charset="-122"/>
              </a:rPr>
              <a:t>Word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  <a:r>
              <a:rPr lang="en-US" altLang="zh-CN" sz="2800" dirty="0">
                <a:latin typeface="宋体" panose="02010600030101010101" pitchFamily="2" charset="-122"/>
              </a:rPr>
              <a:t>16</a:t>
            </a:r>
            <a:r>
              <a:rPr lang="zh-CN" altLang="en-US" sz="2800" dirty="0">
                <a:latin typeface="宋体" panose="02010600030101010101" pitchFamily="2" charset="-122"/>
              </a:rPr>
              <a:t>位，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个字节，</a:t>
            </a:r>
            <a:r>
              <a:rPr lang="en-US" altLang="zh-CN" sz="2800" dirty="0">
                <a:latin typeface="宋体" panose="02010600030101010101" pitchFamily="2" charset="-122"/>
              </a:rPr>
              <a:t>D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15</a:t>
            </a:r>
            <a:r>
              <a:rPr lang="zh-CN" altLang="en-US" sz="2800" dirty="0">
                <a:latin typeface="宋体" panose="02010600030101010101" pitchFamily="2" charset="-122"/>
              </a:rPr>
              <a:t>～</a:t>
            </a:r>
            <a:r>
              <a:rPr lang="en-US" altLang="zh-CN" sz="2800" dirty="0">
                <a:latin typeface="宋体" panose="02010600030101010101" pitchFamily="2" charset="-122"/>
              </a:rPr>
              <a:t>D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0</a:t>
            </a:r>
            <a:endParaRPr lang="en-US" altLang="zh-CN" sz="2800" baseline="-25000" dirty="0">
              <a:latin typeface="宋体" panose="02010600030101010101" pitchFamily="2" charset="-122"/>
            </a:endParaRPr>
          </a:p>
          <a:p>
            <a:pPr marL="581025" lvl="1" indent="274955" eaLnBrk="1" hangingPunct="1"/>
            <a:r>
              <a:rPr lang="zh-CN" altLang="en-US" sz="2800" dirty="0">
                <a:latin typeface="宋体" panose="02010600030101010101" pitchFamily="2" charset="-122"/>
              </a:rPr>
              <a:t>双字</a:t>
            </a:r>
            <a:r>
              <a:rPr lang="en-US" altLang="zh-CN" sz="2800" dirty="0">
                <a:latin typeface="宋体" panose="02010600030101010101" pitchFamily="2" charset="-122"/>
              </a:rPr>
              <a:t>DWord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  <a:r>
              <a:rPr lang="en-US" altLang="zh-CN" sz="2800" dirty="0">
                <a:latin typeface="宋体" panose="02010600030101010101" pitchFamily="2" charset="-122"/>
              </a:rPr>
              <a:t>32</a:t>
            </a:r>
            <a:r>
              <a:rPr lang="zh-CN" altLang="en-US" sz="2800" dirty="0">
                <a:latin typeface="宋体" panose="02010600030101010101" pitchFamily="2" charset="-122"/>
              </a:rPr>
              <a:t>位，</a:t>
            </a:r>
            <a:r>
              <a:rPr lang="en-US" altLang="zh-CN" sz="2800" dirty="0">
                <a:latin typeface="宋体" panose="02010600030101010101" pitchFamily="2" charset="-122"/>
              </a:rPr>
              <a:t>4</a:t>
            </a:r>
            <a:r>
              <a:rPr lang="zh-CN" altLang="en-US" sz="2800" dirty="0">
                <a:latin typeface="宋体" panose="02010600030101010101" pitchFamily="2" charset="-122"/>
              </a:rPr>
              <a:t>个字节</a:t>
            </a:r>
            <a:r>
              <a:rPr lang="zh-CN" altLang="zh-CN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D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31</a:t>
            </a:r>
            <a:r>
              <a:rPr lang="zh-CN" altLang="en-US" sz="2800" dirty="0">
                <a:latin typeface="宋体" panose="02010600030101010101" pitchFamily="2" charset="-122"/>
              </a:rPr>
              <a:t>～</a:t>
            </a:r>
            <a:r>
              <a:rPr lang="en-US" altLang="zh-CN" sz="2800" dirty="0">
                <a:latin typeface="宋体" panose="02010600030101010101" pitchFamily="2" charset="-122"/>
              </a:rPr>
              <a:t>D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0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 eaLnBrk="1" hangingPunct="1">
              <a:lnSpc>
                <a:spcPct val="140000"/>
              </a:lnSpc>
            </a:pPr>
            <a:r>
              <a:rPr lang="zh-CN" altLang="en-US" sz="3200" dirty="0">
                <a:latin typeface="宋体" panose="02010600030101010101" pitchFamily="2" charset="-122"/>
              </a:rPr>
              <a:t>最低有效位</a:t>
            </a:r>
            <a:r>
              <a:rPr lang="en-US" altLang="zh-CN" sz="3200" dirty="0">
                <a:latin typeface="宋体" panose="02010600030101010101" pitchFamily="2" charset="-122"/>
              </a:rPr>
              <a:t>LSB</a:t>
            </a:r>
            <a:r>
              <a:rPr lang="zh-CN" altLang="en-US" sz="3200" dirty="0">
                <a:latin typeface="宋体" panose="02010600030101010101" pitchFamily="2" charset="-122"/>
              </a:rPr>
              <a:t>：数据的最低位，</a:t>
            </a:r>
            <a:r>
              <a:rPr lang="en-US" altLang="zh-CN" sz="3200" dirty="0">
                <a:latin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</a:rPr>
              <a:t>位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sz="3200" dirty="0">
                <a:latin typeface="宋体" panose="02010600030101010101" pitchFamily="2" charset="-122"/>
              </a:rPr>
              <a:t>最高有效位</a:t>
            </a:r>
            <a:r>
              <a:rPr lang="en-US" altLang="zh-CN" sz="3200" dirty="0">
                <a:latin typeface="宋体" panose="02010600030101010101" pitchFamily="2" charset="-122"/>
              </a:rPr>
              <a:t>MSB</a:t>
            </a:r>
            <a:r>
              <a:rPr lang="zh-CN" altLang="en-US" sz="3200" dirty="0">
                <a:latin typeface="宋体" panose="02010600030101010101" pitchFamily="2" charset="-122"/>
              </a:rPr>
              <a:t>：数据的最高位，对应字节、字、双字分别指</a:t>
            </a:r>
            <a:r>
              <a:rPr lang="en-US" altLang="zh-CN" sz="3200" dirty="0">
                <a:latin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</a:rPr>
              <a:t>7</a:t>
            </a:r>
            <a:r>
              <a:rPr lang="zh-CN" altLang="en-US" sz="3200" dirty="0">
                <a:latin typeface="宋体" panose="02010600030101010101" pitchFamily="2" charset="-122"/>
              </a:rPr>
              <a:t>、</a:t>
            </a:r>
            <a:r>
              <a:rPr lang="en-US" altLang="zh-CN" sz="3200" dirty="0">
                <a:latin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</a:rPr>
              <a:t>15</a:t>
            </a:r>
            <a:r>
              <a:rPr lang="zh-CN" altLang="en-US" sz="3200" dirty="0">
                <a:latin typeface="宋体" panose="02010600030101010101" pitchFamily="2" charset="-122"/>
              </a:rPr>
              <a:t>、</a:t>
            </a:r>
            <a:r>
              <a:rPr lang="en-US" altLang="zh-CN" sz="3200" dirty="0">
                <a:latin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</a:rPr>
              <a:t>31</a:t>
            </a:r>
            <a:r>
              <a:rPr lang="zh-CN" altLang="en-US" sz="3200" dirty="0">
                <a:latin typeface="宋体" panose="02010600030101010101" pitchFamily="2" charset="-122"/>
              </a:rPr>
              <a:t>位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标题 10854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数据的存储格式</a:t>
            </a:r>
            <a:endParaRPr lang="zh-CN" altLang="en-US" dirty="0"/>
          </a:p>
        </p:txBody>
      </p:sp>
      <p:graphicFrame>
        <p:nvGraphicFramePr>
          <p:cNvPr id="108547" name="表格 108546"/>
          <p:cNvGraphicFramePr/>
          <p:nvPr/>
        </p:nvGraphicFramePr>
        <p:xfrm>
          <a:off x="4343400" y="1600200"/>
          <a:ext cx="4572000" cy="1449388"/>
        </p:xfrm>
        <a:graphic>
          <a:graphicData uri="http://schemas.openxmlformats.org/drawingml/2006/table">
            <a:tbl>
              <a:tblPr/>
              <a:tblGrid>
                <a:gridCol w="1143000"/>
                <a:gridCol w="228600"/>
                <a:gridCol w="800100"/>
                <a:gridCol w="228600"/>
                <a:gridCol w="514350"/>
                <a:gridCol w="742950"/>
                <a:gridCol w="914400"/>
              </a:tblGrid>
              <a:tr h="457200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dirty="0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D</a:t>
                      </a:r>
                      <a:r>
                        <a:rPr lang="en-US" altLang="zh-CN" sz="2000"/>
                        <a:t>7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2400"/>
                        <a:t>D</a:t>
                      </a: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 gridSpan="2"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dirty="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D</a:t>
                      </a:r>
                      <a:r>
                        <a:rPr lang="en-US" altLang="zh-CN" sz="2000"/>
                        <a:t>15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2400"/>
                        <a:t>D</a:t>
                      </a: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字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2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D</a:t>
                      </a:r>
                      <a:r>
                        <a:rPr lang="en-US" altLang="zh-CN" sz="2000"/>
                        <a:t>31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zh-CN" sz="2400"/>
                        <a:t>D</a:t>
                      </a: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双字</a:t>
                      </a:r>
                      <a:endParaRPr lang="zh-CN" altLang="en-US" sz="24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8580" name="表格 108579"/>
          <p:cNvGraphicFramePr/>
          <p:nvPr/>
        </p:nvGraphicFramePr>
        <p:xfrm>
          <a:off x="1219200" y="1854200"/>
          <a:ext cx="2895600" cy="4632328"/>
        </p:xfrm>
        <a:graphic>
          <a:graphicData uri="http://schemas.openxmlformats.org/drawingml/2006/table">
            <a:tbl>
              <a:tblPr/>
              <a:tblGrid>
                <a:gridCol w="1371600"/>
                <a:gridCol w="1524000"/>
              </a:tblGrid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3200"/>
                        <a:t>D</a:t>
                      </a:r>
                      <a:r>
                        <a:rPr lang="en-US" altLang="zh-CN" sz="2400"/>
                        <a:t>7</a:t>
                      </a:r>
                      <a:r>
                        <a:rPr lang="en-US" altLang="zh-CN" sz="3200"/>
                        <a:t>  D</a:t>
                      </a:r>
                      <a:r>
                        <a:rPr lang="en-US" altLang="zh-CN" sz="2400"/>
                        <a:t>0</a:t>
                      </a:r>
                      <a:endParaRPr lang="zh-CN" altLang="en-US" sz="2400"/>
                    </a:p>
                  </a:txBody>
                  <a:tcPr marT="45694" marB="45694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800" dirty="0"/>
                    </a:p>
                  </a:txBody>
                  <a:tcPr marT="45694" marB="45694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3200" dirty="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00006H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3200"/>
                        <a:t>78H</a:t>
                      </a:r>
                      <a:endParaRPr lang="zh-CN" altLang="en-US" sz="32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00005H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3200"/>
                        <a:t>56H</a:t>
                      </a:r>
                      <a:endParaRPr lang="zh-CN" altLang="en-US" sz="32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00004H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3200"/>
                        <a:t>12H</a:t>
                      </a:r>
                      <a:endParaRPr lang="zh-CN" altLang="en-US" sz="32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00003H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3200"/>
                        <a:t>34H</a:t>
                      </a:r>
                      <a:endParaRPr lang="zh-CN" altLang="en-US" sz="32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00002H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3200" dirty="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00001H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3200" dirty="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/>
                        <a:t>00000H</a:t>
                      </a:r>
                      <a:endParaRPr lang="zh-CN" altLang="en-US" sz="2800"/>
                    </a:p>
                  </a:txBody>
                  <a:tcPr marT="45694" marB="4569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78" name="文本框 108618"/>
          <p:cNvSpPr txBox="1"/>
          <p:nvPr/>
        </p:nvSpPr>
        <p:spPr>
          <a:xfrm>
            <a:off x="4267200" y="568325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ea typeface="隶书" panose="02010509060101010101" pitchFamily="49" charset="-122"/>
              </a:rPr>
              <a:t>低地址</a:t>
            </a:r>
            <a:endParaRPr lang="zh-CN" altLang="en-US" sz="2800" dirty="0">
              <a:solidFill>
                <a:schemeClr val="accent2"/>
              </a:solidFill>
              <a:ea typeface="隶书" panose="02010509060101010101" pitchFamily="49" charset="-122"/>
            </a:endParaRPr>
          </a:p>
        </p:txBody>
      </p:sp>
      <p:sp>
        <p:nvSpPr>
          <p:cNvPr id="52279" name="直接连接符 108619"/>
          <p:cNvSpPr/>
          <p:nvPr/>
        </p:nvSpPr>
        <p:spPr>
          <a:xfrm flipV="1">
            <a:off x="4876800" y="3657600"/>
            <a:ext cx="0" cy="20574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标题 10956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存储单元及其存储内容</a:t>
            </a:r>
            <a:endParaRPr lang="zh-CN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251" name="文本占位符 109570"/>
          <p:cNvSpPr>
            <a:spLocks noGrp="1"/>
          </p:cNvSpPr>
          <p:nvPr>
            <p:ph idx="1"/>
          </p:nvPr>
        </p:nvSpPr>
        <p:spPr>
          <a:xfrm>
            <a:off x="395288" y="981075"/>
            <a:ext cx="8208962" cy="27368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/>
              <a:t>主存储器需要利用地址区别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每个存储单元都有一个编号；被称为存储器地址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每个存储单元存放一个字节的内容</a:t>
            </a:r>
            <a:endParaRPr lang="zh-CN" altLang="en-US" dirty="0"/>
          </a:p>
        </p:txBody>
      </p:sp>
      <p:pic>
        <p:nvPicPr>
          <p:cNvPr id="109572" name="图片 109571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63" y="3763963"/>
            <a:ext cx="8675687" cy="46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573" name="矩形 109572"/>
          <p:cNvSpPr/>
          <p:nvPr/>
        </p:nvSpPr>
        <p:spPr>
          <a:xfrm>
            <a:off x="1447800" y="4114800"/>
            <a:ext cx="6705600" cy="1447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dirty="0">
                <a:latin typeface="宋体" panose="02010600030101010101" pitchFamily="2" charset="-122"/>
              </a:rPr>
              <a:t>0002H</a:t>
            </a:r>
            <a:r>
              <a:rPr lang="zh-CN" altLang="en-US" dirty="0">
                <a:latin typeface="宋体" panose="02010600030101010101" pitchFamily="2" charset="-122"/>
              </a:rPr>
              <a:t>单元存放有一个数据</a:t>
            </a:r>
            <a:r>
              <a:rPr lang="en-US" altLang="zh-CN" dirty="0">
                <a:latin typeface="宋体" panose="02010600030101010101" pitchFamily="2" charset="-122"/>
              </a:rPr>
              <a:t>34H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342900" lvl="0" indent="-342900" eaLnBrk="1" hangingPunct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表达为	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[0002H]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34H</a:t>
            </a:r>
            <a:endParaRPr lang="en-US" altLang="zh-CN" sz="32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标题 11059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多字节数据存放方式</a:t>
            </a:r>
            <a:endParaRPr lang="zh-CN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75" name="文本占位符 110594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178175"/>
          </a:xfrm>
        </p:spPr>
        <p:txBody>
          <a:bodyPr vert="horz" wrap="square" lIns="91440" tIns="45720" rIns="91440" bIns="45720" anchor="t" anchorCtr="0"/>
          <a:p>
            <a:pPr marL="0" indent="390525" eaLnBrk="1" hangingPunct="1"/>
            <a:r>
              <a:rPr lang="zh-CN" altLang="en-US" sz="2800" dirty="0">
                <a:latin typeface="宋体" panose="02010600030101010101" pitchFamily="2" charset="-122"/>
              </a:rPr>
              <a:t>多字节数据在存储器中占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连续的多个存储单元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sz="2800" dirty="0">
                <a:latin typeface="宋体" panose="02010600030101010101" pitchFamily="2" charset="-122"/>
              </a:rPr>
              <a:t>存放：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低字节存入低地址，高字节存入高地址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sz="2800" dirty="0">
                <a:latin typeface="宋体" panose="02010600030101010101" pitchFamily="2" charset="-122"/>
              </a:rPr>
              <a:t>表达：用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低地址表示</a:t>
            </a:r>
            <a:r>
              <a:rPr lang="zh-CN" altLang="en-US" sz="2800" dirty="0">
                <a:latin typeface="宋体" panose="02010600030101010101" pitchFamily="2" charset="-122"/>
              </a:rPr>
              <a:t>多字节数据占据的地址空间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110596" name="矩形 110595"/>
          <p:cNvSpPr/>
          <p:nvPr/>
        </p:nvSpPr>
        <p:spPr>
          <a:xfrm>
            <a:off x="914400" y="2924175"/>
            <a:ext cx="7391400" cy="2057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390525"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</a:rPr>
              <a:t>号“字”单元的内容为：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581025" lvl="1" indent="274955" eaLnBrk="1" hangingPunct="1">
              <a:lnSpc>
                <a:spcPct val="60000"/>
              </a:lnSpc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[0002H] = 1234H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lvl="0" indent="390525" eaLnBrk="1" hangingPunct="1">
              <a:lnSpc>
                <a:spcPct val="80000"/>
              </a:lnSpc>
              <a:buNone/>
            </a:pPr>
            <a:r>
              <a:rPr lang="en-US" altLang="zh-CN" sz="3200" dirty="0"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</a:rPr>
              <a:t>号“双字”单元的内容为：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581025" lvl="1" indent="274955" eaLnBrk="1" hangingPunct="1">
              <a:lnSpc>
                <a:spcPct val="70000"/>
              </a:lnSpc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[0002H] = 78561234H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10597" name="图片 110596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63" y="2708275"/>
            <a:ext cx="8675687" cy="46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8" name="圆角矩形 110597" descr="画布"/>
          <p:cNvSpPr/>
          <p:nvPr/>
        </p:nvSpPr>
        <p:spPr>
          <a:xfrm>
            <a:off x="323850" y="5084763"/>
            <a:ext cx="6653213" cy="1223962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Tx/>
              <a:buSzTx/>
              <a:buFontTx/>
              <a:buBlip>
                <a:blip r:embed="rId3"/>
              </a:buBlip>
            </a:pPr>
            <a:r>
              <a:rPr lang="en-US" altLang="zh-CN" sz="3200" dirty="0">
                <a:solidFill>
                  <a:schemeClr val="accent2"/>
                </a:solidFill>
              </a:rPr>
              <a:t>  80x86</a:t>
            </a:r>
            <a:r>
              <a:rPr lang="zh-CN" altLang="en-US" sz="3200" dirty="0">
                <a:solidFill>
                  <a:schemeClr val="accent2"/>
                </a:solidFill>
              </a:rPr>
              <a:t>处理器采用“低对低、高对高”：小端方式</a:t>
            </a:r>
            <a:r>
              <a:rPr lang="en-US" altLang="zh-CN" sz="3200" dirty="0">
                <a:solidFill>
                  <a:schemeClr val="accent2"/>
                </a:solidFill>
              </a:rPr>
              <a:t>Little Endian</a:t>
            </a:r>
            <a:endParaRPr lang="en-US" altLang="zh-CN" sz="3200" dirty="0">
              <a:solidFill>
                <a:schemeClr val="accent2"/>
              </a:solidFill>
            </a:endParaRPr>
          </a:p>
        </p:txBody>
      </p:sp>
      <p:pic>
        <p:nvPicPr>
          <p:cNvPr id="110600" name="图片 110599" descr="MCj03431830000[1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725" y="4076700"/>
            <a:ext cx="1073150" cy="979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700"/>
                            </p:stCondLst>
                            <p:childTnLst>
                              <p:par>
                                <p:cTn id="2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/>
      <p:bldP spid="11059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标题 1116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数据的地址对齐</a:t>
            </a:r>
            <a:endParaRPr lang="zh-CN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299" name="文本占位符 111618"/>
          <p:cNvSpPr>
            <a:spLocks noGrp="1"/>
          </p:cNvSpPr>
          <p:nvPr>
            <p:ph idx="1"/>
          </p:nvPr>
        </p:nvSpPr>
        <p:spPr>
          <a:xfrm>
            <a:off x="539750" y="1052513"/>
            <a:ext cx="8280400" cy="5424487"/>
          </a:xfrm>
        </p:spPr>
        <p:txBody>
          <a:bodyPr vert="horz" wrap="square" lIns="91440" tIns="45720" rIns="91440" bIns="45720" anchor="t" anchorCtr="0"/>
          <a:p>
            <a:pPr marL="0" indent="390525" eaLnBrk="1" hangingPunct="1"/>
            <a:r>
              <a:rPr lang="zh-CN" altLang="en-US" sz="3200" dirty="0">
                <a:latin typeface="宋体" panose="02010600030101010101" pitchFamily="2" charset="-122"/>
              </a:rPr>
              <a:t>同一个存储器地址可以是字节单元地址、字单元地址、双字单元地址等等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sz="3200" dirty="0">
                <a:latin typeface="宋体" panose="02010600030101010101" pitchFamily="2" charset="-122"/>
              </a:rPr>
              <a:t>字单元安排在偶地址（</a:t>
            </a:r>
            <a:r>
              <a:rPr lang="en-US" altLang="zh-CN" sz="3200" dirty="0">
                <a:latin typeface="宋体" panose="02010600030101010101" pitchFamily="2" charset="-122"/>
              </a:rPr>
              <a:t>xxx0B</a:t>
            </a:r>
            <a:r>
              <a:rPr lang="zh-CN" altLang="en-US" sz="3200" dirty="0">
                <a:latin typeface="宋体" panose="02010600030101010101" pitchFamily="2" charset="-122"/>
              </a:rPr>
              <a:t>）、双字单元安排在模</a:t>
            </a:r>
            <a:r>
              <a:rPr lang="en-US" altLang="zh-CN" sz="3200" dirty="0">
                <a:latin typeface="宋体" panose="02010600030101010101" pitchFamily="2" charset="-122"/>
              </a:rPr>
              <a:t>4</a:t>
            </a:r>
            <a:r>
              <a:rPr lang="zh-CN" altLang="en-US" sz="3200" dirty="0">
                <a:latin typeface="宋体" panose="02010600030101010101" pitchFamily="2" charset="-122"/>
              </a:rPr>
              <a:t>地址（</a:t>
            </a:r>
            <a:r>
              <a:rPr lang="en-US" altLang="zh-CN" sz="3200" dirty="0">
                <a:latin typeface="宋体" panose="02010600030101010101" pitchFamily="2" charset="-122"/>
              </a:rPr>
              <a:t>xx00B</a:t>
            </a:r>
            <a:r>
              <a:rPr lang="zh-CN" altLang="en-US" sz="3200" dirty="0">
                <a:latin typeface="宋体" panose="02010600030101010101" pitchFamily="2" charset="-122"/>
              </a:rPr>
              <a:t>）等，被称为“地址对齐（</a:t>
            </a:r>
            <a:r>
              <a:rPr lang="en-US" altLang="zh-CN" sz="3200" dirty="0">
                <a:latin typeface="宋体" panose="02010600030101010101" pitchFamily="2" charset="-122"/>
              </a:rPr>
              <a:t>Align</a:t>
            </a:r>
            <a:r>
              <a:rPr lang="zh-CN" altLang="en-US" sz="3200" dirty="0">
                <a:latin typeface="宋体" panose="02010600030101010101" pitchFamily="2" charset="-122"/>
              </a:rPr>
              <a:t>）”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sz="3200" dirty="0">
                <a:latin typeface="宋体" panose="02010600030101010101" pitchFamily="2" charset="-122"/>
              </a:rPr>
              <a:t>对于不对齐地址的数据，处理器访问时，需要额外的访问存储器时间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sz="3200" dirty="0">
                <a:latin typeface="宋体" panose="02010600030101010101" pitchFamily="2" charset="-122"/>
              </a:rPr>
              <a:t>应该将数据的地址对齐，以取得较高的存取速度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标题 11264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存储器的分段管理</a:t>
            </a:r>
            <a:endParaRPr lang="zh-CN" altLang="en-US" dirty="0"/>
          </a:p>
        </p:txBody>
      </p:sp>
      <p:sp>
        <p:nvSpPr>
          <p:cNvPr id="56323" name="文本占位符 11264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390525" eaLnBrk="1" hangingPunct="1">
              <a:lnSpc>
                <a:spcPct val="90000"/>
              </a:lnSpc>
            </a:pPr>
            <a:r>
              <a:rPr lang="en-US" altLang="zh-CN" sz="3200" dirty="0">
                <a:latin typeface="宋体" panose="02010600030101010101" pitchFamily="2" charset="-122"/>
              </a:rPr>
              <a:t>8086 CPU</a:t>
            </a:r>
            <a:r>
              <a:rPr lang="zh-CN" altLang="en-US" sz="3200" dirty="0">
                <a:latin typeface="宋体" panose="02010600030101010101" pitchFamily="2" charset="-122"/>
              </a:rPr>
              <a:t>有</a:t>
            </a:r>
            <a:r>
              <a:rPr lang="en-US" altLang="zh-CN" sz="3200" dirty="0">
                <a:latin typeface="宋体" panose="02010600030101010101" pitchFamily="2" charset="-122"/>
              </a:rPr>
              <a:t>20</a:t>
            </a:r>
            <a:r>
              <a:rPr lang="zh-CN" altLang="en-US" sz="3200" dirty="0">
                <a:latin typeface="宋体" panose="02010600030101010101" pitchFamily="2" charset="-122"/>
              </a:rPr>
              <a:t>条地址线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marL="581025" lvl="1" indent="274955" eaLnBrk="1" hangingPunct="1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最大可寻址空间为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800" dirty="0">
                <a:latin typeface="宋体" panose="02010600030101010101" pitchFamily="2" charset="-122"/>
              </a:rPr>
              <a:t>＝</a:t>
            </a:r>
            <a:r>
              <a:rPr lang="en-US" altLang="zh-CN" sz="2800" dirty="0">
                <a:latin typeface="宋体" panose="02010600030101010101" pitchFamily="2" charset="-122"/>
              </a:rPr>
              <a:t>1MB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81025" lvl="1" indent="274955" eaLnBrk="1" hangingPunct="1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物理地址范围从</a:t>
            </a:r>
            <a:r>
              <a:rPr lang="en-US" altLang="zh-CN" sz="2800" dirty="0">
                <a:latin typeface="宋体" panose="02010600030101010101" pitchFamily="2" charset="-122"/>
              </a:rPr>
              <a:t>00000H</a:t>
            </a:r>
            <a:r>
              <a:rPr lang="zh-CN" altLang="en-US" sz="2800" dirty="0">
                <a:latin typeface="宋体" panose="02010600030101010101" pitchFamily="2" charset="-122"/>
              </a:rPr>
              <a:t>～</a:t>
            </a:r>
            <a:r>
              <a:rPr lang="en-US" altLang="zh-CN" sz="2800" dirty="0">
                <a:latin typeface="宋体" panose="02010600030101010101" pitchFamily="2" charset="-122"/>
              </a:rPr>
              <a:t>FFFFFH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 eaLnBrk="1" hangingPunct="1">
              <a:lnSpc>
                <a:spcPct val="90000"/>
              </a:lnSpc>
            </a:pPr>
            <a:r>
              <a:rPr lang="en-US" altLang="zh-CN" sz="3200" dirty="0">
                <a:latin typeface="宋体" panose="02010600030101010101" pitchFamily="2" charset="-122"/>
              </a:rPr>
              <a:t>8086CPU</a:t>
            </a:r>
            <a:r>
              <a:rPr lang="zh-CN" altLang="en-US" sz="3200" dirty="0">
                <a:latin typeface="宋体" panose="02010600030101010101" pitchFamily="2" charset="-122"/>
              </a:rPr>
              <a:t>将</a:t>
            </a:r>
            <a:r>
              <a:rPr lang="en-US" altLang="zh-CN" sz="3200" dirty="0">
                <a:latin typeface="宋体" panose="02010600030101010101" pitchFamily="2" charset="-122"/>
              </a:rPr>
              <a:t>1MB</a:t>
            </a:r>
            <a:r>
              <a:rPr lang="zh-CN" altLang="en-US" sz="3200" dirty="0">
                <a:latin typeface="宋体" panose="02010600030101010101" pitchFamily="2" charset="-122"/>
              </a:rPr>
              <a:t>空间分成许多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</a:rPr>
              <a:t>逻辑段（</a:t>
            </a: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Segment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</a:rPr>
              <a:t>）</a:t>
            </a:r>
            <a:endParaRPr lang="zh-CN" altLang="en-US" sz="32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81025" lvl="1" indent="274955" eaLnBrk="1" hangingPunct="1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每个段最大限制为</a:t>
            </a:r>
            <a:r>
              <a:rPr lang="en-US" altLang="zh-CN" sz="2800" dirty="0">
                <a:latin typeface="宋体" panose="02010600030101010101" pitchFamily="2" charset="-122"/>
              </a:rPr>
              <a:t>64KB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81025" lvl="1" indent="274955" eaLnBrk="1" hangingPunct="1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段地址的低</a:t>
            </a:r>
            <a:r>
              <a:rPr lang="en-US" altLang="zh-CN" sz="2800" dirty="0">
                <a:latin typeface="宋体" panose="02010600030101010101" pitchFamily="2" charset="-122"/>
              </a:rPr>
              <a:t>4</a:t>
            </a:r>
            <a:r>
              <a:rPr lang="zh-CN" altLang="en-US" sz="2800" dirty="0">
                <a:latin typeface="宋体" panose="02010600030101010101" pitchFamily="2" charset="-122"/>
              </a:rPr>
              <a:t>位为</a:t>
            </a:r>
            <a:r>
              <a:rPr lang="en-US" altLang="zh-CN" sz="2800" dirty="0">
                <a:latin typeface="宋体" panose="02010600030101010101" pitchFamily="2" charset="-122"/>
              </a:rPr>
              <a:t>0000B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390525" eaLnBrk="1" hangingPunct="1">
              <a:lnSpc>
                <a:spcPct val="90000"/>
              </a:lnSpc>
            </a:pPr>
            <a:r>
              <a:rPr lang="zh-CN" altLang="en-US" sz="3200" dirty="0">
                <a:latin typeface="宋体" panose="02010600030101010101" pitchFamily="2" charset="-122"/>
              </a:rPr>
              <a:t>这样，一个存储单元除具有一个唯一的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物理地址</a:t>
            </a:r>
            <a:r>
              <a:rPr lang="zh-CN" altLang="en-US" sz="3200" dirty="0">
                <a:latin typeface="宋体" panose="02010600030101010101" pitchFamily="2" charset="-122"/>
              </a:rPr>
              <a:t>外，还具有多个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逻辑地址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标题 11366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物理地址和逻辑地址</a:t>
            </a:r>
            <a:endParaRPr lang="zh-CN" altLang="en-US" dirty="0"/>
          </a:p>
        </p:txBody>
      </p:sp>
      <p:sp>
        <p:nvSpPr>
          <p:cNvPr id="57347" name="文本占位符 113666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240088"/>
          </a:xfrm>
        </p:spPr>
        <p:txBody>
          <a:bodyPr vert="horz" wrap="square" lIns="91440" tIns="45720" rIns="91440" bIns="45720" anchor="t" anchorCtr="0"/>
          <a:p>
            <a:pPr marL="0" indent="390525" eaLnBrk="1" hangingPunct="1"/>
            <a:r>
              <a:rPr lang="zh-CN" altLang="en-US" dirty="0"/>
              <a:t>每个物理存储单元有一个唯一的</a:t>
            </a:r>
            <a:r>
              <a:rPr lang="en-US" altLang="zh-CN" dirty="0"/>
              <a:t>20</a:t>
            </a:r>
            <a:r>
              <a:rPr lang="zh-CN" altLang="en-US" dirty="0"/>
              <a:t>位编号，即物理地址：</a:t>
            </a:r>
            <a:endParaRPr lang="zh-CN" altLang="en-US" dirty="0"/>
          </a:p>
          <a:p>
            <a:pPr marL="0" indent="390525" eaLnBrk="1" hangingPunct="1"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chemeClr val="accent2"/>
                </a:solidFill>
              </a:rPr>
              <a:t>00000H</a:t>
            </a:r>
            <a:r>
              <a:rPr lang="zh-CN" altLang="en-US" dirty="0">
                <a:solidFill>
                  <a:schemeClr val="accent2"/>
                </a:solidFill>
              </a:rPr>
              <a:t>～</a:t>
            </a:r>
            <a:r>
              <a:rPr lang="en-US" altLang="zh-CN" dirty="0">
                <a:solidFill>
                  <a:schemeClr val="accent2"/>
                </a:solidFill>
              </a:rPr>
              <a:t>FFFFFH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0" indent="390525" eaLnBrk="1" hangingPunct="1"/>
            <a:r>
              <a:rPr lang="zh-CN" altLang="en-US" dirty="0">
                <a:latin typeface="宋体" panose="02010600030101010101" pitchFamily="2" charset="-122"/>
              </a:rPr>
              <a:t>分段后用户编程时，采用逻辑地址：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algn="ctr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段基地址 </a:t>
            </a:r>
            <a:r>
              <a:rPr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段内偏移地址</a:t>
            </a:r>
            <a:endParaRPr lang="zh-CN" altLang="en-US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圆角矩形标注 113667"/>
          <p:cNvSpPr>
            <a:spLocks noChangeArrowheads="1"/>
          </p:cNvSpPr>
          <p:nvPr/>
        </p:nvSpPr>
        <p:spPr bwMode="auto">
          <a:xfrm>
            <a:off x="3348038" y="4691063"/>
            <a:ext cx="1600200" cy="609600"/>
          </a:xfrm>
          <a:prstGeom prst="wedgeRoundRectCallout">
            <a:avLst>
              <a:gd name="adj1" fmla="val 10319"/>
              <a:gd name="adj2" fmla="val -141926"/>
              <a:gd name="adj3" fmla="val 16667"/>
            </a:avLst>
          </a:prstGeom>
          <a:gradFill rotWithShape="0">
            <a:gsLst>
              <a:gs pos="0">
                <a:srgbClr val="5E5E00"/>
              </a:gs>
              <a:gs pos="50000">
                <a:schemeClr val="accent1"/>
              </a:gs>
              <a:gs pos="100000">
                <a:srgbClr val="5E5E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分隔符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pull dir="r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22835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逻辑地址与物理地址</a:t>
            </a:r>
            <a:endParaRPr lang="zh-CN" altLang="en-US" dirty="0"/>
          </a:p>
        </p:txBody>
      </p:sp>
      <p:grpSp>
        <p:nvGrpSpPr>
          <p:cNvPr id="58371" name="组合 228356"/>
          <p:cNvGrpSpPr/>
          <p:nvPr/>
        </p:nvGrpSpPr>
        <p:grpSpPr>
          <a:xfrm>
            <a:off x="179388" y="998538"/>
            <a:ext cx="8785225" cy="5400675"/>
            <a:chOff x="113" y="572"/>
            <a:chExt cx="5534" cy="3402"/>
          </a:xfrm>
        </p:grpSpPr>
        <p:sp>
          <p:nvSpPr>
            <p:cNvPr id="58372" name="矩形 228357"/>
            <p:cNvSpPr/>
            <p:nvPr/>
          </p:nvSpPr>
          <p:spPr>
            <a:xfrm>
              <a:off x="113" y="572"/>
              <a:ext cx="5534" cy="340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grpSp>
          <p:nvGrpSpPr>
            <p:cNvPr id="58373" name="组合 228358"/>
            <p:cNvGrpSpPr/>
            <p:nvPr/>
          </p:nvGrpSpPr>
          <p:grpSpPr>
            <a:xfrm>
              <a:off x="113" y="592"/>
              <a:ext cx="5534" cy="3110"/>
              <a:chOff x="113" y="592"/>
              <a:chExt cx="5534" cy="3110"/>
            </a:xfrm>
          </p:grpSpPr>
          <p:sp>
            <p:nvSpPr>
              <p:cNvPr id="58374" name="矩形 228359"/>
              <p:cNvSpPr/>
              <p:nvPr/>
            </p:nvSpPr>
            <p:spPr>
              <a:xfrm>
                <a:off x="3968" y="1698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108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75" name="矩形 228360"/>
              <p:cNvSpPr/>
              <p:nvPr/>
            </p:nvSpPr>
            <p:spPr>
              <a:xfrm>
                <a:off x="3968" y="1372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208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76" name="矩形 228361"/>
              <p:cNvSpPr/>
              <p:nvPr/>
            </p:nvSpPr>
            <p:spPr>
              <a:xfrm>
                <a:off x="3968" y="1009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308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77" name="矩形 228362"/>
              <p:cNvSpPr/>
              <p:nvPr/>
            </p:nvSpPr>
            <p:spPr>
              <a:xfrm>
                <a:off x="2880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106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78" name="矩形 228363"/>
              <p:cNvSpPr/>
              <p:nvPr/>
            </p:nvSpPr>
            <p:spPr>
              <a:xfrm>
                <a:off x="2880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206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79" name="矩形 228364"/>
              <p:cNvSpPr/>
              <p:nvPr/>
            </p:nvSpPr>
            <p:spPr>
              <a:xfrm>
                <a:off x="2880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306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0" name="矩形 228365"/>
              <p:cNvSpPr/>
              <p:nvPr/>
            </p:nvSpPr>
            <p:spPr>
              <a:xfrm>
                <a:off x="3424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107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1" name="矩形 228366"/>
              <p:cNvSpPr/>
              <p:nvPr/>
            </p:nvSpPr>
            <p:spPr>
              <a:xfrm>
                <a:off x="3424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207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2" name="矩形 228367"/>
              <p:cNvSpPr/>
              <p:nvPr/>
            </p:nvSpPr>
            <p:spPr>
              <a:xfrm>
                <a:off x="3424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307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3" name="矩形 228368"/>
              <p:cNvSpPr/>
              <p:nvPr/>
            </p:nvSpPr>
            <p:spPr>
              <a:xfrm>
                <a:off x="4513" y="1698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109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4" name="矩形 228369"/>
              <p:cNvSpPr/>
              <p:nvPr/>
            </p:nvSpPr>
            <p:spPr>
              <a:xfrm>
                <a:off x="4513" y="1372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209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5" name="矩形 228370"/>
              <p:cNvSpPr/>
              <p:nvPr/>
            </p:nvSpPr>
            <p:spPr>
              <a:xfrm>
                <a:off x="4513" y="1009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309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6" name="矩形 228371"/>
              <p:cNvSpPr/>
              <p:nvPr/>
            </p:nvSpPr>
            <p:spPr>
              <a:xfrm>
                <a:off x="5058" y="1698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110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7" name="矩形 228372"/>
              <p:cNvSpPr/>
              <p:nvPr/>
            </p:nvSpPr>
            <p:spPr>
              <a:xfrm>
                <a:off x="2335" y="1698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105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8" name="矩形 228373"/>
              <p:cNvSpPr/>
              <p:nvPr/>
            </p:nvSpPr>
            <p:spPr>
              <a:xfrm>
                <a:off x="1791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104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89" name="矩形 228374"/>
              <p:cNvSpPr/>
              <p:nvPr/>
            </p:nvSpPr>
            <p:spPr>
              <a:xfrm>
                <a:off x="1247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103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0" name="矩形 228375"/>
              <p:cNvSpPr/>
              <p:nvPr/>
            </p:nvSpPr>
            <p:spPr>
              <a:xfrm>
                <a:off x="657" y="1698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102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1" name="矩形 228376"/>
              <p:cNvSpPr/>
              <p:nvPr/>
            </p:nvSpPr>
            <p:spPr>
              <a:xfrm>
                <a:off x="113" y="1698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101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2" name="矩形 228377"/>
              <p:cNvSpPr/>
              <p:nvPr/>
            </p:nvSpPr>
            <p:spPr>
              <a:xfrm>
                <a:off x="5058" y="1372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210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3" name="矩形 228378"/>
              <p:cNvSpPr/>
              <p:nvPr/>
            </p:nvSpPr>
            <p:spPr>
              <a:xfrm>
                <a:off x="2335" y="1372"/>
                <a:ext cx="545" cy="326"/>
              </a:xfrm>
              <a:prstGeom prst="rect">
                <a:avLst/>
              </a:prstGeom>
              <a:solidFill>
                <a:srgbClr val="996633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/>
                  <a:t>205</a:t>
                </a:r>
                <a:endParaRPr lang="en-US" altLang="zh-CN" sz="3200" dirty="0"/>
              </a:p>
            </p:txBody>
          </p:sp>
          <p:sp>
            <p:nvSpPr>
              <p:cNvPr id="58394" name="矩形 228379"/>
              <p:cNvSpPr/>
              <p:nvPr/>
            </p:nvSpPr>
            <p:spPr>
              <a:xfrm>
                <a:off x="1791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204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5" name="矩形 228380"/>
              <p:cNvSpPr/>
              <p:nvPr/>
            </p:nvSpPr>
            <p:spPr>
              <a:xfrm>
                <a:off x="1247" y="1372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203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6" name="矩形 228381"/>
              <p:cNvSpPr/>
              <p:nvPr/>
            </p:nvSpPr>
            <p:spPr>
              <a:xfrm>
                <a:off x="657" y="1372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202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7" name="矩形 228382"/>
              <p:cNvSpPr/>
              <p:nvPr/>
            </p:nvSpPr>
            <p:spPr>
              <a:xfrm>
                <a:off x="113" y="1372"/>
                <a:ext cx="544" cy="326"/>
              </a:xfrm>
              <a:prstGeom prst="rect">
                <a:avLst/>
              </a:prstGeom>
              <a:solidFill>
                <a:srgbClr val="DBDAB4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201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8" name="矩形 228383"/>
              <p:cNvSpPr/>
              <p:nvPr/>
            </p:nvSpPr>
            <p:spPr>
              <a:xfrm>
                <a:off x="5058" y="1009"/>
                <a:ext cx="589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310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399" name="矩形 228384"/>
              <p:cNvSpPr/>
              <p:nvPr/>
            </p:nvSpPr>
            <p:spPr>
              <a:xfrm>
                <a:off x="2335" y="1009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305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00" name="矩形 228385"/>
              <p:cNvSpPr/>
              <p:nvPr/>
            </p:nvSpPr>
            <p:spPr>
              <a:xfrm>
                <a:off x="1791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304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01" name="矩形 228386"/>
              <p:cNvSpPr/>
              <p:nvPr/>
            </p:nvSpPr>
            <p:spPr>
              <a:xfrm>
                <a:off x="1247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303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02" name="矩形 228387"/>
              <p:cNvSpPr/>
              <p:nvPr/>
            </p:nvSpPr>
            <p:spPr>
              <a:xfrm>
                <a:off x="657" y="1009"/>
                <a:ext cx="590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302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03" name="矩形 228388"/>
              <p:cNvSpPr/>
              <p:nvPr/>
            </p:nvSpPr>
            <p:spPr>
              <a:xfrm>
                <a:off x="113" y="1009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301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04" name="直接连接符 228389"/>
              <p:cNvSpPr/>
              <p:nvPr/>
            </p:nvSpPr>
            <p:spPr>
              <a:xfrm>
                <a:off x="113" y="1372"/>
                <a:ext cx="3855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5" name="直接连接符 228390"/>
              <p:cNvSpPr/>
              <p:nvPr/>
            </p:nvSpPr>
            <p:spPr>
              <a:xfrm>
                <a:off x="113" y="1009"/>
                <a:ext cx="0" cy="1015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6" name="直接连接符 228391"/>
              <p:cNvSpPr/>
              <p:nvPr/>
            </p:nvSpPr>
            <p:spPr>
              <a:xfrm>
                <a:off x="657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7" name="直接连接符 228392"/>
              <p:cNvSpPr/>
              <p:nvPr/>
            </p:nvSpPr>
            <p:spPr>
              <a:xfrm>
                <a:off x="1247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8" name="直接连接符 228393"/>
              <p:cNvSpPr/>
              <p:nvPr/>
            </p:nvSpPr>
            <p:spPr>
              <a:xfrm>
                <a:off x="1791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09" name="直接连接符 228394"/>
              <p:cNvSpPr/>
              <p:nvPr/>
            </p:nvSpPr>
            <p:spPr>
              <a:xfrm>
                <a:off x="2335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0" name="直接连接符 228395"/>
              <p:cNvSpPr/>
              <p:nvPr/>
            </p:nvSpPr>
            <p:spPr>
              <a:xfrm>
                <a:off x="2880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1" name="直接连接符 228396"/>
              <p:cNvSpPr/>
              <p:nvPr/>
            </p:nvSpPr>
            <p:spPr>
              <a:xfrm>
                <a:off x="5647" y="1009"/>
                <a:ext cx="0" cy="1015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2" name="直接连接符 228397"/>
              <p:cNvSpPr/>
              <p:nvPr/>
            </p:nvSpPr>
            <p:spPr>
              <a:xfrm>
                <a:off x="113" y="1698"/>
                <a:ext cx="3855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3" name="直接连接符 228398"/>
              <p:cNvSpPr/>
              <p:nvPr/>
            </p:nvSpPr>
            <p:spPr>
              <a:xfrm>
                <a:off x="5058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4" name="直接连接符 228399"/>
              <p:cNvSpPr/>
              <p:nvPr/>
            </p:nvSpPr>
            <p:spPr>
              <a:xfrm>
                <a:off x="3968" y="1009"/>
                <a:ext cx="0" cy="1015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5" name="直接连接符 228400"/>
              <p:cNvSpPr/>
              <p:nvPr/>
            </p:nvSpPr>
            <p:spPr>
              <a:xfrm>
                <a:off x="3424" y="1009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6" name="直接连接符 228401"/>
              <p:cNvSpPr/>
              <p:nvPr/>
            </p:nvSpPr>
            <p:spPr>
              <a:xfrm>
                <a:off x="4513" y="1009"/>
                <a:ext cx="0" cy="1015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7" name="直接连接符 228402"/>
              <p:cNvSpPr/>
              <p:nvPr/>
            </p:nvSpPr>
            <p:spPr>
              <a:xfrm>
                <a:off x="3968" y="1009"/>
                <a:ext cx="545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8" name="直接连接符 228403"/>
              <p:cNvSpPr/>
              <p:nvPr/>
            </p:nvSpPr>
            <p:spPr>
              <a:xfrm>
                <a:off x="113" y="1009"/>
                <a:ext cx="3855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9" name="直接连接符 228404"/>
              <p:cNvSpPr/>
              <p:nvPr/>
            </p:nvSpPr>
            <p:spPr>
              <a:xfrm>
                <a:off x="4513" y="1009"/>
                <a:ext cx="113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0" name="直接连接符 228405"/>
              <p:cNvSpPr/>
              <p:nvPr/>
            </p:nvSpPr>
            <p:spPr>
              <a:xfrm>
                <a:off x="3968" y="1372"/>
                <a:ext cx="545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1" name="直接连接符 228406"/>
              <p:cNvSpPr/>
              <p:nvPr/>
            </p:nvSpPr>
            <p:spPr>
              <a:xfrm>
                <a:off x="4513" y="1372"/>
                <a:ext cx="113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2" name="直接连接符 228407"/>
              <p:cNvSpPr/>
              <p:nvPr/>
            </p:nvSpPr>
            <p:spPr>
              <a:xfrm>
                <a:off x="3968" y="1698"/>
                <a:ext cx="545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3" name="直接连接符 228408"/>
              <p:cNvSpPr/>
              <p:nvPr/>
            </p:nvSpPr>
            <p:spPr>
              <a:xfrm>
                <a:off x="4513" y="1698"/>
                <a:ext cx="113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4" name="直接连接符 228409"/>
              <p:cNvSpPr/>
              <p:nvPr/>
            </p:nvSpPr>
            <p:spPr>
              <a:xfrm>
                <a:off x="3968" y="2024"/>
                <a:ext cx="545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5" name="直接连接符 228410"/>
              <p:cNvSpPr/>
              <p:nvPr/>
            </p:nvSpPr>
            <p:spPr>
              <a:xfrm>
                <a:off x="113" y="2024"/>
                <a:ext cx="3855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6" name="直接连接符 228411"/>
              <p:cNvSpPr/>
              <p:nvPr/>
            </p:nvSpPr>
            <p:spPr>
              <a:xfrm>
                <a:off x="4513" y="2024"/>
                <a:ext cx="113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7" name="矩形 228412"/>
              <p:cNvSpPr/>
              <p:nvPr/>
            </p:nvSpPr>
            <p:spPr>
              <a:xfrm>
                <a:off x="3968" y="3376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08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28" name="矩形 228413"/>
              <p:cNvSpPr/>
              <p:nvPr/>
            </p:nvSpPr>
            <p:spPr>
              <a:xfrm>
                <a:off x="3968" y="3050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18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29" name="矩形 228414"/>
              <p:cNvSpPr/>
              <p:nvPr/>
            </p:nvSpPr>
            <p:spPr>
              <a:xfrm>
                <a:off x="3968" y="2687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28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0" name="矩形 228415"/>
              <p:cNvSpPr/>
              <p:nvPr/>
            </p:nvSpPr>
            <p:spPr>
              <a:xfrm>
                <a:off x="2880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06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1" name="矩形 228416"/>
              <p:cNvSpPr/>
              <p:nvPr/>
            </p:nvSpPr>
            <p:spPr>
              <a:xfrm>
                <a:off x="2880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16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2" name="矩形 228417"/>
              <p:cNvSpPr/>
              <p:nvPr/>
            </p:nvSpPr>
            <p:spPr>
              <a:xfrm>
                <a:off x="2880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26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3" name="矩形 228418"/>
              <p:cNvSpPr/>
              <p:nvPr/>
            </p:nvSpPr>
            <p:spPr>
              <a:xfrm>
                <a:off x="3424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07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4" name="矩形 228419"/>
              <p:cNvSpPr/>
              <p:nvPr/>
            </p:nvSpPr>
            <p:spPr>
              <a:xfrm>
                <a:off x="3424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17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5" name="矩形 228420"/>
              <p:cNvSpPr/>
              <p:nvPr/>
            </p:nvSpPr>
            <p:spPr>
              <a:xfrm>
                <a:off x="3424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27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6" name="矩形 228421"/>
              <p:cNvSpPr/>
              <p:nvPr/>
            </p:nvSpPr>
            <p:spPr>
              <a:xfrm>
                <a:off x="4513" y="3376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09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7" name="矩形 228422"/>
              <p:cNvSpPr/>
              <p:nvPr/>
            </p:nvSpPr>
            <p:spPr>
              <a:xfrm>
                <a:off x="4513" y="3050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19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8" name="矩形 228423"/>
              <p:cNvSpPr/>
              <p:nvPr/>
            </p:nvSpPr>
            <p:spPr>
              <a:xfrm>
                <a:off x="4513" y="2687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29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39" name="矩形 228424"/>
              <p:cNvSpPr/>
              <p:nvPr/>
            </p:nvSpPr>
            <p:spPr>
              <a:xfrm>
                <a:off x="5058" y="3376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10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0" name="矩形 228425"/>
              <p:cNvSpPr/>
              <p:nvPr/>
            </p:nvSpPr>
            <p:spPr>
              <a:xfrm>
                <a:off x="2335" y="3376"/>
                <a:ext cx="545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05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1" name="矩形 228426"/>
              <p:cNvSpPr/>
              <p:nvPr/>
            </p:nvSpPr>
            <p:spPr>
              <a:xfrm>
                <a:off x="1791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04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2" name="矩形 228427"/>
              <p:cNvSpPr/>
              <p:nvPr/>
            </p:nvSpPr>
            <p:spPr>
              <a:xfrm>
                <a:off x="1247" y="3376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03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3" name="矩形 228428"/>
              <p:cNvSpPr/>
              <p:nvPr/>
            </p:nvSpPr>
            <p:spPr>
              <a:xfrm>
                <a:off x="657" y="3376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02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4" name="矩形 228429"/>
              <p:cNvSpPr/>
              <p:nvPr/>
            </p:nvSpPr>
            <p:spPr>
              <a:xfrm>
                <a:off x="113" y="3376"/>
                <a:ext cx="544" cy="326"/>
              </a:xfrm>
              <a:prstGeom prst="rect">
                <a:avLst/>
              </a:prstGeom>
              <a:solidFill>
                <a:srgbClr val="DBDAB4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01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5" name="矩形 228430"/>
              <p:cNvSpPr/>
              <p:nvPr/>
            </p:nvSpPr>
            <p:spPr>
              <a:xfrm>
                <a:off x="5058" y="3050"/>
                <a:ext cx="589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20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6" name="矩形 228431"/>
              <p:cNvSpPr/>
              <p:nvPr/>
            </p:nvSpPr>
            <p:spPr>
              <a:xfrm>
                <a:off x="2335" y="3050"/>
                <a:ext cx="545" cy="326"/>
              </a:xfrm>
              <a:prstGeom prst="rect">
                <a:avLst/>
              </a:prstGeom>
              <a:solidFill>
                <a:srgbClr val="996633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/>
                  <a:t>15</a:t>
                </a:r>
                <a:endParaRPr lang="en-US" altLang="zh-CN" sz="3200" dirty="0"/>
              </a:p>
            </p:txBody>
          </p:sp>
          <p:sp>
            <p:nvSpPr>
              <p:cNvPr id="58447" name="矩形 228432"/>
              <p:cNvSpPr/>
              <p:nvPr/>
            </p:nvSpPr>
            <p:spPr>
              <a:xfrm>
                <a:off x="1791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14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8" name="矩形 228433"/>
              <p:cNvSpPr/>
              <p:nvPr/>
            </p:nvSpPr>
            <p:spPr>
              <a:xfrm>
                <a:off x="1247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13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49" name="矩形 228434"/>
              <p:cNvSpPr/>
              <p:nvPr/>
            </p:nvSpPr>
            <p:spPr>
              <a:xfrm>
                <a:off x="657" y="3050"/>
                <a:ext cx="590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12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0" name="矩形 228435"/>
              <p:cNvSpPr/>
              <p:nvPr/>
            </p:nvSpPr>
            <p:spPr>
              <a:xfrm>
                <a:off x="113" y="3050"/>
                <a:ext cx="544" cy="32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11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1" name="矩形 228436"/>
              <p:cNvSpPr/>
              <p:nvPr/>
            </p:nvSpPr>
            <p:spPr>
              <a:xfrm>
                <a:off x="5058" y="2687"/>
                <a:ext cx="589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30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2" name="矩形 228437"/>
              <p:cNvSpPr/>
              <p:nvPr/>
            </p:nvSpPr>
            <p:spPr>
              <a:xfrm>
                <a:off x="2335" y="2687"/>
                <a:ext cx="545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25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3" name="矩形 228438"/>
              <p:cNvSpPr/>
              <p:nvPr/>
            </p:nvSpPr>
            <p:spPr>
              <a:xfrm>
                <a:off x="1791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24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4" name="矩形 228439"/>
              <p:cNvSpPr/>
              <p:nvPr/>
            </p:nvSpPr>
            <p:spPr>
              <a:xfrm>
                <a:off x="1247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23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5" name="矩形 228440"/>
              <p:cNvSpPr/>
              <p:nvPr/>
            </p:nvSpPr>
            <p:spPr>
              <a:xfrm>
                <a:off x="657" y="2687"/>
                <a:ext cx="590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22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6" name="矩形 228441"/>
              <p:cNvSpPr/>
              <p:nvPr/>
            </p:nvSpPr>
            <p:spPr>
              <a:xfrm>
                <a:off x="113" y="2687"/>
                <a:ext cx="544" cy="36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buFontTx/>
                  <a:buNone/>
                </a:pPr>
                <a:r>
                  <a:rPr lang="en-US" altLang="zh-CN" sz="3200" dirty="0">
                    <a:solidFill>
                      <a:srgbClr val="0000CC"/>
                    </a:solidFill>
                  </a:rPr>
                  <a:t>21</a:t>
                </a:r>
                <a:endParaRPr lang="en-US" altLang="zh-CN" sz="3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58457" name="直接连接符 228442"/>
              <p:cNvSpPr/>
              <p:nvPr/>
            </p:nvSpPr>
            <p:spPr>
              <a:xfrm>
                <a:off x="113" y="3050"/>
                <a:ext cx="3855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58" name="直接连接符 228443"/>
              <p:cNvSpPr/>
              <p:nvPr/>
            </p:nvSpPr>
            <p:spPr>
              <a:xfrm>
                <a:off x="113" y="2687"/>
                <a:ext cx="0" cy="1015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59" name="直接连接符 228444"/>
              <p:cNvSpPr/>
              <p:nvPr/>
            </p:nvSpPr>
            <p:spPr>
              <a:xfrm>
                <a:off x="657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0" name="直接连接符 228445"/>
              <p:cNvSpPr/>
              <p:nvPr/>
            </p:nvSpPr>
            <p:spPr>
              <a:xfrm>
                <a:off x="1247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1" name="直接连接符 228446"/>
              <p:cNvSpPr/>
              <p:nvPr/>
            </p:nvSpPr>
            <p:spPr>
              <a:xfrm>
                <a:off x="1791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2" name="直接连接符 228447"/>
              <p:cNvSpPr/>
              <p:nvPr/>
            </p:nvSpPr>
            <p:spPr>
              <a:xfrm>
                <a:off x="2335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3" name="直接连接符 228448"/>
              <p:cNvSpPr/>
              <p:nvPr/>
            </p:nvSpPr>
            <p:spPr>
              <a:xfrm>
                <a:off x="2880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4" name="直接连接符 228449"/>
              <p:cNvSpPr/>
              <p:nvPr/>
            </p:nvSpPr>
            <p:spPr>
              <a:xfrm>
                <a:off x="5647" y="2687"/>
                <a:ext cx="0" cy="1015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5" name="直接连接符 228450"/>
              <p:cNvSpPr/>
              <p:nvPr/>
            </p:nvSpPr>
            <p:spPr>
              <a:xfrm>
                <a:off x="113" y="3376"/>
                <a:ext cx="3855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6" name="直接连接符 228451"/>
              <p:cNvSpPr/>
              <p:nvPr/>
            </p:nvSpPr>
            <p:spPr>
              <a:xfrm>
                <a:off x="5058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7" name="直接连接符 228452"/>
              <p:cNvSpPr/>
              <p:nvPr/>
            </p:nvSpPr>
            <p:spPr>
              <a:xfrm>
                <a:off x="3968" y="2687"/>
                <a:ext cx="0" cy="1015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8" name="直接连接符 228453"/>
              <p:cNvSpPr/>
              <p:nvPr/>
            </p:nvSpPr>
            <p:spPr>
              <a:xfrm>
                <a:off x="3424" y="2687"/>
                <a:ext cx="0" cy="10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69" name="直接连接符 228454"/>
              <p:cNvSpPr/>
              <p:nvPr/>
            </p:nvSpPr>
            <p:spPr>
              <a:xfrm>
                <a:off x="4513" y="2687"/>
                <a:ext cx="0" cy="1015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0" name="直接连接符 228455"/>
              <p:cNvSpPr/>
              <p:nvPr/>
            </p:nvSpPr>
            <p:spPr>
              <a:xfrm>
                <a:off x="3968" y="2687"/>
                <a:ext cx="545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1" name="直接连接符 228456"/>
              <p:cNvSpPr/>
              <p:nvPr/>
            </p:nvSpPr>
            <p:spPr>
              <a:xfrm>
                <a:off x="113" y="2687"/>
                <a:ext cx="3855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2" name="直接连接符 228457"/>
              <p:cNvSpPr/>
              <p:nvPr/>
            </p:nvSpPr>
            <p:spPr>
              <a:xfrm>
                <a:off x="4513" y="2687"/>
                <a:ext cx="113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3" name="直接连接符 228458"/>
              <p:cNvSpPr/>
              <p:nvPr/>
            </p:nvSpPr>
            <p:spPr>
              <a:xfrm>
                <a:off x="3968" y="3050"/>
                <a:ext cx="545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4" name="直接连接符 228459"/>
              <p:cNvSpPr/>
              <p:nvPr/>
            </p:nvSpPr>
            <p:spPr>
              <a:xfrm>
                <a:off x="4513" y="3050"/>
                <a:ext cx="113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5" name="直接连接符 228460"/>
              <p:cNvSpPr/>
              <p:nvPr/>
            </p:nvSpPr>
            <p:spPr>
              <a:xfrm>
                <a:off x="3968" y="3376"/>
                <a:ext cx="545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6" name="直接连接符 228461"/>
              <p:cNvSpPr/>
              <p:nvPr/>
            </p:nvSpPr>
            <p:spPr>
              <a:xfrm>
                <a:off x="4513" y="3376"/>
                <a:ext cx="113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7" name="直接连接符 228462"/>
              <p:cNvSpPr/>
              <p:nvPr/>
            </p:nvSpPr>
            <p:spPr>
              <a:xfrm>
                <a:off x="3968" y="3702"/>
                <a:ext cx="545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8" name="直接连接符 228463"/>
              <p:cNvSpPr/>
              <p:nvPr/>
            </p:nvSpPr>
            <p:spPr>
              <a:xfrm>
                <a:off x="113" y="3702"/>
                <a:ext cx="3855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79" name="直接连接符 228464"/>
              <p:cNvSpPr/>
              <p:nvPr/>
            </p:nvSpPr>
            <p:spPr>
              <a:xfrm>
                <a:off x="4513" y="3702"/>
                <a:ext cx="113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80" name="文本框 228465"/>
              <p:cNvSpPr txBox="1"/>
              <p:nvPr/>
            </p:nvSpPr>
            <p:spPr>
              <a:xfrm>
                <a:off x="385" y="592"/>
                <a:ext cx="5080" cy="36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3200" dirty="0"/>
                  <a:t>逻辑地址＝相对地址：</a:t>
                </a:r>
                <a:r>
                  <a:rPr lang="en-US" altLang="zh-CN" sz="3200" dirty="0"/>
                  <a:t>205</a:t>
                </a:r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层</a:t>
                </a:r>
                <a:r>
                  <a:rPr lang="en-US" altLang="zh-CN" sz="3200" dirty="0"/>
                  <a:t>05</a:t>
                </a:r>
                <a:r>
                  <a:rPr lang="zh-CN" altLang="en-US" sz="3200" dirty="0"/>
                  <a:t>号房间）</a:t>
                </a:r>
                <a:endParaRPr lang="zh-CN" altLang="en-US" sz="3200" dirty="0"/>
              </a:p>
            </p:txBody>
          </p:sp>
          <p:sp>
            <p:nvSpPr>
              <p:cNvPr id="58481" name="文本框 228466"/>
              <p:cNvSpPr txBox="1"/>
              <p:nvPr/>
            </p:nvSpPr>
            <p:spPr>
              <a:xfrm>
                <a:off x="385" y="2270"/>
                <a:ext cx="4796" cy="36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3200" dirty="0"/>
                  <a:t>物理地址＝绝对地址：</a:t>
                </a:r>
                <a:r>
                  <a:rPr lang="en-US" altLang="zh-CN" sz="3200" dirty="0"/>
                  <a:t>15</a:t>
                </a:r>
                <a:r>
                  <a:rPr lang="zh-CN" altLang="en-US" sz="3200" dirty="0"/>
                  <a:t>（第</a:t>
                </a:r>
                <a:r>
                  <a:rPr lang="en-US" altLang="zh-CN" sz="3200" dirty="0"/>
                  <a:t>15</a:t>
                </a:r>
                <a:r>
                  <a:rPr lang="zh-CN" altLang="en-US" sz="3200" dirty="0"/>
                  <a:t>号房间）</a:t>
                </a:r>
                <a:endParaRPr lang="zh-CN" altLang="en-US" sz="3200" dirty="0"/>
              </a:p>
            </p:txBody>
          </p: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标题 11468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逻辑地址</a:t>
            </a:r>
            <a:endParaRPr lang="zh-CN" altLang="en-US" dirty="0"/>
          </a:p>
        </p:txBody>
      </p:sp>
      <p:sp>
        <p:nvSpPr>
          <p:cNvPr id="59395" name="文本占位符 11469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>
                <a:solidFill>
                  <a:schemeClr val="accent2"/>
                </a:solidFill>
              </a:rPr>
              <a:t>段地址</a:t>
            </a:r>
            <a:r>
              <a:rPr lang="zh-CN" altLang="en-US" sz="3200" dirty="0"/>
              <a:t>说明逻辑段在主存中的起始位置</a:t>
            </a:r>
            <a:endParaRPr lang="zh-CN" altLang="en-US" sz="3200" dirty="0"/>
          </a:p>
          <a:p>
            <a:pPr eaLnBrk="1" hangingPunct="1"/>
            <a:r>
              <a:rPr lang="en-US" altLang="zh-CN" sz="3200" dirty="0"/>
              <a:t>8086</a:t>
            </a:r>
            <a:r>
              <a:rPr lang="zh-CN" altLang="en-US" sz="3200" dirty="0"/>
              <a:t>规定段地址必须是模</a:t>
            </a:r>
            <a:r>
              <a:rPr lang="en-US" altLang="zh-CN" sz="3200" dirty="0"/>
              <a:t>16</a:t>
            </a:r>
            <a:r>
              <a:rPr lang="zh-CN" altLang="en-US" sz="3200" dirty="0"/>
              <a:t>地址：</a:t>
            </a:r>
            <a:r>
              <a:rPr lang="en-US" altLang="zh-CN" sz="3200" dirty="0"/>
              <a:t>xxxx0H</a:t>
            </a:r>
            <a:endParaRPr lang="en-US" altLang="zh-CN" sz="3200" dirty="0"/>
          </a:p>
          <a:p>
            <a:pPr eaLnBrk="1" hangingPunct="1"/>
            <a:r>
              <a:rPr lang="zh-CN" altLang="en-US" sz="3200" dirty="0"/>
              <a:t>省略低</a:t>
            </a:r>
            <a:r>
              <a:rPr lang="en-US" altLang="zh-CN" sz="3200" dirty="0"/>
              <a:t>4</a:t>
            </a:r>
            <a:r>
              <a:rPr lang="zh-CN" altLang="en-US" sz="3200" dirty="0"/>
              <a:t>位</a:t>
            </a:r>
            <a:r>
              <a:rPr lang="en-US" altLang="zh-CN" sz="3200" dirty="0"/>
              <a:t>0000B</a:t>
            </a:r>
            <a:r>
              <a:rPr lang="zh-CN" altLang="en-US" sz="3200" dirty="0"/>
              <a:t>，段地址就可以用</a:t>
            </a:r>
            <a:r>
              <a:rPr lang="en-US" altLang="zh-CN" sz="3200" dirty="0"/>
              <a:t>16</a:t>
            </a:r>
            <a:r>
              <a:rPr lang="zh-CN" altLang="en-US" sz="3200" dirty="0"/>
              <a:t>位数据表示，就能用</a:t>
            </a:r>
            <a:r>
              <a:rPr lang="en-US" altLang="zh-CN" sz="3200" dirty="0">
                <a:solidFill>
                  <a:schemeClr val="tx2"/>
                </a:solidFill>
              </a:rPr>
              <a:t>16</a:t>
            </a:r>
            <a:r>
              <a:rPr lang="zh-CN" altLang="en-US" sz="3200" dirty="0">
                <a:solidFill>
                  <a:schemeClr val="tx2"/>
                </a:solidFill>
              </a:rPr>
              <a:t>位</a:t>
            </a:r>
            <a:r>
              <a:rPr lang="zh-CN" altLang="en-US" sz="3200" dirty="0">
                <a:solidFill>
                  <a:schemeClr val="accent2"/>
                </a:solidFill>
              </a:rPr>
              <a:t>段寄存器</a:t>
            </a:r>
            <a:r>
              <a:rPr lang="zh-CN" altLang="en-US" sz="3200" dirty="0"/>
              <a:t>表达段地址</a:t>
            </a:r>
            <a:endParaRPr lang="zh-CN" altLang="en-US" sz="3200" dirty="0"/>
          </a:p>
          <a:p>
            <a:pPr eaLnBrk="1" hangingPunct="1">
              <a:buNone/>
            </a:pPr>
            <a:endParaRPr lang="zh-CN" altLang="en-US" sz="3200" dirty="0"/>
          </a:p>
          <a:p>
            <a:pPr eaLnBrk="1" hangingPunct="1"/>
            <a:r>
              <a:rPr lang="zh-CN" altLang="en-US" sz="3200" dirty="0">
                <a:solidFill>
                  <a:schemeClr val="accent2"/>
                </a:solidFill>
              </a:rPr>
              <a:t>偏移地址</a:t>
            </a:r>
            <a:r>
              <a:rPr lang="zh-CN" altLang="en-US" sz="3200" dirty="0"/>
              <a:t>说明主存单元距离段起始位置的偏移量</a:t>
            </a:r>
            <a:endParaRPr lang="zh-CN" altLang="zh-CN" sz="3200" dirty="0"/>
          </a:p>
          <a:p>
            <a:pPr eaLnBrk="1" hangingPunct="1"/>
            <a:r>
              <a:rPr lang="zh-CN" altLang="en-US" sz="3200" dirty="0"/>
              <a:t>每段不超过</a:t>
            </a:r>
            <a:r>
              <a:rPr lang="en-US" altLang="zh-CN" sz="3200" dirty="0"/>
              <a:t>64KB</a:t>
            </a:r>
            <a:r>
              <a:rPr lang="zh-CN" altLang="en-US" sz="3200" dirty="0"/>
              <a:t>，偏移地址也可用</a:t>
            </a:r>
            <a:r>
              <a:rPr lang="en-US" altLang="zh-CN" sz="3200" dirty="0">
                <a:solidFill>
                  <a:schemeClr val="tx2"/>
                </a:solidFill>
              </a:rPr>
              <a:t>16</a:t>
            </a:r>
            <a:r>
              <a:rPr lang="zh-CN" altLang="en-US" sz="3200" dirty="0">
                <a:solidFill>
                  <a:schemeClr val="tx2"/>
                </a:solidFill>
              </a:rPr>
              <a:t>位</a:t>
            </a:r>
            <a:r>
              <a:rPr lang="zh-CN" altLang="en-US" sz="3200" dirty="0"/>
              <a:t>数据表示</a:t>
            </a:r>
            <a:endParaRPr lang="zh-CN" altLang="en-US" sz="3200" dirty="0"/>
          </a:p>
        </p:txBody>
      </p:sp>
      <p:pic>
        <p:nvPicPr>
          <p:cNvPr id="59396" name="图片 114691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63" y="3500438"/>
            <a:ext cx="8675687" cy="46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标题 1157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物理地址和逻辑地址的转换</a:t>
            </a:r>
            <a:endParaRPr lang="zh-CN" altLang="en-US" dirty="0"/>
          </a:p>
        </p:txBody>
      </p:sp>
      <p:sp>
        <p:nvSpPr>
          <p:cNvPr id="60419" name="文本占位符 115714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2647950"/>
          </a:xfrm>
        </p:spPr>
        <p:txBody>
          <a:bodyPr vert="horz" wrap="square" lIns="91440" tIns="45720" rIns="91440" bIns="45720" anchor="t" anchorCtr="0"/>
          <a:p>
            <a:pPr marL="0" indent="390525" eaLnBrk="1" hangingPunct="1"/>
            <a:r>
              <a:rPr lang="zh-CN" altLang="en-US" dirty="0">
                <a:latin typeface="宋体" panose="02010600030101010101" pitchFamily="2" charset="-122"/>
              </a:rPr>
              <a:t>将逻辑地址中的段地址左移</a:t>
            </a:r>
            <a:r>
              <a:rPr lang="en-US" altLang="zh-CN" dirty="0">
                <a:latin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</a:rPr>
              <a:t>位，加上偏移地址就得到</a:t>
            </a:r>
            <a:r>
              <a:rPr lang="en-US" altLang="zh-CN" dirty="0">
                <a:latin typeface="宋体" panose="02010600030101010101" pitchFamily="2" charset="-122"/>
              </a:rPr>
              <a:t>20</a:t>
            </a:r>
            <a:r>
              <a:rPr lang="zh-CN" altLang="en-US" dirty="0">
                <a:latin typeface="宋体" panose="02010600030101010101" pitchFamily="2" charset="-122"/>
              </a:rPr>
              <a:t>位物理地址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390525" eaLnBrk="1" hangingPunct="1"/>
            <a:r>
              <a:rPr lang="zh-CN" altLang="en-US" dirty="0">
                <a:latin typeface="宋体" panose="02010600030101010101" pitchFamily="2" charset="-122"/>
              </a:rPr>
              <a:t>一个物理地址可以有多个逻辑地址</a:t>
            </a:r>
            <a:endParaRPr lang="zh-CN" altLang="en-US" sz="4000" dirty="0"/>
          </a:p>
        </p:txBody>
      </p:sp>
      <p:sp>
        <p:nvSpPr>
          <p:cNvPr id="115716" name="圆角矩形 115715"/>
          <p:cNvSpPr/>
          <p:nvPr/>
        </p:nvSpPr>
        <p:spPr>
          <a:xfrm>
            <a:off x="1600200" y="2895600"/>
            <a:ext cx="6019800" cy="106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zh-CN" altLang="en-US" sz="3200" dirty="0">
                <a:latin typeface="宋体" panose="02010600030101010101" pitchFamily="2" charset="-122"/>
              </a:rPr>
              <a:t>逻辑地址	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1460:100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1380:F00</a:t>
            </a:r>
            <a:endParaRPr lang="en-US" altLang="zh-CN" sz="32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80000"/>
              </a:lnSpc>
              <a:buNone/>
            </a:pPr>
            <a:r>
              <a:rPr lang="zh-CN" altLang="en-US" sz="3200" dirty="0">
                <a:latin typeface="宋体" panose="02010600030101010101" pitchFamily="2" charset="-122"/>
              </a:rPr>
              <a:t>物理地址	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14700H    14700H</a:t>
            </a:r>
            <a:endParaRPr lang="en-US" altLang="zh-CN" sz="2800" b="0" i="1" dirty="0"/>
          </a:p>
        </p:txBody>
      </p:sp>
      <p:grpSp>
        <p:nvGrpSpPr>
          <p:cNvPr id="115717" name="组合 115716"/>
          <p:cNvGrpSpPr/>
          <p:nvPr/>
        </p:nvGrpSpPr>
        <p:grpSpPr>
          <a:xfrm>
            <a:off x="3810000" y="4191000"/>
            <a:ext cx="1981200" cy="1752600"/>
            <a:chOff x="2592" y="2592"/>
            <a:chExt cx="1248" cy="1104"/>
          </a:xfrm>
        </p:grpSpPr>
        <p:sp>
          <p:nvSpPr>
            <p:cNvPr id="60437" name="文本框 115717"/>
            <p:cNvSpPr txBox="1"/>
            <p:nvPr/>
          </p:nvSpPr>
          <p:spPr>
            <a:xfrm>
              <a:off x="2914" y="2592"/>
              <a:ext cx="8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buNone/>
              </a:pP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1460</a:t>
              </a:r>
              <a:r>
                <a:rPr lang="en-US" altLang="zh-CN" sz="3200" dirty="0">
                  <a:solidFill>
                    <a:schemeClr val="tx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2800" b="0" i="1" dirty="0"/>
            </a:p>
          </p:txBody>
        </p:sp>
        <p:sp>
          <p:nvSpPr>
            <p:cNvPr id="60438" name="文本框 115718"/>
            <p:cNvSpPr txBox="1"/>
            <p:nvPr/>
          </p:nvSpPr>
          <p:spPr>
            <a:xfrm>
              <a:off x="2784" y="2880"/>
              <a:ext cx="101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＋ </a:t>
              </a: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100H</a:t>
              </a:r>
              <a:endPara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39" name="直接连接符 115719"/>
            <p:cNvSpPr/>
            <p:nvPr/>
          </p:nvSpPr>
          <p:spPr>
            <a:xfrm>
              <a:off x="2592" y="3312"/>
              <a:ext cx="1248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0" name="文本框 115720"/>
            <p:cNvSpPr txBox="1"/>
            <p:nvPr/>
          </p:nvSpPr>
          <p:spPr>
            <a:xfrm>
              <a:off x="2926" y="3331"/>
              <a:ext cx="8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14700H</a:t>
              </a:r>
              <a:endPara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15722" name="组合 115721"/>
          <p:cNvGrpSpPr/>
          <p:nvPr/>
        </p:nvGrpSpPr>
        <p:grpSpPr>
          <a:xfrm>
            <a:off x="5943600" y="4191000"/>
            <a:ext cx="1981200" cy="1752600"/>
            <a:chOff x="2592" y="2592"/>
            <a:chExt cx="1248" cy="1104"/>
          </a:xfrm>
        </p:grpSpPr>
        <p:sp>
          <p:nvSpPr>
            <p:cNvPr id="60433" name="文本框 115722"/>
            <p:cNvSpPr txBox="1"/>
            <p:nvPr/>
          </p:nvSpPr>
          <p:spPr>
            <a:xfrm>
              <a:off x="2914" y="2592"/>
              <a:ext cx="8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buNone/>
              </a:pP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1380</a:t>
              </a:r>
              <a:r>
                <a:rPr lang="en-US" altLang="zh-CN" sz="3200" dirty="0">
                  <a:solidFill>
                    <a:schemeClr val="tx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2800" b="0" i="1" dirty="0"/>
            </a:p>
          </p:txBody>
        </p:sp>
        <p:sp>
          <p:nvSpPr>
            <p:cNvPr id="60434" name="文本框 115723"/>
            <p:cNvSpPr txBox="1"/>
            <p:nvPr/>
          </p:nvSpPr>
          <p:spPr>
            <a:xfrm>
              <a:off x="2784" y="2880"/>
              <a:ext cx="101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＋ </a:t>
              </a: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F00H</a:t>
              </a:r>
              <a:endPara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35" name="直接连接符 115724"/>
            <p:cNvSpPr/>
            <p:nvPr/>
          </p:nvSpPr>
          <p:spPr>
            <a:xfrm>
              <a:off x="2592" y="3312"/>
              <a:ext cx="1248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6" name="文本框 115725"/>
            <p:cNvSpPr txBox="1"/>
            <p:nvPr/>
          </p:nvSpPr>
          <p:spPr>
            <a:xfrm>
              <a:off x="2926" y="3331"/>
              <a:ext cx="8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14700H</a:t>
              </a:r>
              <a:endPara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15727" name="组合 115726"/>
          <p:cNvGrpSpPr/>
          <p:nvPr/>
        </p:nvGrpSpPr>
        <p:grpSpPr>
          <a:xfrm>
            <a:off x="228600" y="4206875"/>
            <a:ext cx="3657600" cy="1736725"/>
            <a:chOff x="144" y="2650"/>
            <a:chExt cx="2304" cy="1094"/>
          </a:xfrm>
        </p:grpSpPr>
        <p:grpSp>
          <p:nvGrpSpPr>
            <p:cNvPr id="60424" name="组合 115727"/>
            <p:cNvGrpSpPr/>
            <p:nvPr/>
          </p:nvGrpSpPr>
          <p:grpSpPr>
            <a:xfrm>
              <a:off x="144" y="2650"/>
              <a:ext cx="2304" cy="336"/>
              <a:chOff x="144" y="2640"/>
              <a:chExt cx="2304" cy="336"/>
            </a:xfrm>
          </p:grpSpPr>
          <p:sp>
            <p:nvSpPr>
              <p:cNvPr id="60431" name="直接连接符 115728"/>
              <p:cNvSpPr/>
              <p:nvPr/>
            </p:nvSpPr>
            <p:spPr>
              <a:xfrm>
                <a:off x="1824" y="2832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432" name="椭圆 115729"/>
              <p:cNvSpPr/>
              <p:nvPr/>
            </p:nvSpPr>
            <p:spPr>
              <a:xfrm>
                <a:off x="144" y="2640"/>
                <a:ext cx="1776" cy="336"/>
              </a:xfrm>
              <a:prstGeom prst="ellipse">
                <a:avLst/>
              </a:prstGeom>
              <a:gradFill rotWithShape="0">
                <a:gsLst>
                  <a:gs pos="0">
                    <a:srgbClr val="384B65"/>
                  </a:gs>
                  <a:gs pos="50000">
                    <a:srgbClr val="7AA3DA"/>
                  </a:gs>
                  <a:gs pos="100000">
                    <a:srgbClr val="384B65"/>
                  </a:gs>
                </a:gsLst>
                <a:lin ang="18900000" scaled="1"/>
                <a:tileRect/>
              </a:gradFill>
              <a:ln w="9525">
                <a:noFill/>
              </a:ln>
              <a:effectLst>
                <a:outerShdw dist="35921" dir="2699999" algn="ctr" rotWithShape="0">
                  <a:srgbClr val="808000"/>
                </a:outerShdw>
              </a:effectLst>
            </p:spPr>
            <p:txBody>
              <a:bodyPr wrap="none" anchor="ctr" anchorCtr="0"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段地址左移</a:t>
                </a:r>
                <a:r>
                  <a:rPr lang="en-US" altLang="zh-CN" sz="2400" dirty="0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4</a:t>
                </a:r>
                <a:r>
                  <a:rPr lang="zh-CN" altLang="en-US" sz="2400" dirty="0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位</a:t>
                </a:r>
                <a:endParaRPr lang="zh-CN" altLang="en-US" sz="2400" dirty="0">
                  <a:solidFill>
                    <a:srgbClr val="FFFF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60425" name="组合 115730"/>
            <p:cNvGrpSpPr/>
            <p:nvPr/>
          </p:nvGrpSpPr>
          <p:grpSpPr>
            <a:xfrm>
              <a:off x="144" y="2958"/>
              <a:ext cx="2304" cy="336"/>
              <a:chOff x="144" y="2640"/>
              <a:chExt cx="2304" cy="336"/>
            </a:xfrm>
          </p:grpSpPr>
          <p:sp>
            <p:nvSpPr>
              <p:cNvPr id="60429" name="直接连接符 115731"/>
              <p:cNvSpPr/>
              <p:nvPr/>
            </p:nvSpPr>
            <p:spPr>
              <a:xfrm>
                <a:off x="1824" y="2832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430" name="椭圆 115732"/>
              <p:cNvSpPr/>
              <p:nvPr/>
            </p:nvSpPr>
            <p:spPr>
              <a:xfrm>
                <a:off x="144" y="2640"/>
                <a:ext cx="1776" cy="336"/>
              </a:xfrm>
              <a:prstGeom prst="ellipse">
                <a:avLst/>
              </a:prstGeom>
              <a:gradFill rotWithShape="0">
                <a:gsLst>
                  <a:gs pos="0">
                    <a:srgbClr val="384B65"/>
                  </a:gs>
                  <a:gs pos="50000">
                    <a:srgbClr val="7AA3DA"/>
                  </a:gs>
                  <a:gs pos="100000">
                    <a:srgbClr val="384B65"/>
                  </a:gs>
                </a:gsLst>
                <a:lin ang="18900000" scaled="1"/>
                <a:tileRect/>
              </a:gradFill>
              <a:ln w="9525">
                <a:noFill/>
              </a:ln>
              <a:effectLst>
                <a:outerShdw dist="35921" dir="2699999" algn="ctr" rotWithShape="0">
                  <a:srgbClr val="808000"/>
                </a:outerShdw>
              </a:effectLst>
            </p:spPr>
            <p:txBody>
              <a:bodyPr wrap="none" anchor="ctr" anchorCtr="0"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加上偏移地址</a:t>
                </a:r>
                <a:endParaRPr lang="zh-CN" altLang="en-US" sz="2400" dirty="0">
                  <a:solidFill>
                    <a:srgbClr val="FFFF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60426" name="组合 115733"/>
            <p:cNvGrpSpPr/>
            <p:nvPr/>
          </p:nvGrpSpPr>
          <p:grpSpPr>
            <a:xfrm>
              <a:off x="144" y="3408"/>
              <a:ext cx="2304" cy="336"/>
              <a:chOff x="144" y="2640"/>
              <a:chExt cx="2304" cy="336"/>
            </a:xfrm>
          </p:grpSpPr>
          <p:sp>
            <p:nvSpPr>
              <p:cNvPr id="60427" name="直接连接符 115734"/>
              <p:cNvSpPr/>
              <p:nvPr/>
            </p:nvSpPr>
            <p:spPr>
              <a:xfrm>
                <a:off x="1824" y="2832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0428" name="椭圆 115735"/>
              <p:cNvSpPr/>
              <p:nvPr/>
            </p:nvSpPr>
            <p:spPr>
              <a:xfrm>
                <a:off x="144" y="2640"/>
                <a:ext cx="1776" cy="336"/>
              </a:xfrm>
              <a:prstGeom prst="ellipse">
                <a:avLst/>
              </a:prstGeom>
              <a:gradFill rotWithShape="0">
                <a:gsLst>
                  <a:gs pos="0">
                    <a:srgbClr val="384B65"/>
                  </a:gs>
                  <a:gs pos="50000">
                    <a:srgbClr val="7AA3DA"/>
                  </a:gs>
                  <a:gs pos="100000">
                    <a:srgbClr val="384B65"/>
                  </a:gs>
                </a:gsLst>
                <a:lin ang="18900000" scaled="1"/>
                <a:tileRect/>
              </a:gradFill>
              <a:ln w="9525">
                <a:noFill/>
              </a:ln>
              <a:effectLst>
                <a:outerShdw dist="35921" dir="2699999" algn="ctr" rotWithShape="0">
                  <a:srgbClr val="808000"/>
                </a:outerShdw>
              </a:effectLst>
            </p:spPr>
            <p:txBody>
              <a:bodyPr wrap="none" anchor="ctr" anchorCtr="0"/>
              <a:lstStyle>
                <a:lvl1pPr marL="342900" indent="-3429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Ø"/>
                  <a:defRPr sz="3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n"/>
                  <a:defRPr sz="3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just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FFFF00"/>
                    </a:solidFill>
                    <a:latin typeface="宋体" panose="02010600030101010101" pitchFamily="2" charset="-122"/>
                  </a:rPr>
                  <a:t>得到物理地址</a:t>
                </a:r>
                <a:endParaRPr lang="zh-CN" altLang="en-US" sz="2400" dirty="0">
                  <a:solidFill>
                    <a:srgbClr val="FFFF00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标题 1177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代码段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Code Segment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61443" name="文本占位符 117762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05923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/>
              <a:t>代码段用来存放程序的指令序列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800" dirty="0"/>
              <a:t>代码段寄存器</a:t>
            </a:r>
            <a:r>
              <a:rPr lang="en-US" altLang="zh-CN" sz="2800" dirty="0"/>
              <a:t>CS</a:t>
            </a:r>
            <a:r>
              <a:rPr lang="zh-CN" altLang="en-US" sz="2800" dirty="0"/>
              <a:t>存放代码段的段地址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800" dirty="0"/>
              <a:t>指令指针寄存器</a:t>
            </a:r>
            <a:r>
              <a:rPr lang="en-US" altLang="zh-CN" sz="2800" dirty="0"/>
              <a:t>IP</a:t>
            </a:r>
            <a:r>
              <a:rPr lang="zh-CN" altLang="en-US" sz="2800" dirty="0"/>
              <a:t>指示下条指令的偏移地址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处理器利用</a:t>
            </a:r>
            <a:r>
              <a:rPr lang="en-US" altLang="zh-CN" dirty="0"/>
              <a:t>CS:IP</a:t>
            </a:r>
            <a:r>
              <a:rPr lang="zh-CN" altLang="en-US" dirty="0"/>
              <a:t>取得下一条要执行的指令</a:t>
            </a:r>
            <a:endParaRPr lang="zh-CN" altLang="en-US" dirty="0"/>
          </a:p>
        </p:txBody>
      </p:sp>
    </p:spTree>
  </p:cSld>
  <p:clrMapOvr>
    <a:masterClrMapping/>
  </p:clrMapOvr>
  <p:transition spd="med">
    <p:wipe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标题 1187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堆栈段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Stack Segment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62467" name="文本占位符 118786"/>
          <p:cNvSpPr>
            <a:spLocks noGrp="1"/>
          </p:cNvSpPr>
          <p:nvPr>
            <p:ph idx="1"/>
          </p:nvPr>
        </p:nvSpPr>
        <p:spPr>
          <a:xfrm>
            <a:off x="395288" y="981075"/>
            <a:ext cx="8569325" cy="43243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堆栈段确定堆栈所在的主存区域</a:t>
            </a:r>
            <a:endParaRPr lang="zh-CN" altLang="en-US" dirty="0"/>
          </a:p>
          <a:p>
            <a:pPr eaLnBrk="1" hangingPunct="1"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3200" dirty="0"/>
              <a:t>堆栈段寄存器</a:t>
            </a:r>
            <a:r>
              <a:rPr lang="en-US" altLang="zh-CN" sz="3200" dirty="0"/>
              <a:t>SS</a:t>
            </a:r>
            <a:r>
              <a:rPr lang="zh-CN" altLang="en-US" sz="3200" dirty="0"/>
              <a:t>存放堆栈段的段地址</a:t>
            </a:r>
            <a:endParaRPr lang="zh-CN" altLang="en-US" sz="3200" dirty="0"/>
          </a:p>
          <a:p>
            <a:pPr eaLnBrk="1" hangingPunct="1"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3200" dirty="0"/>
              <a:t>堆栈指针寄存器</a:t>
            </a:r>
            <a:r>
              <a:rPr lang="en-US" altLang="zh-CN" sz="3200" dirty="0"/>
              <a:t>SP</a:t>
            </a:r>
            <a:r>
              <a:rPr lang="zh-CN" altLang="en-US" sz="3200" dirty="0"/>
              <a:t>指示堆栈栈顶的偏移地址</a:t>
            </a:r>
            <a:endParaRPr lang="zh-CN" altLang="en-US" sz="3200" dirty="0"/>
          </a:p>
          <a:p>
            <a:pPr eaLnBrk="1" hangingPunct="1"/>
            <a:r>
              <a:rPr lang="zh-CN" altLang="en-US" dirty="0"/>
              <a:t>处理器利用</a:t>
            </a:r>
            <a:r>
              <a:rPr lang="en-US" altLang="zh-CN" dirty="0"/>
              <a:t>SS:SP</a:t>
            </a:r>
            <a:r>
              <a:rPr lang="zh-CN" altLang="en-US" dirty="0"/>
              <a:t>操作堆栈顶的数据</a:t>
            </a:r>
            <a:endParaRPr lang="zh-CN" altLang="en-US" dirty="0"/>
          </a:p>
        </p:txBody>
      </p:sp>
    </p:spTree>
  </p:cSld>
  <p:clrMapOvr>
    <a:masterClrMapping/>
  </p:clrMapOvr>
  <p:transition spd="med">
    <p:wipe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标题 1198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数据段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Data Segment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63491" name="文本占位符 119810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14813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数据段存放运行程序所用的数据</a:t>
            </a:r>
            <a:endParaRPr lang="zh-CN" altLang="en-US" dirty="0"/>
          </a:p>
          <a:p>
            <a:pPr eaLnBrk="1" hangingPunct="1"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3200" dirty="0"/>
              <a:t>数据段寄存器</a:t>
            </a:r>
            <a:r>
              <a:rPr lang="en-US" altLang="zh-CN" sz="3200" dirty="0"/>
              <a:t>DS</a:t>
            </a:r>
            <a:r>
              <a:rPr lang="zh-CN" altLang="en-US" sz="3200" dirty="0"/>
              <a:t>存放数据段的段地址</a:t>
            </a:r>
            <a:endParaRPr lang="zh-CN" altLang="en-US" sz="3200" dirty="0"/>
          </a:p>
          <a:p>
            <a:pPr eaLnBrk="1" hangingPunct="1"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3200" dirty="0"/>
              <a:t>各种主存寻址方式（有效地址</a:t>
            </a:r>
            <a:r>
              <a:rPr lang="en-US" altLang="zh-CN" sz="3200" dirty="0"/>
              <a:t>EA</a:t>
            </a:r>
            <a:r>
              <a:rPr lang="zh-CN" altLang="en-US" sz="3200" dirty="0"/>
              <a:t>）得到存储器中操作数的偏移地址</a:t>
            </a:r>
            <a:endParaRPr lang="zh-CN" altLang="zh-CN" sz="3200" dirty="0"/>
          </a:p>
          <a:p>
            <a:pPr eaLnBrk="1" hangingPunct="1"/>
            <a:r>
              <a:rPr lang="zh-CN" altLang="en-US" dirty="0"/>
              <a:t>处理器利用</a:t>
            </a:r>
            <a:r>
              <a:rPr lang="en-US" altLang="zh-CN" dirty="0"/>
              <a:t>DS:EA</a:t>
            </a:r>
            <a:r>
              <a:rPr lang="zh-CN" altLang="en-US" dirty="0"/>
              <a:t>存取数据段中的数据</a:t>
            </a:r>
            <a:endParaRPr lang="zh-CN" altLang="zh-CN" dirty="0"/>
          </a:p>
        </p:txBody>
      </p:sp>
    </p:spTree>
  </p:cSld>
  <p:clrMapOvr>
    <a:masterClrMapping/>
  </p:clrMapOvr>
  <p:transition spd="med">
    <p:wipe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标题 1208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附加段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Extra Segment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64515" name="文本占位符 1208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附加段是附加的数据段，也用于数据的保存：</a:t>
            </a:r>
            <a:endParaRPr lang="zh-CN" altLang="en-US" sz="3200" dirty="0"/>
          </a:p>
          <a:p>
            <a:pPr eaLnBrk="1" hangingPunct="1"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800" dirty="0"/>
              <a:t>附加段寄存器</a:t>
            </a:r>
            <a:r>
              <a:rPr lang="en-US" altLang="zh-CN" sz="2800" dirty="0"/>
              <a:t>ES</a:t>
            </a:r>
            <a:r>
              <a:rPr lang="zh-CN" altLang="en-US" sz="2800" dirty="0"/>
              <a:t>存放附加段的段地址</a:t>
            </a:r>
            <a:endParaRPr lang="zh-CN" altLang="en-US" sz="2800" dirty="0"/>
          </a:p>
          <a:p>
            <a:pPr eaLnBrk="1" hangingPunct="1">
              <a:buClr>
                <a:schemeClr val="bg2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800" dirty="0"/>
              <a:t>各种主存寻址方式（有效地址</a:t>
            </a:r>
            <a:r>
              <a:rPr lang="en-US" altLang="zh-CN" sz="2800" dirty="0"/>
              <a:t>EA</a:t>
            </a:r>
            <a:r>
              <a:rPr lang="zh-CN" altLang="en-US" sz="2800" dirty="0"/>
              <a:t>）得到存储器中操作数的偏移地址</a:t>
            </a:r>
            <a:endParaRPr lang="zh-CN" altLang="zh-CN" sz="2800" dirty="0"/>
          </a:p>
          <a:p>
            <a:pPr eaLnBrk="1" hangingPunct="1"/>
            <a:r>
              <a:rPr lang="zh-CN" altLang="en-US" sz="3200" dirty="0"/>
              <a:t>处理器利用</a:t>
            </a:r>
            <a:r>
              <a:rPr lang="en-US" altLang="zh-CN" sz="3200" dirty="0"/>
              <a:t>ES:EA</a:t>
            </a:r>
            <a:r>
              <a:rPr lang="zh-CN" altLang="en-US" sz="3200" dirty="0"/>
              <a:t>存取附加段中的数据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串操作指令将附加段作为其目的操作数的存放区域</a:t>
            </a:r>
            <a:endParaRPr lang="zh-CN" altLang="en-US" sz="3200" dirty="0"/>
          </a:p>
        </p:txBody>
      </p:sp>
    </p:spTree>
  </p:cSld>
  <p:clrMapOvr>
    <a:masterClrMapping/>
  </p:clrMapOvr>
  <p:transition spd="med">
    <p:wipe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标题 12185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如何分配各个逻辑段</a:t>
            </a:r>
            <a:endParaRPr lang="zh-CN" altLang="en-US" dirty="0"/>
          </a:p>
        </p:txBody>
      </p:sp>
      <p:sp>
        <p:nvSpPr>
          <p:cNvPr id="65539" name="文本占位符 121858"/>
          <p:cNvSpPr>
            <a:spLocks noGrp="1"/>
          </p:cNvSpPr>
          <p:nvPr>
            <p:ph idx="1"/>
          </p:nvPr>
        </p:nvSpPr>
        <p:spPr>
          <a:xfrm>
            <a:off x="611188" y="1196975"/>
            <a:ext cx="8064500" cy="44973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程序的</a:t>
            </a:r>
            <a:r>
              <a:rPr lang="zh-CN" altLang="en-US" dirty="0">
                <a:solidFill>
                  <a:schemeClr val="accent2"/>
                </a:solidFill>
              </a:rPr>
              <a:t>指令序列</a:t>
            </a:r>
            <a:r>
              <a:rPr lang="zh-CN" altLang="en-US" dirty="0"/>
              <a:t>必须安排在代码段</a:t>
            </a:r>
            <a:endParaRPr lang="zh-CN" altLang="en-US" dirty="0"/>
          </a:p>
          <a:p>
            <a:pPr eaLnBrk="1" hangingPunct="1"/>
            <a:r>
              <a:rPr lang="zh-CN" altLang="en-US" dirty="0"/>
              <a:t>程序使用的</a:t>
            </a:r>
            <a:r>
              <a:rPr lang="zh-CN" altLang="en-US" dirty="0">
                <a:solidFill>
                  <a:schemeClr val="accent2"/>
                </a:solidFill>
              </a:rPr>
              <a:t>堆栈</a:t>
            </a:r>
            <a:r>
              <a:rPr lang="zh-CN" altLang="en-US" dirty="0"/>
              <a:t>一定在堆栈段</a:t>
            </a:r>
            <a:endParaRPr lang="zh-CN" altLang="en-US" dirty="0"/>
          </a:p>
          <a:p>
            <a:pPr eaLnBrk="1" hangingPunct="1"/>
            <a:r>
              <a:rPr lang="zh-CN" altLang="en-US" dirty="0"/>
              <a:t>程序中的</a:t>
            </a:r>
            <a:r>
              <a:rPr lang="zh-CN" altLang="en-US" dirty="0">
                <a:solidFill>
                  <a:schemeClr val="accent2"/>
                </a:solidFill>
              </a:rPr>
              <a:t>数据</a:t>
            </a:r>
            <a:r>
              <a:rPr lang="zh-CN" altLang="en-US" dirty="0"/>
              <a:t>默认是安排在数据段，也经常安排在附加段，尤其是串操作的目的区必须是附加段</a:t>
            </a:r>
            <a:endParaRPr lang="zh-CN" altLang="en-US" dirty="0"/>
          </a:p>
          <a:p>
            <a:pPr eaLnBrk="1" hangingPunct="1"/>
            <a:r>
              <a:rPr lang="zh-CN" altLang="en-US" dirty="0"/>
              <a:t>数据的存放比较灵活，实际上可以存放在任何一种逻辑段中</a:t>
            </a:r>
            <a:endParaRPr lang="zh-CN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1228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段超越前缀指令</a:t>
            </a:r>
            <a:endParaRPr lang="zh-CN" altLang="en-US" dirty="0"/>
          </a:p>
        </p:txBody>
      </p:sp>
      <p:sp>
        <p:nvSpPr>
          <p:cNvPr id="66563" name="文本占位符 12288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没有指明时，一般的数据访问在</a:t>
            </a:r>
            <a:r>
              <a:rPr lang="en-US" altLang="zh-CN" sz="3200" dirty="0">
                <a:latin typeface="宋体" panose="02010600030101010101" pitchFamily="2" charset="-122"/>
              </a:rPr>
              <a:t>DS</a:t>
            </a:r>
            <a:r>
              <a:rPr lang="zh-CN" altLang="en-US" sz="3200" dirty="0">
                <a:latin typeface="宋体" panose="02010600030101010101" pitchFamily="2" charset="-122"/>
              </a:rPr>
              <a:t>段；使用</a:t>
            </a:r>
            <a:r>
              <a:rPr lang="en-US" altLang="zh-CN" sz="3200" dirty="0">
                <a:latin typeface="宋体" panose="02010600030101010101" pitchFamily="2" charset="-122"/>
              </a:rPr>
              <a:t>BP</a:t>
            </a:r>
            <a:r>
              <a:rPr lang="zh-CN" altLang="en-US" sz="3200" dirty="0">
                <a:latin typeface="宋体" panose="02010600030101010101" pitchFamily="2" charset="-122"/>
              </a:rPr>
              <a:t>访问主存，则在</a:t>
            </a:r>
            <a:r>
              <a:rPr lang="en-US" altLang="zh-CN" sz="3200" dirty="0">
                <a:latin typeface="宋体" panose="02010600030101010101" pitchFamily="2" charset="-122"/>
              </a:rPr>
              <a:t>SS</a:t>
            </a:r>
            <a:r>
              <a:rPr lang="zh-CN" altLang="en-US" sz="3200" dirty="0">
                <a:latin typeface="宋体" panose="02010600030101010101" pitchFamily="2" charset="-122"/>
              </a:rPr>
              <a:t>段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默认的情况允许改变，需要使用段超越前缀指令；</a:t>
            </a:r>
            <a:r>
              <a:rPr lang="en-US" altLang="zh-CN" sz="3200" dirty="0">
                <a:latin typeface="宋体" panose="02010600030101010101" pitchFamily="2" charset="-122"/>
              </a:rPr>
              <a:t>8086</a:t>
            </a:r>
            <a:r>
              <a:rPr lang="zh-CN" altLang="en-US" sz="3200" dirty="0">
                <a:latin typeface="宋体" panose="02010600030101010101" pitchFamily="2" charset="-122"/>
              </a:rPr>
              <a:t>指令系统中有</a:t>
            </a:r>
            <a:r>
              <a:rPr lang="en-US" altLang="zh-CN" sz="3200" dirty="0">
                <a:latin typeface="宋体" panose="02010600030101010101" pitchFamily="2" charset="-122"/>
              </a:rPr>
              <a:t>4</a:t>
            </a:r>
            <a:r>
              <a:rPr lang="zh-CN" altLang="en-US" sz="3200" dirty="0">
                <a:latin typeface="宋体" panose="02010600030101010101" pitchFamily="2" charset="-122"/>
              </a:rPr>
              <a:t>个：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CS:	</a:t>
            </a:r>
            <a:r>
              <a:rPr lang="zh-CN" altLang="en-US" sz="2800" dirty="0">
                <a:latin typeface="宋体" panose="02010600030101010101" pitchFamily="2" charset="-122"/>
              </a:rPr>
              <a:t>；代码段超越，使用代码段的数据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SS: 	</a:t>
            </a:r>
            <a:r>
              <a:rPr lang="zh-CN" altLang="en-US" sz="2800" dirty="0">
                <a:latin typeface="宋体" panose="02010600030101010101" pitchFamily="2" charset="-122"/>
              </a:rPr>
              <a:t>；堆栈段超越，使用堆栈段的数据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DS:</a:t>
            </a:r>
            <a:r>
              <a:rPr lang="en-US" altLang="zh-CN" dirty="0">
                <a:solidFill>
                  <a:schemeClr val="bg2"/>
                </a:solidFill>
                <a:latin typeface="宋体" panose="02010600030101010101" pitchFamily="2" charset="-122"/>
              </a:rPr>
              <a:t> 	</a:t>
            </a:r>
            <a:r>
              <a:rPr lang="zh-CN" altLang="en-US" sz="2800" dirty="0">
                <a:latin typeface="宋体" panose="02010600030101010101" pitchFamily="2" charset="-122"/>
              </a:rPr>
              <a:t>；数据段超越，使用数据段的数据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spcAft>
                <a:spcPct val="50000"/>
              </a:spcAft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ES:</a:t>
            </a:r>
            <a:r>
              <a:rPr lang="en-US" altLang="zh-CN" dirty="0">
                <a:solidFill>
                  <a:schemeClr val="bg2"/>
                </a:solidFill>
                <a:latin typeface="宋体" panose="02010600030101010101" pitchFamily="2" charset="-122"/>
              </a:rPr>
              <a:t> 	</a:t>
            </a:r>
            <a:r>
              <a:rPr lang="zh-CN" altLang="en-US" sz="2800" dirty="0">
                <a:latin typeface="宋体" panose="02010600030101010101" pitchFamily="2" charset="-122"/>
              </a:rPr>
              <a:t>；附加段超越，使用附加段的数据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标题 12390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段超越的示例</a:t>
            </a:r>
            <a:endParaRPr lang="zh-CN" altLang="en-US" dirty="0"/>
          </a:p>
        </p:txBody>
      </p:sp>
      <p:sp>
        <p:nvSpPr>
          <p:cNvPr id="67587" name="文本占位符 123906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51196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没有段超越的指令实例：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MOV AX,[2000H]</a:t>
            </a:r>
            <a:r>
              <a:rPr lang="en-US" altLang="zh-CN" sz="3200" dirty="0">
                <a:latin typeface="宋体" panose="02010600030101010101" pitchFamily="2" charset="-122"/>
              </a:rPr>
              <a:t>	</a:t>
            </a:r>
            <a:r>
              <a:rPr lang="zh-CN" altLang="en-US" sz="3200" dirty="0">
                <a:latin typeface="宋体" panose="02010600030101010101" pitchFamily="2" charset="-122"/>
              </a:rPr>
              <a:t>；</a:t>
            </a:r>
            <a:r>
              <a:rPr lang="en-US" altLang="zh-CN" sz="3200" dirty="0">
                <a:latin typeface="宋体" panose="02010600030101010101" pitchFamily="2" charset="-122"/>
              </a:rPr>
              <a:t>AX←DS:[2000H]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；从默认的</a:t>
            </a:r>
            <a:r>
              <a:rPr lang="en-US" altLang="zh-CN" dirty="0">
                <a:latin typeface="宋体" panose="02010600030101010101" pitchFamily="2" charset="-122"/>
              </a:rPr>
              <a:t>DS</a:t>
            </a:r>
            <a:r>
              <a:rPr lang="zh-CN" altLang="en-US" dirty="0">
                <a:latin typeface="宋体" panose="02010600030101010101" pitchFamily="2" charset="-122"/>
              </a:rPr>
              <a:t>数据段取出数据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buNone/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采用段超越前缀的指令实例：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MOV AX,ES:[2000H]</a:t>
            </a:r>
            <a:r>
              <a:rPr lang="en-US" altLang="zh-CN" sz="3200" dirty="0">
                <a:latin typeface="宋体" panose="02010600030101010101" pitchFamily="2" charset="-122"/>
              </a:rPr>
              <a:t>	</a:t>
            </a:r>
            <a:r>
              <a:rPr lang="zh-CN" altLang="en-US" sz="3200" dirty="0">
                <a:latin typeface="宋体" panose="02010600030101010101" pitchFamily="2" charset="-122"/>
              </a:rPr>
              <a:t>；</a:t>
            </a:r>
            <a:r>
              <a:rPr lang="en-US" altLang="zh-CN" sz="3200" dirty="0">
                <a:latin typeface="宋体" panose="02010600030101010101" pitchFamily="2" charset="-122"/>
              </a:rPr>
              <a:t>AX←ES:[2000H]</a:t>
            </a:r>
            <a:endParaRPr lang="en-US" altLang="zh-CN" sz="3200" dirty="0">
              <a:latin typeface="宋体" panose="02010600030101010101" pitchFamily="2" charset="-122"/>
            </a:endParaRPr>
          </a:p>
          <a:p>
            <a:pPr lvl="1" eaLnBrk="1" hangingPunct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；从指定的</a:t>
            </a:r>
            <a:r>
              <a:rPr lang="en-US" altLang="zh-CN" dirty="0">
                <a:latin typeface="宋体" panose="02010600030101010101" pitchFamily="2" charset="-122"/>
              </a:rPr>
              <a:t>ES</a:t>
            </a:r>
            <a:r>
              <a:rPr lang="zh-CN" altLang="en-US" dirty="0">
                <a:latin typeface="宋体" panose="02010600030101010101" pitchFamily="2" charset="-122"/>
              </a:rPr>
              <a:t>附加段取出数据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pic>
        <p:nvPicPr>
          <p:cNvPr id="67588" name="图片 123908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63" y="3141663"/>
            <a:ext cx="8675687" cy="46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标题 1249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段寄存器的使用规定</a:t>
            </a:r>
            <a:endParaRPr lang="zh-CN" altLang="en-US" dirty="0"/>
          </a:p>
        </p:txBody>
      </p:sp>
      <p:graphicFrame>
        <p:nvGraphicFramePr>
          <p:cNvPr id="124982" name="表格 124981"/>
          <p:cNvGraphicFramePr/>
          <p:nvPr/>
        </p:nvGraphicFramePr>
        <p:xfrm>
          <a:off x="468313" y="1052513"/>
          <a:ext cx="8424863" cy="4779963"/>
        </p:xfrm>
        <a:graphic>
          <a:graphicData uri="http://schemas.openxmlformats.org/drawingml/2006/table">
            <a:tbl>
              <a:tblPr/>
              <a:tblGrid>
                <a:gridCol w="3419475"/>
                <a:gridCol w="900113"/>
                <a:gridCol w="1998662"/>
                <a:gridCol w="2106613"/>
              </a:tblGrid>
              <a:tr h="646167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rgbClr val="FFFF00"/>
                          </a:solidFill>
                          <a:latin typeface="宋体" panose="02010600030101010101" pitchFamily="2" charset="-122"/>
                        </a:rPr>
                        <a:t>访问存储器的方式</a:t>
                      </a:r>
                      <a:endParaRPr lang="zh-CN" altLang="en-US" sz="2800" dirty="0">
                        <a:solidFill>
                          <a:srgbClr val="FFFF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rgbClr val="FFFF00"/>
                          </a:solidFill>
                          <a:latin typeface="宋体" panose="02010600030101010101" pitchFamily="2" charset="-122"/>
                        </a:rPr>
                        <a:t>默认</a:t>
                      </a:r>
                      <a:endParaRPr lang="zh-CN" altLang="en-US" sz="2800" dirty="0">
                        <a:solidFill>
                          <a:srgbClr val="FFFF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rgbClr val="FFFF00"/>
                          </a:solidFill>
                          <a:latin typeface="宋体" panose="02010600030101010101" pitchFamily="2" charset="-122"/>
                        </a:rPr>
                        <a:t>可超越</a:t>
                      </a:r>
                      <a:endParaRPr lang="zh-CN" altLang="en-US" sz="2800" dirty="0">
                        <a:solidFill>
                          <a:srgbClr val="FFFF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rgbClr val="FFFF00"/>
                          </a:solidFill>
                          <a:latin typeface="宋体" panose="02010600030101010101" pitchFamily="2" charset="-122"/>
                        </a:rPr>
                        <a:t>偏移地址</a:t>
                      </a:r>
                      <a:endParaRPr lang="zh-CN" altLang="en-US" sz="2800" dirty="0">
                        <a:solidFill>
                          <a:srgbClr val="FFFF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688966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取指令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CS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无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IP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8966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堆栈操作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SS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无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SP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8966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一般数据访问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DS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CS ES SS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有效地址</a:t>
                      </a: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EA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8966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 dirty="0">
                          <a:latin typeface="宋体" panose="02010600030101010101" pitchFamily="2" charset="-122"/>
                        </a:rPr>
                        <a:t>BP</a:t>
                      </a: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基址的寻址方式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SS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CS ES DS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有效地址</a:t>
                      </a: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EA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8966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串操作的源操作数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DS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CS ES SS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SI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88966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串操作的目的操作数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ES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</a:rPr>
                        <a:t>无</a:t>
                      </a:r>
                      <a:endParaRPr lang="zh-CN" altLang="en-US" sz="2800" dirty="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>
                          <a:latin typeface="宋体" panose="02010600030101010101" pitchFamily="2" charset="-122"/>
                        </a:rPr>
                        <a:t>DI</a:t>
                      </a:r>
                      <a:endParaRPr lang="zh-CN" altLang="en-US" sz="2800">
                        <a:latin typeface="宋体" panose="02010600030101010101" pitchFamily="2" charset="-122"/>
                      </a:endParaRPr>
                    </a:p>
                  </a:txBody>
                  <a:tcPr marT="45719" marB="4571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 dir="vert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标题 1259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存储器的分段</a:t>
            </a:r>
            <a:endParaRPr lang="zh-CN" altLang="en-US" dirty="0"/>
          </a:p>
        </p:txBody>
      </p:sp>
      <p:sp>
        <p:nvSpPr>
          <p:cNvPr id="69635" name="文本占位符 125954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43243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8086</a:t>
            </a:r>
            <a:r>
              <a:rPr lang="zh-CN" altLang="en-US" dirty="0"/>
              <a:t>对逻辑段</a:t>
            </a:r>
            <a:r>
              <a:rPr lang="zh-CN" altLang="en-US" dirty="0">
                <a:solidFill>
                  <a:schemeClr val="accent2"/>
                </a:solidFill>
              </a:rPr>
              <a:t>要求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段地址低</a:t>
            </a:r>
            <a:r>
              <a:rPr lang="en-US" altLang="zh-CN" dirty="0"/>
              <a:t>4</a:t>
            </a:r>
            <a:r>
              <a:rPr lang="zh-CN" altLang="en-US" dirty="0"/>
              <a:t>位均为</a:t>
            </a:r>
            <a:r>
              <a:rPr lang="en-US" altLang="zh-CN" dirty="0"/>
              <a:t>0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每段最大不超过</a:t>
            </a:r>
            <a:r>
              <a:rPr lang="en-US" altLang="zh-CN" dirty="0"/>
              <a:t>64KB</a:t>
            </a:r>
            <a:endParaRPr lang="en-US" altLang="zh-CN" dirty="0"/>
          </a:p>
          <a:p>
            <a:pPr eaLnBrk="1" hangingPunct="1"/>
            <a:r>
              <a:rPr lang="en-US" altLang="zh-CN" dirty="0"/>
              <a:t>8086</a:t>
            </a:r>
            <a:r>
              <a:rPr lang="zh-CN" altLang="en-US" dirty="0"/>
              <a:t>对逻辑段</a:t>
            </a:r>
            <a:r>
              <a:rPr lang="zh-CN" altLang="en-US" dirty="0">
                <a:solidFill>
                  <a:schemeClr val="accent2"/>
                </a:solidFill>
              </a:rPr>
              <a:t>并不要求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必须是</a:t>
            </a:r>
            <a:r>
              <a:rPr lang="en-US" altLang="zh-CN" dirty="0"/>
              <a:t>64KB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各段之间并不要求完全分开（即可以重叠）</a:t>
            </a:r>
            <a:endParaRPr lang="zh-CN" altLang="en-US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标题 12698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各个逻辑段独立</a:t>
            </a:r>
            <a:endParaRPr lang="zh-CN" altLang="en-US" dirty="0"/>
          </a:p>
        </p:txBody>
      </p:sp>
      <p:graphicFrame>
        <p:nvGraphicFramePr>
          <p:cNvPr id="70659" name="对象 1"/>
          <p:cNvGraphicFramePr/>
          <p:nvPr/>
        </p:nvGraphicFramePr>
        <p:xfrm>
          <a:off x="949325" y="898525"/>
          <a:ext cx="6978650" cy="581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972300" imgH="5810250" progId="Paint.Picture">
                  <p:embed/>
                </p:oleObj>
              </mc:Choice>
              <mc:Fallback>
                <p:oleObj name="" r:id="rId1" imgW="6972300" imgH="581025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9325" y="898525"/>
                        <a:ext cx="6978650" cy="5813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标题 12800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各个逻辑段重叠</a:t>
            </a:r>
            <a:endParaRPr lang="zh-CN" altLang="en-US" dirty="0"/>
          </a:p>
        </p:txBody>
      </p:sp>
      <p:graphicFrame>
        <p:nvGraphicFramePr>
          <p:cNvPr id="71683" name="对象 1"/>
          <p:cNvGraphicFramePr/>
          <p:nvPr/>
        </p:nvGraphicFramePr>
        <p:xfrm>
          <a:off x="554038" y="1127125"/>
          <a:ext cx="7864475" cy="506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858125" imgH="5057775" progId="Paint.Picture">
                  <p:embed/>
                </p:oleObj>
              </mc:Choice>
              <mc:Fallback>
                <p:oleObj name="" r:id="rId1" imgW="7858125" imgH="50577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4038" y="1127125"/>
                        <a:ext cx="7864475" cy="5060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标题 12902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1MB</a:t>
            </a:r>
            <a:r>
              <a:rPr lang="zh-CN" altLang="en-US" dirty="0"/>
              <a:t>空间的分段</a:t>
            </a:r>
            <a:endParaRPr lang="zh-CN" altLang="en-US" dirty="0"/>
          </a:p>
        </p:txBody>
      </p:sp>
      <p:sp>
        <p:nvSpPr>
          <p:cNvPr id="72707" name="文本占位符 129026"/>
          <p:cNvSpPr>
            <a:spLocks noGrp="1"/>
          </p:cNvSpPr>
          <p:nvPr>
            <p:ph idx="1"/>
          </p:nvPr>
        </p:nvSpPr>
        <p:spPr>
          <a:xfrm>
            <a:off x="568325" y="981075"/>
            <a:ext cx="8094663" cy="5472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1MB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</a:rPr>
              <a:t>空间最多能分成多少个段？</a:t>
            </a:r>
            <a:endParaRPr lang="zh-CN" altLang="en-US" sz="32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每隔</a:t>
            </a:r>
            <a:r>
              <a:rPr lang="en-US" altLang="zh-CN" dirty="0">
                <a:latin typeface="宋体" panose="02010600030101010101" pitchFamily="2" charset="-122"/>
              </a:rPr>
              <a:t>16</a:t>
            </a:r>
            <a:r>
              <a:rPr lang="zh-CN" altLang="en-US" dirty="0">
                <a:latin typeface="宋体" panose="02010600030101010101" pitchFamily="2" charset="-122"/>
              </a:rPr>
              <a:t>个存储单元就可以开始一个段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所以</a:t>
            </a:r>
            <a:r>
              <a:rPr lang="en-US" altLang="zh-CN" dirty="0">
                <a:latin typeface="宋体" panose="02010600030101010101" pitchFamily="2" charset="-122"/>
              </a:rPr>
              <a:t>1MB</a:t>
            </a:r>
            <a:r>
              <a:rPr lang="zh-CN" altLang="en-US" dirty="0">
                <a:latin typeface="宋体" panose="02010600030101010101" pitchFamily="2" charset="-122"/>
              </a:rPr>
              <a:t>最多可以有：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ctr" eaLnBrk="1" hangingPunct="1">
              <a:buNone/>
            </a:pPr>
            <a:r>
              <a:rPr lang="en-US" altLang="zh-CN" sz="3200" dirty="0">
                <a:latin typeface="宋体" panose="02010600030101010101" pitchFamily="2" charset="-122"/>
              </a:rPr>
              <a:t>2</a:t>
            </a:r>
            <a:r>
              <a:rPr lang="en-US" altLang="zh-CN" sz="3200" baseline="30000" dirty="0">
                <a:latin typeface="宋体" panose="02010600030101010101" pitchFamily="2" charset="-122"/>
              </a:rPr>
              <a:t>20</a:t>
            </a:r>
            <a:r>
              <a:rPr lang="en-US" altLang="zh-CN" sz="3200" dirty="0">
                <a:latin typeface="宋体" panose="02010600030101010101" pitchFamily="2" charset="-122"/>
              </a:rPr>
              <a:t>÷16</a:t>
            </a:r>
            <a:r>
              <a:rPr lang="zh-CN" altLang="en-US" sz="3200" dirty="0">
                <a:latin typeface="宋体" panose="02010600030101010101" pitchFamily="2" charset="-122"/>
              </a:rPr>
              <a:t>＝</a:t>
            </a:r>
            <a:r>
              <a:rPr lang="en-US" altLang="zh-CN" sz="3200" dirty="0">
                <a:latin typeface="宋体" panose="02010600030101010101" pitchFamily="2" charset="-122"/>
              </a:rPr>
              <a:t>2</a:t>
            </a:r>
            <a:r>
              <a:rPr lang="en-US" altLang="zh-CN" sz="3200" baseline="30000" dirty="0">
                <a:latin typeface="宋体" panose="02010600030101010101" pitchFamily="2" charset="-122"/>
              </a:rPr>
              <a:t>16</a:t>
            </a:r>
            <a:r>
              <a:rPr lang="zh-CN" altLang="en-US" sz="3200" dirty="0">
                <a:latin typeface="宋体" panose="02010600030101010101" pitchFamily="2" charset="-122"/>
              </a:rPr>
              <a:t>＝</a:t>
            </a:r>
            <a:r>
              <a:rPr lang="en-US" altLang="zh-CN" sz="3200" dirty="0">
                <a:latin typeface="宋体" panose="02010600030101010101" pitchFamily="2" charset="-122"/>
              </a:rPr>
              <a:t>64K </a:t>
            </a:r>
            <a:r>
              <a:rPr lang="zh-CN" altLang="en-US" sz="3200" dirty="0">
                <a:latin typeface="宋体" panose="02010600030101010101" pitchFamily="2" charset="-122"/>
              </a:rPr>
              <a:t>个段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algn="l" eaLnBrk="1" hangingPunct="1"/>
            <a:r>
              <a:rPr lang="en-US" altLang="zh-CN" sz="3200" dirty="0">
                <a:solidFill>
                  <a:schemeClr val="tx2"/>
                </a:solidFill>
                <a:latin typeface="宋体" panose="02010600030101010101" pitchFamily="2" charset="-122"/>
              </a:rPr>
              <a:t>1MB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</a:rPr>
              <a:t>空间最少能分成多少个段？</a:t>
            </a:r>
            <a:endParaRPr lang="zh-CN" altLang="en-US" sz="32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每隔</a:t>
            </a:r>
            <a:r>
              <a:rPr lang="en-US" altLang="zh-CN" dirty="0">
                <a:latin typeface="宋体" panose="02010600030101010101" pitchFamily="2" charset="-122"/>
              </a:rPr>
              <a:t>64K</a:t>
            </a:r>
            <a:r>
              <a:rPr lang="zh-CN" altLang="en-US" dirty="0">
                <a:latin typeface="宋体" panose="02010600030101010101" pitchFamily="2" charset="-122"/>
              </a:rPr>
              <a:t>个存储单元开始一个段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所以</a:t>
            </a:r>
            <a:r>
              <a:rPr lang="en-US" altLang="zh-CN" dirty="0">
                <a:latin typeface="宋体" panose="02010600030101010101" pitchFamily="2" charset="-122"/>
              </a:rPr>
              <a:t>1MB</a:t>
            </a:r>
            <a:r>
              <a:rPr lang="zh-CN" altLang="en-US" dirty="0">
                <a:latin typeface="宋体" panose="02010600030101010101" pitchFamily="2" charset="-122"/>
              </a:rPr>
              <a:t>最少可以有：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ctr" eaLnBrk="1" hangingPunct="1">
              <a:buNone/>
            </a:pPr>
            <a:r>
              <a:rPr lang="en-US" altLang="zh-CN" sz="3200" dirty="0">
                <a:latin typeface="宋体" panose="02010600030101010101" pitchFamily="2" charset="-122"/>
              </a:rPr>
              <a:t>2</a:t>
            </a:r>
            <a:r>
              <a:rPr lang="en-US" altLang="zh-CN" sz="3200" baseline="30000" dirty="0">
                <a:latin typeface="宋体" panose="02010600030101010101" pitchFamily="2" charset="-122"/>
              </a:rPr>
              <a:t>20</a:t>
            </a:r>
            <a:r>
              <a:rPr lang="en-US" altLang="zh-CN" sz="3200" dirty="0">
                <a:latin typeface="宋体" panose="02010600030101010101" pitchFamily="2" charset="-122"/>
              </a:rPr>
              <a:t>÷2</a:t>
            </a:r>
            <a:r>
              <a:rPr lang="en-US" altLang="zh-CN" sz="3200" baseline="30000" dirty="0">
                <a:latin typeface="宋体" panose="02010600030101010101" pitchFamily="2" charset="-122"/>
              </a:rPr>
              <a:t>16</a:t>
            </a:r>
            <a:r>
              <a:rPr lang="zh-CN" altLang="en-US" sz="3200" dirty="0">
                <a:latin typeface="宋体" panose="02010600030101010101" pitchFamily="2" charset="-122"/>
              </a:rPr>
              <a:t>＝</a:t>
            </a:r>
            <a:r>
              <a:rPr lang="zh-CN" altLang="zh-CN" sz="3200" dirty="0">
                <a:latin typeface="宋体" panose="02010600030101010101" pitchFamily="2" charset="-122"/>
              </a:rPr>
              <a:t>16 </a:t>
            </a:r>
            <a:r>
              <a:rPr lang="zh-CN" altLang="en-US" sz="3200" dirty="0">
                <a:latin typeface="宋体" panose="02010600030101010101" pitchFamily="2" charset="-122"/>
              </a:rPr>
              <a:t>个段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标题 13107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1.6  8086</a:t>
            </a:r>
            <a:r>
              <a:rPr lang="zh-CN" altLang="en-US" dirty="0"/>
              <a:t>的寻址方式</a:t>
            </a:r>
            <a:endParaRPr lang="zh-CN" altLang="en-US" dirty="0"/>
          </a:p>
        </p:txBody>
      </p:sp>
      <p:sp>
        <p:nvSpPr>
          <p:cNvPr id="73731" name="文本占位符 131074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26638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指令系统设计了多种操作数的来源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寻找操作数的过程就是操作数的寻址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操作数采取哪一种寻址方式，会影响机器运行的速度和效率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如何寻址一个操作数对程序设计很重要</a:t>
            </a:r>
            <a:endParaRPr lang="zh-CN" altLang="en-US" sz="2800" dirty="0"/>
          </a:p>
        </p:txBody>
      </p:sp>
      <p:sp>
        <p:nvSpPr>
          <p:cNvPr id="131076" name="圆角矩形 131075" descr="画布"/>
          <p:cNvSpPr/>
          <p:nvPr/>
        </p:nvSpPr>
        <p:spPr>
          <a:xfrm>
            <a:off x="3205163" y="4005263"/>
            <a:ext cx="5543550" cy="1223962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Tx/>
              <a:buSzTx/>
              <a:buFontTx/>
              <a:buBlip>
                <a:blip r:embed="rId2"/>
              </a:buBlip>
            </a:pPr>
            <a:r>
              <a:rPr lang="en-US" altLang="zh-CN" sz="3200" dirty="0">
                <a:solidFill>
                  <a:schemeClr val="accent2"/>
                </a:solidFill>
              </a:rPr>
              <a:t> </a:t>
            </a:r>
            <a:r>
              <a:rPr lang="zh-CN" altLang="en-US" sz="3200" dirty="0">
                <a:solidFill>
                  <a:schemeClr val="accent2"/>
                </a:solidFill>
                <a:ea typeface="隶书" panose="02010509060101010101" pitchFamily="49" charset="-122"/>
              </a:rPr>
              <a:t>上机实践的建议</a:t>
            </a:r>
            <a:endParaRPr lang="zh-CN" altLang="en-US" sz="3200" dirty="0">
              <a:solidFill>
                <a:schemeClr val="accent2"/>
              </a:solidFill>
              <a:ea typeface="隶书" panose="02010509060101010101" pitchFamily="49" charset="-122"/>
            </a:endParaRPr>
          </a:p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配合调试程序单步执行每条指令</a:t>
            </a:r>
            <a:endParaRPr lang="zh-CN" altLang="en-US" sz="2800" dirty="0"/>
          </a:p>
        </p:txBody>
      </p:sp>
      <p:sp>
        <p:nvSpPr>
          <p:cNvPr id="73733" name="矩形 131076"/>
          <p:cNvSpPr>
            <a:spLocks noTextEdit="1"/>
          </p:cNvSpPr>
          <p:nvPr/>
        </p:nvSpPr>
        <p:spPr>
          <a:xfrm>
            <a:off x="684213" y="5734050"/>
            <a:ext cx="6192837" cy="488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200">
                <a:ln w="12700" cap="sq" cmpd="sng">
                  <a:solidFill>
                    <a:srgbClr val="EAEAEA"/>
                  </a:solidFill>
                  <a:prstDash val="solid"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>
                        <a:alpha val="100000"/>
                      </a:srgbClr>
                    </a:gs>
                    <a:gs pos="12000">
                      <a:srgbClr val="E81766">
                        <a:alpha val="100000"/>
                      </a:srgbClr>
                    </a:gs>
                    <a:gs pos="27000">
                      <a:srgbClr val="EE3F17">
                        <a:alpha val="100000"/>
                      </a:srgbClr>
                    </a:gs>
                    <a:gs pos="48000">
                      <a:srgbClr val="FFFF00">
                        <a:alpha val="100000"/>
                      </a:srgbClr>
                    </a:gs>
                    <a:gs pos="64999">
                      <a:srgbClr val="1A8D48">
                        <a:alpha val="100000"/>
                      </a:srgbClr>
                    </a:gs>
                    <a:gs pos="78999">
                      <a:srgbClr val="0819FB">
                        <a:alpha val="100000"/>
                      </a:srgbClr>
                    </a:gs>
                    <a:gs pos="100000">
                      <a:srgbClr val="A603AB">
                        <a:alpha val="100000"/>
                      </a:srgbClr>
                    </a:gs>
                  </a:gsLst>
                  <a:lin ang="0" scaled="1"/>
                  <a:tileRect/>
                </a:gradFill>
                <a:effectLst>
                  <a:outerShdw dist="35921" dir="2699999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感性认识因直观而印象深刻</a:t>
            </a:r>
            <a:endParaRPr lang="zh-CN" altLang="en-US" sz="3200">
              <a:ln w="12700" cap="sq" cmpd="sng">
                <a:solidFill>
                  <a:srgbClr val="EAEAEA"/>
                </a:solidFill>
                <a:prstDash val="solid"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>
                      <a:alpha val="100000"/>
                    </a:srgbClr>
                  </a:gs>
                  <a:gs pos="12000">
                    <a:srgbClr val="E81766">
                      <a:alpha val="100000"/>
                    </a:srgbClr>
                  </a:gs>
                  <a:gs pos="27000">
                    <a:srgbClr val="EE3F17">
                      <a:alpha val="100000"/>
                    </a:srgbClr>
                  </a:gs>
                  <a:gs pos="48000">
                    <a:srgbClr val="FFFF00">
                      <a:alpha val="100000"/>
                    </a:srgbClr>
                  </a:gs>
                  <a:gs pos="64999">
                    <a:srgbClr val="1A8D48">
                      <a:alpha val="100000"/>
                    </a:srgbClr>
                  </a:gs>
                  <a:gs pos="78999">
                    <a:srgbClr val="0819FB">
                      <a:alpha val="100000"/>
                    </a:srgbClr>
                  </a:gs>
                  <a:gs pos="100000">
                    <a:srgbClr val="A603AB">
                      <a:alpha val="100000"/>
                    </a:srgbClr>
                  </a:gs>
                </a:gsLst>
                <a:lin ang="0" scaled="1"/>
                <a:tileRect/>
              </a:gradFill>
              <a:effectLst>
                <a:outerShdw dist="35921" dir="2699999" sy="50000" kx="2115830" algn="bl" rotWithShape="0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6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标题 13312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指令的组成</a:t>
            </a:r>
            <a:endParaRPr lang="zh-CN" altLang="en-US" dirty="0"/>
          </a:p>
        </p:txBody>
      </p:sp>
      <p:sp>
        <p:nvSpPr>
          <p:cNvPr id="133123" name="内容占位符 133122"/>
          <p:cNvSpPr>
            <a:spLocks noGrp="1"/>
          </p:cNvSpPr>
          <p:nvPr>
            <p:ph idx="1"/>
          </p:nvPr>
        </p:nvSpPr>
        <p:spPr>
          <a:xfrm>
            <a:off x="539750" y="1989138"/>
            <a:ext cx="8353425" cy="401637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指令由操作码和操作数两部分组成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chemeClr val="tx2"/>
                </a:solidFill>
              </a:rPr>
              <a:t>操作码</a:t>
            </a:r>
            <a:r>
              <a:rPr lang="zh-CN" altLang="en-US" sz="2800" dirty="0"/>
              <a:t>说明计算机要执行哪种操作，如传送、运算、移位、跳转等操作，它是指令中不可缺少的组成部分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chemeClr val="accent2"/>
                </a:solidFill>
              </a:rPr>
              <a:t>操作数</a:t>
            </a:r>
            <a:r>
              <a:rPr lang="zh-CN" altLang="en-US" sz="2800" dirty="0"/>
              <a:t>是指令执行的参与者，即各种操作的对象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有些指令不需要操作数，通常的指令都有一个或两个操作数，个别指令有</a:t>
            </a:r>
            <a:r>
              <a:rPr lang="en-US" altLang="zh-CN" sz="2800" dirty="0"/>
              <a:t>3</a:t>
            </a:r>
            <a:r>
              <a:rPr lang="zh-CN" altLang="en-US" sz="2800" dirty="0"/>
              <a:t>个甚至</a:t>
            </a:r>
            <a:r>
              <a:rPr lang="en-US" altLang="zh-CN" sz="2800" dirty="0"/>
              <a:t>4</a:t>
            </a:r>
            <a:r>
              <a:rPr lang="zh-CN" altLang="en-US" sz="2800" dirty="0"/>
              <a:t>个操作数</a:t>
            </a:r>
            <a:endParaRPr lang="zh-CN" altLang="en-US" sz="2800" dirty="0"/>
          </a:p>
        </p:txBody>
      </p:sp>
      <p:grpSp>
        <p:nvGrpSpPr>
          <p:cNvPr id="74756" name="组合 133123"/>
          <p:cNvGrpSpPr/>
          <p:nvPr/>
        </p:nvGrpSpPr>
        <p:grpSpPr>
          <a:xfrm>
            <a:off x="2667000" y="1125538"/>
            <a:ext cx="3505200" cy="608012"/>
            <a:chOff x="1680" y="864"/>
            <a:chExt cx="2208" cy="383"/>
          </a:xfrm>
        </p:grpSpPr>
        <p:sp>
          <p:nvSpPr>
            <p:cNvPr id="74757" name="文本框 133124"/>
            <p:cNvSpPr txBox="1"/>
            <p:nvPr/>
          </p:nvSpPr>
          <p:spPr>
            <a:xfrm>
              <a:off x="1680" y="864"/>
              <a:ext cx="1152" cy="383"/>
            </a:xfrm>
            <a:prstGeom prst="rect">
              <a:avLst/>
            </a:prstGeom>
            <a:noFill/>
            <a:ln w="28575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操作码</a:t>
              </a:r>
              <a:endPara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58" name="文本框 133125"/>
            <p:cNvSpPr txBox="1"/>
            <p:nvPr/>
          </p:nvSpPr>
          <p:spPr>
            <a:xfrm>
              <a:off x="2832" y="864"/>
              <a:ext cx="1056" cy="383"/>
            </a:xfrm>
            <a:prstGeom prst="rect">
              <a:avLst/>
            </a:prstGeom>
            <a:noFill/>
            <a:ln w="28575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操作数</a:t>
              </a:r>
              <a:endParaRPr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charRg st="16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charRg st="16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charRg st="6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33123">
                                            <p:txEl>
                                              <p:charRg st="63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charRg st="8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33123">
                                            <p:txEl>
                                              <p:charRg st="85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标题 13414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指令的操作码和操作数</a:t>
            </a:r>
            <a:endParaRPr lang="zh-CN" altLang="en-US" dirty="0"/>
          </a:p>
        </p:txBody>
      </p:sp>
      <p:sp>
        <p:nvSpPr>
          <p:cNvPr id="75779" name="文本占位符 134146"/>
          <p:cNvSpPr>
            <a:spLocks noGrp="1"/>
          </p:cNvSpPr>
          <p:nvPr>
            <p:ph idx="1"/>
          </p:nvPr>
        </p:nvSpPr>
        <p:spPr>
          <a:xfrm>
            <a:off x="395288" y="981075"/>
            <a:ext cx="8524875" cy="5472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每种指令的</a:t>
            </a:r>
            <a:r>
              <a:rPr lang="zh-CN" altLang="en-US" sz="3200" dirty="0">
                <a:solidFill>
                  <a:schemeClr val="tx2"/>
                </a:solidFill>
              </a:rPr>
              <a:t>操作码</a:t>
            </a:r>
            <a:r>
              <a:rPr lang="zh-CN" altLang="en-US" sz="3200" dirty="0"/>
              <a:t>：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用一个唯一的助记符表示（指令功能的英文缩写）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对应着机器指令的一个二进制编码</a:t>
            </a:r>
            <a:endParaRPr lang="zh-CN" altLang="en-US" sz="2800" dirty="0"/>
          </a:p>
          <a:p>
            <a:pPr eaLnBrk="1" hangingPunct="1"/>
            <a:r>
              <a:rPr lang="zh-CN" altLang="en-US" sz="3200" dirty="0"/>
              <a:t>指令中的</a:t>
            </a:r>
            <a:r>
              <a:rPr lang="zh-CN" altLang="en-US" sz="3200" dirty="0">
                <a:solidFill>
                  <a:schemeClr val="accent2"/>
                </a:solidFill>
              </a:rPr>
              <a:t>操作数</a:t>
            </a:r>
            <a:r>
              <a:rPr lang="zh-CN" altLang="en-US" sz="3200" dirty="0"/>
              <a:t>：</a:t>
            </a:r>
            <a:endParaRPr lang="zh-CN" altLang="en-US" sz="3200" dirty="0"/>
          </a:p>
          <a:p>
            <a:pPr lvl="1" eaLnBrk="1" hangingPunct="1"/>
            <a:r>
              <a:rPr lang="zh-CN" altLang="en-US" sz="2800" dirty="0"/>
              <a:t>可以是一个具体的数值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可以是存放数据的寄存器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或指明数据在主存位置的存储器地址</a:t>
            </a:r>
            <a:endParaRPr lang="zh-CN" altLang="en-US" sz="2800" dirty="0"/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6194" name="组合 136193"/>
          <p:cNvGrpSpPr/>
          <p:nvPr/>
        </p:nvGrpSpPr>
        <p:grpSpPr>
          <a:xfrm>
            <a:off x="1023938" y="2514600"/>
            <a:ext cx="7510462" cy="3581400"/>
            <a:chOff x="645" y="1488"/>
            <a:chExt cx="4731" cy="2256"/>
          </a:xfrm>
        </p:grpSpPr>
        <p:sp>
          <p:nvSpPr>
            <p:cNvPr id="76829" name="任意多边形 136194"/>
            <p:cNvSpPr/>
            <p:nvPr/>
          </p:nvSpPr>
          <p:spPr>
            <a:xfrm>
              <a:off x="645" y="1488"/>
              <a:ext cx="4203" cy="2064"/>
            </a:xfrm>
            <a:custGeom>
              <a:avLst/>
              <a:gdLst/>
              <a:ahLst/>
              <a:cxnLst>
                <a:cxn ang="0">
                  <a:pos x="4203" y="0"/>
                </a:cxn>
                <a:cxn ang="0">
                  <a:pos x="0" y="1889"/>
                </a:cxn>
                <a:cxn ang="0">
                  <a:pos x="842" y="1894"/>
                </a:cxn>
              </a:cxnLst>
              <a:pathLst>
                <a:path w="4203" h="2109">
                  <a:moveTo>
                    <a:pt x="4203" y="0"/>
                  </a:moveTo>
                  <a:lnTo>
                    <a:pt x="0" y="2104"/>
                  </a:lnTo>
                  <a:lnTo>
                    <a:pt x="842" y="2109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6830" name="矩形 136195"/>
            <p:cNvSpPr/>
            <p:nvPr/>
          </p:nvSpPr>
          <p:spPr>
            <a:xfrm>
              <a:off x="1488" y="3360"/>
              <a:ext cx="38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/>
              <a:r>
                <a:rPr lang="zh-CN" altLang="en-US" sz="2800" dirty="0"/>
                <a:t>给出立即寻址方式需要的数值本身</a:t>
              </a:r>
              <a:endParaRPr lang="zh-CN" altLang="en-US" sz="2800" dirty="0"/>
            </a:p>
          </p:txBody>
        </p:sp>
      </p:grpSp>
      <p:grpSp>
        <p:nvGrpSpPr>
          <p:cNvPr id="136197" name="组合 136196"/>
          <p:cNvGrpSpPr/>
          <p:nvPr/>
        </p:nvGrpSpPr>
        <p:grpSpPr>
          <a:xfrm>
            <a:off x="228600" y="2498725"/>
            <a:ext cx="8305800" cy="2759075"/>
            <a:chOff x="144" y="1478"/>
            <a:chExt cx="5232" cy="1738"/>
          </a:xfrm>
        </p:grpSpPr>
        <p:sp>
          <p:nvSpPr>
            <p:cNvPr id="76827" name="任意多边形 136197"/>
            <p:cNvSpPr/>
            <p:nvPr/>
          </p:nvSpPr>
          <p:spPr>
            <a:xfrm>
              <a:off x="144" y="1478"/>
              <a:ext cx="3099" cy="1591"/>
            </a:xfrm>
            <a:custGeom>
              <a:avLst/>
              <a:gdLst/>
              <a:ahLst/>
              <a:cxnLst>
                <a:cxn ang="0">
                  <a:pos x="3099" y="0"/>
                </a:cxn>
                <a:cxn ang="0">
                  <a:pos x="0" y="1588"/>
                </a:cxn>
                <a:cxn ang="0">
                  <a:pos x="411" y="1591"/>
                </a:cxn>
              </a:cxnLst>
              <a:pathLst>
                <a:path w="3099" h="1591">
                  <a:moveTo>
                    <a:pt x="3099" y="0"/>
                  </a:moveTo>
                  <a:lnTo>
                    <a:pt x="0" y="1588"/>
                  </a:lnTo>
                  <a:lnTo>
                    <a:pt x="411" y="1591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6828" name="矩形 136198"/>
            <p:cNvSpPr/>
            <p:nvPr/>
          </p:nvSpPr>
          <p:spPr>
            <a:xfrm>
              <a:off x="576" y="2832"/>
              <a:ext cx="4800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/>
              <a:r>
                <a:rPr lang="zh-CN" altLang="en-US" sz="2800" dirty="0"/>
                <a:t>给出某些寻址方式需要的对基地址的偏移量</a:t>
              </a:r>
              <a:endParaRPr lang="zh-CN" altLang="en-US" sz="2800" dirty="0"/>
            </a:p>
          </p:txBody>
        </p:sp>
      </p:grpSp>
      <p:sp>
        <p:nvSpPr>
          <p:cNvPr id="76804" name="标题 13619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8086</a:t>
            </a:r>
            <a:r>
              <a:rPr lang="zh-CN" altLang="en-US" dirty="0"/>
              <a:t>的机器代码格式</a:t>
            </a:r>
            <a:endParaRPr lang="zh-CN" altLang="en-US" dirty="0"/>
          </a:p>
        </p:txBody>
      </p:sp>
      <p:grpSp>
        <p:nvGrpSpPr>
          <p:cNvPr id="136201" name="组合 136200"/>
          <p:cNvGrpSpPr/>
          <p:nvPr/>
        </p:nvGrpSpPr>
        <p:grpSpPr>
          <a:xfrm>
            <a:off x="304800" y="2482850"/>
            <a:ext cx="6367463" cy="1952625"/>
            <a:chOff x="309" y="1468"/>
            <a:chExt cx="3003" cy="1230"/>
          </a:xfrm>
        </p:grpSpPr>
        <p:sp>
          <p:nvSpPr>
            <p:cNvPr id="76825" name="任意多边形 136201"/>
            <p:cNvSpPr/>
            <p:nvPr/>
          </p:nvSpPr>
          <p:spPr>
            <a:xfrm>
              <a:off x="309" y="1468"/>
              <a:ext cx="1611" cy="1036"/>
            </a:xfrm>
            <a:custGeom>
              <a:avLst/>
              <a:gdLst/>
              <a:ahLst/>
              <a:cxnLst>
                <a:cxn ang="0">
                  <a:pos x="1611" y="0"/>
                </a:cxn>
                <a:cxn ang="0">
                  <a:pos x="0" y="1032"/>
                </a:cxn>
                <a:cxn ang="0">
                  <a:pos x="466" y="1036"/>
                </a:cxn>
              </a:cxnLst>
              <a:pathLst>
                <a:path w="1611" h="1036">
                  <a:moveTo>
                    <a:pt x="1611" y="0"/>
                  </a:moveTo>
                  <a:lnTo>
                    <a:pt x="0" y="1032"/>
                  </a:lnTo>
                  <a:lnTo>
                    <a:pt x="466" y="103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6826" name="矩形 136202"/>
            <p:cNvSpPr/>
            <p:nvPr/>
          </p:nvSpPr>
          <p:spPr>
            <a:xfrm>
              <a:off x="776" y="2314"/>
              <a:ext cx="2536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342900" lvl="0" indent="-342900" eaLnBrk="1" hangingPunct="1"/>
              <a:r>
                <a:rPr lang="zh-CN" altLang="en-US" sz="2800" dirty="0"/>
                <a:t>表明采用的寻址方式（表</a:t>
              </a:r>
              <a:r>
                <a:rPr lang="en-US" altLang="zh-CN" sz="2800" dirty="0"/>
                <a:t>1.7</a:t>
              </a:r>
              <a:r>
                <a:rPr lang="zh-CN" altLang="en-US" sz="2800" dirty="0"/>
                <a:t>）</a:t>
              </a:r>
              <a:endParaRPr lang="zh-CN" altLang="en-US" sz="2800" dirty="0"/>
            </a:p>
          </p:txBody>
        </p:sp>
      </p:grpSp>
      <p:graphicFrame>
        <p:nvGraphicFramePr>
          <p:cNvPr id="136229" name="表格 136228"/>
          <p:cNvGraphicFramePr/>
          <p:nvPr/>
        </p:nvGraphicFramePr>
        <p:xfrm>
          <a:off x="762000" y="1549400"/>
          <a:ext cx="8153400" cy="966788"/>
        </p:xfrm>
        <a:graphic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</a:tblGrid>
              <a:tr h="457200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tx2"/>
                          </a:solidFill>
                        </a:rPr>
                        <a:t>操作码</a:t>
                      </a:r>
                      <a:endParaRPr lang="zh-CN" altLang="en-US" sz="2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 err="1">
                          <a:solidFill>
                            <a:schemeClr val="accent2"/>
                          </a:solidFill>
                        </a:rPr>
                        <a:t>mod reg r/m</a:t>
                      </a:r>
                      <a:endParaRPr lang="zh-CN" altLang="en-US" sz="24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</a:rPr>
                        <a:t>位移量</a:t>
                      </a:r>
                      <a:endParaRPr lang="zh-CN" altLang="en-US" sz="2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</a:rPr>
                        <a:t>立即数</a:t>
                      </a:r>
                      <a:endParaRPr lang="zh-CN" altLang="en-US" sz="2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6822" name="组合 136225"/>
          <p:cNvGrpSpPr/>
          <p:nvPr/>
        </p:nvGrpSpPr>
        <p:grpSpPr>
          <a:xfrm>
            <a:off x="3429000" y="2667000"/>
            <a:ext cx="4800600" cy="944563"/>
            <a:chOff x="2160" y="1680"/>
            <a:chExt cx="3024" cy="595"/>
          </a:xfrm>
        </p:grpSpPr>
        <p:sp>
          <p:nvSpPr>
            <p:cNvPr id="76823" name="右大括号 136226"/>
            <p:cNvSpPr/>
            <p:nvPr/>
          </p:nvSpPr>
          <p:spPr>
            <a:xfrm rot="5400000">
              <a:off x="3528" y="312"/>
              <a:ext cx="288" cy="3024"/>
            </a:xfrm>
            <a:prstGeom prst="rightBrace">
              <a:avLst>
                <a:gd name="adj1" fmla="val 56000"/>
                <a:gd name="adj2" fmla="val 50463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/>
            </a:p>
          </p:txBody>
        </p:sp>
        <p:sp>
          <p:nvSpPr>
            <p:cNvPr id="76824" name="文本框 136227"/>
            <p:cNvSpPr txBox="1"/>
            <p:nvPr/>
          </p:nvSpPr>
          <p:spPr>
            <a:xfrm>
              <a:off x="3158" y="1948"/>
              <a:ext cx="794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chemeClr val="accent2"/>
                  </a:solidFill>
                </a:rPr>
                <a:t>操作数</a:t>
              </a:r>
              <a:endParaRPr lang="zh-CN" altLang="en-US" sz="2800"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标题 1372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标准机器代码示例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77827" name="文本占位符 137218"/>
          <p:cNvSpPr>
            <a:spLocks noGrp="1"/>
          </p:cNvSpPr>
          <p:nvPr>
            <p:ph idx="1"/>
          </p:nvPr>
        </p:nvSpPr>
        <p:spPr>
          <a:xfrm>
            <a:off x="539750" y="2638425"/>
            <a:ext cx="8194675" cy="30956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3200" dirty="0"/>
              <a:t>	</a:t>
            </a:r>
            <a:r>
              <a:rPr lang="en-US" altLang="zh-CN" sz="3200" dirty="0">
                <a:solidFill>
                  <a:schemeClr val="tx2"/>
                </a:solidFill>
              </a:rPr>
              <a:t>MOV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chemeClr val="accent2"/>
                </a:solidFill>
              </a:rPr>
              <a:t>AX,BX</a:t>
            </a:r>
            <a:r>
              <a:rPr lang="en-US" altLang="zh-CN" sz="3200" dirty="0"/>
              <a:t> </a:t>
            </a:r>
            <a:r>
              <a:rPr lang="zh-CN" altLang="en-US" sz="3200" dirty="0"/>
              <a:t>；机器代码是 </a:t>
            </a:r>
            <a:r>
              <a:rPr lang="en-US" altLang="zh-CN" sz="3200" dirty="0">
                <a:solidFill>
                  <a:srgbClr val="996600"/>
                </a:solidFill>
              </a:rPr>
              <a:t>89 D8</a:t>
            </a:r>
            <a:endParaRPr lang="en-US" altLang="zh-CN" sz="3200" dirty="0">
              <a:solidFill>
                <a:srgbClr val="996600"/>
              </a:solidFill>
            </a:endParaRPr>
          </a:p>
          <a:p>
            <a:pPr eaLnBrk="1" hangingPunct="1"/>
            <a:r>
              <a:rPr lang="zh-CN" altLang="en-US" sz="2800" dirty="0"/>
              <a:t>第</a:t>
            </a:r>
            <a:r>
              <a:rPr lang="en-US" altLang="zh-CN" sz="2800" dirty="0"/>
              <a:t>1</a:t>
            </a:r>
            <a:r>
              <a:rPr lang="zh-CN" altLang="en-US" sz="2800" dirty="0"/>
              <a:t>个字节</a:t>
            </a:r>
            <a:r>
              <a:rPr lang="en-US" altLang="zh-CN" sz="2800" dirty="0">
                <a:solidFill>
                  <a:srgbClr val="996600"/>
                </a:solidFill>
              </a:rPr>
              <a:t>89</a:t>
            </a:r>
            <a:r>
              <a:rPr lang="zh-CN" altLang="en-US" sz="2800" dirty="0"/>
              <a:t>是操作码</a:t>
            </a:r>
            <a:r>
              <a:rPr lang="en-US" altLang="zh-CN" sz="2800" dirty="0"/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w</a:t>
            </a:r>
            <a:r>
              <a:rPr lang="zh-CN" altLang="en-US" sz="2800" dirty="0"/>
              <a:t>＝</a:t>
            </a:r>
            <a:r>
              <a:rPr lang="en-US" altLang="zh-CN" sz="2800" dirty="0"/>
              <a:t>1</a:t>
            </a:r>
            <a:r>
              <a:rPr lang="zh-CN" altLang="en-US" sz="2800" dirty="0"/>
              <a:t>表示</a:t>
            </a:r>
            <a:r>
              <a:rPr lang="en-US" altLang="zh-CN" sz="2800" dirty="0"/>
              <a:t>16</a:t>
            </a:r>
            <a:r>
              <a:rPr lang="zh-CN" altLang="en-US" sz="2800" dirty="0"/>
              <a:t>位操作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第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</a:t>
            </a:r>
            <a:r>
              <a:rPr lang="en-US" altLang="zh-CN" sz="2800" dirty="0">
                <a:solidFill>
                  <a:srgbClr val="996600"/>
                </a:solidFill>
              </a:rPr>
              <a:t>D8</a:t>
            </a:r>
            <a:r>
              <a:rPr lang="zh-CN" altLang="en-US" sz="2800" dirty="0"/>
              <a:t>（</a:t>
            </a:r>
            <a:r>
              <a:rPr lang="en-US" altLang="zh-CN" sz="2800" dirty="0"/>
              <a:t>11 011 000</a:t>
            </a:r>
            <a:r>
              <a:rPr lang="zh-CN" altLang="en-US" sz="2800" dirty="0"/>
              <a:t>）是 “</a:t>
            </a:r>
            <a:r>
              <a:rPr lang="en-US" altLang="zh-CN" sz="2800" dirty="0"/>
              <a:t>mod reg r/m”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reg</a:t>
            </a:r>
            <a:r>
              <a:rPr lang="zh-CN" altLang="en-US" sz="2800" dirty="0"/>
              <a:t>＝</a:t>
            </a:r>
            <a:r>
              <a:rPr lang="en-US" altLang="zh-CN" sz="2800" dirty="0"/>
              <a:t>011</a:t>
            </a:r>
            <a:r>
              <a:rPr lang="zh-CN" altLang="en-US" sz="2800" dirty="0"/>
              <a:t>表示目的操作数为</a:t>
            </a:r>
            <a:r>
              <a:rPr lang="en-US" altLang="zh-CN" sz="2800" dirty="0"/>
              <a:t>BX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mod</a:t>
            </a:r>
            <a:r>
              <a:rPr lang="zh-CN" altLang="en-US" sz="2800" dirty="0"/>
              <a:t>＝</a:t>
            </a:r>
            <a:r>
              <a:rPr lang="en-US" altLang="zh-CN" sz="2800" dirty="0"/>
              <a:t>11</a:t>
            </a:r>
            <a:r>
              <a:rPr lang="zh-CN" altLang="en-US" sz="2800" dirty="0"/>
              <a:t>和</a:t>
            </a:r>
            <a:r>
              <a:rPr lang="en-US" altLang="zh-CN" sz="2800" dirty="0"/>
              <a:t>r/m</a:t>
            </a:r>
            <a:r>
              <a:rPr lang="zh-CN" altLang="en-US" sz="2800" dirty="0"/>
              <a:t>＝</a:t>
            </a:r>
            <a:r>
              <a:rPr lang="en-US" altLang="zh-CN" sz="2800" dirty="0"/>
              <a:t>000</a:t>
            </a:r>
            <a:r>
              <a:rPr lang="zh-CN" altLang="en-US" sz="2800" dirty="0"/>
              <a:t>表示源操作数为</a:t>
            </a:r>
            <a:r>
              <a:rPr lang="en-US" altLang="zh-CN" sz="2800" dirty="0"/>
              <a:t>AX</a:t>
            </a:r>
            <a:endParaRPr lang="en-US" altLang="zh-CN" sz="2800" dirty="0"/>
          </a:p>
        </p:txBody>
      </p:sp>
      <p:graphicFrame>
        <p:nvGraphicFramePr>
          <p:cNvPr id="137242" name="表格 137241"/>
          <p:cNvGraphicFramePr/>
          <p:nvPr/>
        </p:nvGraphicFramePr>
        <p:xfrm>
          <a:off x="762000" y="1219200"/>
          <a:ext cx="8153400" cy="966788"/>
        </p:xfrm>
        <a:graphic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</a:tblGrid>
              <a:tr h="457200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tx2"/>
                          </a:solidFill>
                        </a:rPr>
                        <a:t>操作码</a:t>
                      </a:r>
                      <a:endParaRPr lang="zh-CN" altLang="en-US" sz="2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 err="1">
                          <a:solidFill>
                            <a:schemeClr val="accent2"/>
                          </a:solidFill>
                        </a:rPr>
                        <a:t>mod reg r/m</a:t>
                      </a:r>
                      <a:endParaRPr lang="zh-CN" altLang="en-US" sz="24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</a:rPr>
                        <a:t>位移量</a:t>
                      </a:r>
                      <a:endParaRPr lang="zh-CN" altLang="en-US" sz="2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</a:rPr>
                        <a:t>立即数</a:t>
                      </a:r>
                      <a:endParaRPr lang="zh-CN" altLang="en-US" sz="2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标题 23040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标准机器代码示例</a:t>
            </a:r>
            <a:r>
              <a:rPr lang="en-US" altLang="zh-CN" dirty="0"/>
              <a:t>2</a:t>
            </a:r>
            <a:endParaRPr lang="en-US" altLang="zh-CN" dirty="0"/>
          </a:p>
        </p:txBody>
      </p:sp>
      <p:sp>
        <p:nvSpPr>
          <p:cNvPr id="78851" name="文本占位符 230402"/>
          <p:cNvSpPr>
            <a:spLocks noGrp="1"/>
          </p:cNvSpPr>
          <p:nvPr>
            <p:ph idx="1"/>
          </p:nvPr>
        </p:nvSpPr>
        <p:spPr>
          <a:xfrm>
            <a:off x="539750" y="2420938"/>
            <a:ext cx="8194675" cy="377507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2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2"/>
                </a:solidFill>
              </a:rPr>
              <a:t>AL,[BX+SI+6]</a:t>
            </a:r>
            <a:r>
              <a:rPr lang="en-US" altLang="zh-CN" sz="2800" dirty="0"/>
              <a:t> </a:t>
            </a:r>
            <a:r>
              <a:rPr lang="zh-CN" altLang="en-US" sz="2800" dirty="0"/>
              <a:t>；机器代码是 </a:t>
            </a:r>
            <a:r>
              <a:rPr lang="en-US" altLang="zh-CN" sz="2800" dirty="0">
                <a:solidFill>
                  <a:srgbClr val="996600"/>
                </a:solidFill>
              </a:rPr>
              <a:t>8A 40 06</a:t>
            </a:r>
            <a:endParaRPr lang="en-US" altLang="zh-CN" sz="2800" dirty="0">
              <a:solidFill>
                <a:srgbClr val="996600"/>
              </a:solidFill>
            </a:endParaRPr>
          </a:p>
          <a:p>
            <a:pPr eaLnBrk="1" hangingPunct="1"/>
            <a:r>
              <a:rPr lang="zh-CN" altLang="en-US" sz="2800" dirty="0"/>
              <a:t>前一个字节</a:t>
            </a:r>
            <a:r>
              <a:rPr lang="en-US" altLang="zh-CN" sz="2800" dirty="0">
                <a:solidFill>
                  <a:srgbClr val="996600"/>
                </a:solidFill>
              </a:rPr>
              <a:t>8A</a:t>
            </a:r>
            <a:r>
              <a:rPr lang="zh-CN" altLang="en-US" sz="2800" dirty="0"/>
              <a:t>是操作码</a:t>
            </a:r>
            <a:r>
              <a:rPr lang="en-US" altLang="zh-CN" sz="2800" dirty="0"/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w</a:t>
            </a:r>
            <a:r>
              <a:rPr lang="zh-CN" altLang="en-US" sz="2800" dirty="0"/>
              <a:t>＝</a:t>
            </a:r>
            <a:r>
              <a:rPr lang="en-US" altLang="zh-CN" sz="2800" dirty="0"/>
              <a:t>0</a:t>
            </a:r>
            <a:r>
              <a:rPr lang="zh-CN" altLang="en-US" sz="2800" dirty="0"/>
              <a:t>表示</a:t>
            </a:r>
            <a:r>
              <a:rPr lang="en-US" altLang="zh-CN" sz="2800" dirty="0"/>
              <a:t>8</a:t>
            </a:r>
            <a:r>
              <a:rPr lang="zh-CN" altLang="en-US" sz="2800" dirty="0"/>
              <a:t>位操作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中间一个字节</a:t>
            </a:r>
            <a:r>
              <a:rPr lang="en-US" altLang="zh-CN" sz="2800" dirty="0">
                <a:solidFill>
                  <a:srgbClr val="996600"/>
                </a:solidFill>
              </a:rPr>
              <a:t>40</a:t>
            </a:r>
            <a:r>
              <a:rPr lang="zh-CN" altLang="en-US" sz="2800" dirty="0"/>
              <a:t>（</a:t>
            </a:r>
            <a:r>
              <a:rPr lang="en-US" altLang="zh-CN" sz="2800" dirty="0"/>
              <a:t>01 000 000</a:t>
            </a:r>
            <a:r>
              <a:rPr lang="zh-CN" altLang="en-US" sz="2800" dirty="0"/>
              <a:t>）是 “</a:t>
            </a:r>
            <a:r>
              <a:rPr lang="en-US" altLang="zh-CN" sz="2800" dirty="0"/>
              <a:t>mod reg r/m”</a:t>
            </a:r>
            <a:r>
              <a:rPr lang="zh-CN" altLang="en-US" sz="2800" dirty="0"/>
              <a:t>字节</a:t>
            </a:r>
            <a:endParaRPr lang="zh-CN" altLang="en-US" sz="2800" dirty="0"/>
          </a:p>
          <a:p>
            <a:pPr lvl="1" eaLnBrk="1" hangingPunct="1"/>
            <a:r>
              <a:rPr lang="en-US" altLang="zh-CN" sz="2400" dirty="0"/>
              <a:t>reg</a:t>
            </a:r>
            <a:r>
              <a:rPr lang="zh-CN" altLang="en-US" sz="2400" dirty="0"/>
              <a:t>＝</a:t>
            </a:r>
            <a:r>
              <a:rPr lang="en-US" altLang="zh-CN" sz="2400" dirty="0"/>
              <a:t>000</a:t>
            </a:r>
            <a:r>
              <a:rPr lang="zh-CN" altLang="en-US" sz="2400" dirty="0"/>
              <a:t>表示目的操作数为</a:t>
            </a:r>
            <a:r>
              <a:rPr lang="en-US" altLang="zh-CN" sz="2400" dirty="0"/>
              <a:t>AL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mod</a:t>
            </a:r>
            <a:r>
              <a:rPr lang="zh-CN" altLang="en-US" sz="2400" dirty="0"/>
              <a:t>＝</a:t>
            </a:r>
            <a:r>
              <a:rPr lang="en-US" altLang="zh-CN" sz="2400" dirty="0"/>
              <a:t>01</a:t>
            </a:r>
            <a:r>
              <a:rPr lang="zh-CN" altLang="en-US" sz="2400" dirty="0"/>
              <a:t>和</a:t>
            </a:r>
            <a:r>
              <a:rPr lang="en-US" altLang="zh-CN" sz="2400" dirty="0"/>
              <a:t>r/m</a:t>
            </a:r>
            <a:r>
              <a:rPr lang="zh-CN" altLang="en-US" sz="2400" dirty="0"/>
              <a:t>＝</a:t>
            </a:r>
            <a:r>
              <a:rPr lang="en-US" altLang="zh-CN" sz="2400" dirty="0"/>
              <a:t>000</a:t>
            </a:r>
            <a:r>
              <a:rPr lang="zh-CN" altLang="en-US" sz="2400" dirty="0"/>
              <a:t>表示源操作数为</a:t>
            </a:r>
            <a:r>
              <a:rPr lang="en-US" altLang="zh-CN" sz="2400" dirty="0"/>
              <a:t>[BX+SI+D8]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最后一个字节就是</a:t>
            </a:r>
            <a:r>
              <a:rPr lang="en-US" altLang="zh-CN" sz="2800" dirty="0"/>
              <a:t>8</a:t>
            </a:r>
            <a:r>
              <a:rPr lang="zh-CN" altLang="en-US" sz="2800" dirty="0"/>
              <a:t>位位移量〔</a:t>
            </a:r>
            <a:r>
              <a:rPr lang="en-US" altLang="zh-CN" sz="2800" dirty="0"/>
              <a:t>D8</a:t>
            </a:r>
            <a:r>
              <a:rPr lang="zh-CN" altLang="en-US" sz="2800" dirty="0"/>
              <a:t>＝〕</a:t>
            </a:r>
            <a:r>
              <a:rPr lang="en-US" altLang="zh-CN" sz="2800" dirty="0">
                <a:solidFill>
                  <a:srgbClr val="996600"/>
                </a:solidFill>
              </a:rPr>
              <a:t>06</a:t>
            </a:r>
            <a:endParaRPr lang="en-US" altLang="zh-CN" sz="2800" dirty="0">
              <a:solidFill>
                <a:srgbClr val="996600"/>
              </a:solidFill>
            </a:endParaRPr>
          </a:p>
        </p:txBody>
      </p:sp>
      <p:graphicFrame>
        <p:nvGraphicFramePr>
          <p:cNvPr id="230404" name="表格 230403"/>
          <p:cNvGraphicFramePr/>
          <p:nvPr/>
        </p:nvGraphicFramePr>
        <p:xfrm>
          <a:off x="762000" y="1219200"/>
          <a:ext cx="8153400" cy="966788"/>
        </p:xfrm>
        <a:graphic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</a:tblGrid>
              <a:tr h="457200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/>
                        <a:t>0/1/2</a:t>
                      </a:r>
                      <a:r>
                        <a:rPr lang="zh-CN" altLang="en-US" sz="2400" dirty="0"/>
                        <a:t>字节</a:t>
                      </a:r>
                      <a:endParaRPr lang="zh-CN" altLang="en-US" sz="2400" dirty="0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tx2"/>
                          </a:solidFill>
                        </a:rPr>
                        <a:t>操作码</a:t>
                      </a:r>
                      <a:endParaRPr lang="zh-CN" altLang="en-US" sz="24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dirty="0" err="1">
                          <a:solidFill>
                            <a:schemeClr val="accent2"/>
                          </a:solidFill>
                        </a:rPr>
                        <a:t>mod reg r/m</a:t>
                      </a:r>
                      <a:endParaRPr lang="zh-CN" altLang="en-US" sz="24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</a:rPr>
                        <a:t>位移量</a:t>
                      </a:r>
                      <a:endParaRPr lang="zh-CN" altLang="en-US" sz="2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Ø"/>
                        <a:defRPr sz="32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</a:rPr>
                        <a:t>立即数</a:t>
                      </a:r>
                      <a:endParaRPr lang="zh-CN" altLang="en-US" sz="24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标题 13824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其它机器代码形式</a:t>
            </a:r>
            <a:endParaRPr lang="zh-CN" altLang="en-US" dirty="0"/>
          </a:p>
        </p:txBody>
      </p:sp>
      <p:sp>
        <p:nvSpPr>
          <p:cNvPr id="79875" name="文本占位符 138242"/>
          <p:cNvSpPr>
            <a:spLocks noGrp="1"/>
          </p:cNvSpPr>
          <p:nvPr>
            <p:ph idx="1"/>
          </p:nvPr>
        </p:nvSpPr>
        <p:spPr>
          <a:xfrm>
            <a:off x="854075" y="1989138"/>
            <a:ext cx="7521575" cy="4259262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3200" dirty="0"/>
              <a:t>mov al,05 </a:t>
            </a:r>
            <a:r>
              <a:rPr lang="zh-CN" altLang="en-US" sz="3200" dirty="0"/>
              <a:t>；机器代码是</a:t>
            </a:r>
            <a:r>
              <a:rPr lang="en-US" altLang="zh-CN" sz="3200" dirty="0"/>
              <a:t>B0 05</a:t>
            </a:r>
            <a:endParaRPr lang="en-US" altLang="zh-CN" sz="3200" dirty="0"/>
          </a:p>
          <a:p>
            <a:pPr eaLnBrk="1" hangingPunct="1"/>
            <a:r>
              <a:rPr lang="zh-CN" altLang="en-US" sz="3200" dirty="0"/>
              <a:t>前一个字节</a:t>
            </a:r>
            <a:r>
              <a:rPr lang="en-US" altLang="zh-CN" sz="3200" dirty="0"/>
              <a:t>B0</a:t>
            </a:r>
            <a:r>
              <a:rPr lang="zh-CN" altLang="en-US" sz="3200" dirty="0"/>
              <a:t>是操作码（含一个操作数</a:t>
            </a:r>
            <a:r>
              <a:rPr lang="en-US" altLang="zh-CN" sz="3200" dirty="0"/>
              <a:t>AL</a:t>
            </a:r>
            <a:r>
              <a:rPr lang="zh-CN" altLang="en-US" sz="3200" dirty="0"/>
              <a:t>），后一个字节</a:t>
            </a:r>
            <a:r>
              <a:rPr lang="en-US" altLang="zh-CN" sz="3200" dirty="0"/>
              <a:t>05</a:t>
            </a:r>
            <a:r>
              <a:rPr lang="zh-CN" altLang="en-US" sz="3200" dirty="0"/>
              <a:t>是立即数</a:t>
            </a:r>
            <a:endParaRPr lang="zh-CN" altLang="en-US" sz="3200" dirty="0"/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3200" dirty="0"/>
              <a:t>mov ax,0102H </a:t>
            </a:r>
            <a:r>
              <a:rPr lang="zh-CN" altLang="en-US" sz="3200" dirty="0"/>
              <a:t>；机器代码是</a:t>
            </a:r>
            <a:r>
              <a:rPr lang="en-US" altLang="zh-CN" sz="3200" dirty="0"/>
              <a:t>B8 02 01</a:t>
            </a:r>
            <a:endParaRPr lang="en-US" altLang="zh-CN" sz="3200" dirty="0"/>
          </a:p>
          <a:p>
            <a:pPr eaLnBrk="1" hangingPunct="1"/>
            <a:r>
              <a:rPr lang="zh-CN" altLang="en-US" sz="3200" dirty="0"/>
              <a:t>前一个字节</a:t>
            </a:r>
            <a:r>
              <a:rPr lang="en-US" altLang="zh-CN" sz="3200" dirty="0"/>
              <a:t>B8</a:t>
            </a:r>
            <a:r>
              <a:rPr lang="zh-CN" altLang="en-US" sz="3200" dirty="0"/>
              <a:t>是操作码（含一个操作数</a:t>
            </a:r>
            <a:r>
              <a:rPr lang="en-US" altLang="zh-CN" sz="3200" dirty="0"/>
              <a:t>AX</a:t>
            </a:r>
            <a:r>
              <a:rPr lang="zh-CN" altLang="en-US" sz="3200" dirty="0"/>
              <a:t>），后两个字节</a:t>
            </a:r>
            <a:r>
              <a:rPr lang="en-US" altLang="zh-CN" sz="3200" dirty="0"/>
              <a:t>02 01</a:t>
            </a:r>
            <a:r>
              <a:rPr lang="zh-CN" altLang="en-US" sz="3200" dirty="0"/>
              <a:t>是</a:t>
            </a:r>
            <a:r>
              <a:rPr lang="en-US" altLang="zh-CN" sz="3200" dirty="0"/>
              <a:t>16</a:t>
            </a:r>
            <a:r>
              <a:rPr lang="zh-CN" altLang="en-US" sz="3200" dirty="0"/>
              <a:t>位立即数（低字节</a:t>
            </a:r>
            <a:r>
              <a:rPr lang="en-US" altLang="zh-CN" sz="3200" dirty="0"/>
              <a:t>02</a:t>
            </a:r>
            <a:r>
              <a:rPr lang="zh-CN" altLang="en-US" sz="3200" dirty="0"/>
              <a:t>在低地址）</a:t>
            </a:r>
            <a:endParaRPr lang="zh-CN" altLang="en-US" sz="3200" dirty="0"/>
          </a:p>
        </p:txBody>
      </p:sp>
      <p:grpSp>
        <p:nvGrpSpPr>
          <p:cNvPr id="79876" name="组合 138243"/>
          <p:cNvGrpSpPr/>
          <p:nvPr/>
        </p:nvGrpSpPr>
        <p:grpSpPr>
          <a:xfrm>
            <a:off x="2667000" y="1052513"/>
            <a:ext cx="3505200" cy="608012"/>
            <a:chOff x="1680" y="864"/>
            <a:chExt cx="2208" cy="383"/>
          </a:xfrm>
        </p:grpSpPr>
        <p:sp>
          <p:nvSpPr>
            <p:cNvPr id="79878" name="文本框 138244"/>
            <p:cNvSpPr txBox="1"/>
            <p:nvPr/>
          </p:nvSpPr>
          <p:spPr>
            <a:xfrm>
              <a:off x="1680" y="864"/>
              <a:ext cx="1152" cy="383"/>
            </a:xfrm>
            <a:prstGeom prst="rect">
              <a:avLst/>
            </a:prstGeom>
            <a:noFill/>
            <a:ln w="28575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操作码</a:t>
              </a:r>
              <a:endPara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879" name="文本框 138245"/>
            <p:cNvSpPr txBox="1"/>
            <p:nvPr/>
          </p:nvSpPr>
          <p:spPr>
            <a:xfrm>
              <a:off x="2832" y="864"/>
              <a:ext cx="1056" cy="383"/>
            </a:xfrm>
            <a:prstGeom prst="rect">
              <a:avLst/>
            </a:prstGeom>
            <a:noFill/>
            <a:ln w="28575" cap="sq" cmpd="sng">
              <a:solidFill>
                <a:schemeClr val="accent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操作数</a:t>
              </a:r>
              <a:endParaRPr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79877" name="图片 138246" descr="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63" y="3716338"/>
            <a:ext cx="8675687" cy="46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标题 13926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指令的助记符格式</a:t>
            </a:r>
            <a:endParaRPr lang="zh-CN" altLang="en-US" dirty="0"/>
          </a:p>
        </p:txBody>
      </p:sp>
      <p:sp>
        <p:nvSpPr>
          <p:cNvPr id="80899" name="文本占位符 13926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Aft>
                <a:spcPct val="50000"/>
              </a:spcAft>
              <a:buNone/>
            </a:pPr>
            <a:r>
              <a:rPr lang="en-US" altLang="zh-CN" sz="3200" dirty="0">
                <a:latin typeface="宋体" panose="02010600030101010101" pitchFamily="2" charset="-122"/>
              </a:rPr>
              <a:t>	</a:t>
            </a:r>
            <a:r>
              <a:rPr lang="zh-CN" altLang="en-US" sz="3200" dirty="0">
                <a:solidFill>
                  <a:schemeClr val="tx2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3200" dirty="0">
                <a:solidFill>
                  <a:schemeClr val="bg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操作数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1,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操作数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3200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3200" dirty="0">
                <a:latin typeface="宋体" panose="02010600030101010101" pitchFamily="2" charset="-122"/>
              </a:rPr>
              <a:t>注释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操作数</a:t>
            </a:r>
            <a:r>
              <a:rPr lang="en-US" altLang="zh-CN" sz="3200" dirty="0">
                <a:latin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</a:rPr>
              <a:t>，称为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源操作数 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src</a:t>
            </a:r>
            <a:r>
              <a:rPr lang="zh-CN" altLang="en-US" sz="3200" dirty="0">
                <a:latin typeface="宋体" panose="02010600030101010101" pitchFamily="2" charset="-122"/>
              </a:rPr>
              <a:t>，它表示参与指令操作的一个对象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操作数</a:t>
            </a:r>
            <a:r>
              <a:rPr lang="en-US" altLang="zh-CN" sz="3200" dirty="0">
                <a:latin typeface="宋体" panose="02010600030101010101" pitchFamily="2" charset="-122"/>
              </a:rPr>
              <a:t>1</a:t>
            </a:r>
            <a:r>
              <a:rPr lang="zh-CN" altLang="en-US" sz="3200" dirty="0">
                <a:latin typeface="宋体" panose="02010600030101010101" pitchFamily="2" charset="-122"/>
              </a:rPr>
              <a:t>，称为</a:t>
            </a:r>
            <a:r>
              <a:rPr lang="zh-CN" altLang="en-US" sz="3200" dirty="0">
                <a:solidFill>
                  <a:schemeClr val="accent2"/>
                </a:solidFill>
                <a:latin typeface="宋体" panose="02010600030101010101" pitchFamily="2" charset="-122"/>
              </a:rPr>
              <a:t>目的操作数 </a:t>
            </a:r>
            <a:r>
              <a:rPr lang="en-US" altLang="zh-CN" sz="3200" dirty="0">
                <a:solidFill>
                  <a:schemeClr val="accent2"/>
                </a:solidFill>
                <a:latin typeface="宋体" panose="02010600030101010101" pitchFamily="2" charset="-122"/>
              </a:rPr>
              <a:t>dest</a:t>
            </a:r>
            <a:r>
              <a:rPr lang="zh-CN" altLang="en-US" sz="3200" dirty="0">
                <a:latin typeface="宋体" panose="02010600030101010101" pitchFamily="2" charset="-122"/>
              </a:rPr>
              <a:t>，它不仅可以作为指令操作的一个对象，还可以用来存放指令操作的结果</a:t>
            </a:r>
            <a:endParaRPr lang="zh-CN" altLang="en-US" sz="32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分号后的内容是对指令的解释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标题 14028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传送指令</a:t>
            </a:r>
            <a:r>
              <a:rPr lang="en-US" altLang="zh-CN" dirty="0"/>
              <a:t>MOV</a:t>
            </a:r>
            <a:r>
              <a:rPr lang="zh-CN" altLang="en-US" dirty="0"/>
              <a:t>的格式</a:t>
            </a:r>
            <a:endParaRPr lang="zh-CN" altLang="en-US" dirty="0"/>
          </a:p>
        </p:txBody>
      </p:sp>
      <p:sp>
        <p:nvSpPr>
          <p:cNvPr id="81923" name="文本占位符 14029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dest,src</a:t>
            </a: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dirty="0">
                <a:latin typeface="宋体" panose="02010600030101010101" pitchFamily="2" charset="-122"/>
              </a:rPr>
              <a:t>dest←src  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7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功能：将源操作数</a:t>
            </a:r>
            <a:r>
              <a:rPr lang="en-US" altLang="zh-CN" sz="2800" dirty="0">
                <a:latin typeface="宋体" panose="02010600030101010101" pitchFamily="2" charset="-122"/>
              </a:rPr>
              <a:t>src</a:t>
            </a:r>
            <a:r>
              <a:rPr lang="zh-CN" altLang="en-US" sz="2800" dirty="0">
                <a:latin typeface="宋体" panose="02010600030101010101" pitchFamily="2" charset="-122"/>
              </a:rPr>
              <a:t>传送至目的操作数</a:t>
            </a:r>
            <a:r>
              <a:rPr lang="en-US" altLang="zh-CN" sz="2800" dirty="0">
                <a:latin typeface="宋体" panose="02010600030101010101" pitchFamily="2" charset="-122"/>
              </a:rPr>
              <a:t>dest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MOV AL,05H	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 dirty="0">
                <a:latin typeface="宋体" panose="02010600030101010101" pitchFamily="2" charset="-122"/>
              </a:rPr>
              <a:t>AL←05H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MOV BX,AX	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 dirty="0">
                <a:latin typeface="宋体" panose="02010600030101010101" pitchFamily="2" charset="-122"/>
              </a:rPr>
              <a:t>BX←AX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MOV AX,[SI]	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 dirty="0">
                <a:latin typeface="宋体" panose="02010600030101010101" pitchFamily="2" charset="-122"/>
              </a:rPr>
              <a:t>AX←DS:[SI]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MOV AX,[BP+06H]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 dirty="0">
                <a:latin typeface="宋体" panose="02010600030101010101" pitchFamily="2" charset="-122"/>
              </a:rPr>
              <a:t>AX←SS:[BP+06H]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MOV AX,[BX+SI]	</a:t>
            </a:r>
            <a:r>
              <a:rPr lang="zh-CN" altLang="en-US" dirty="0">
                <a:latin typeface="宋体" panose="02010600030101010101" pitchFamily="2" charset="-122"/>
              </a:rPr>
              <a:t>；</a:t>
            </a:r>
            <a:r>
              <a:rPr lang="en-US" altLang="zh-CN" dirty="0">
                <a:latin typeface="宋体" panose="02010600030101010101" pitchFamily="2" charset="-122"/>
              </a:rPr>
              <a:t>AX←DS:[BX+SI]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标题 1413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传送指令</a:t>
            </a:r>
            <a:r>
              <a:rPr lang="en-US" altLang="zh-CN" dirty="0"/>
              <a:t>MOV</a:t>
            </a:r>
            <a:r>
              <a:rPr lang="zh-CN" altLang="en-US" dirty="0"/>
              <a:t>的功能</a:t>
            </a:r>
            <a:endParaRPr lang="zh-CN" altLang="en-US" dirty="0"/>
          </a:p>
        </p:txBody>
      </p:sp>
      <p:sp>
        <p:nvSpPr>
          <p:cNvPr id="141315" name="线形标注 1(带边框和强调线) 141314"/>
          <p:cNvSpPr/>
          <p:nvPr/>
        </p:nvSpPr>
        <p:spPr>
          <a:xfrm>
            <a:off x="5029200" y="4752975"/>
            <a:ext cx="2566988" cy="547688"/>
          </a:xfrm>
          <a:prstGeom prst="accentBorderCallout1">
            <a:avLst>
              <a:gd name="adj1" fmla="val 21491"/>
              <a:gd name="adj2" fmla="val -2968"/>
              <a:gd name="adj3" fmla="val 21491"/>
              <a:gd name="adj4" fmla="val -55412"/>
            </a:avLst>
          </a:prstGeom>
          <a:solidFill>
            <a:schemeClr val="accent1"/>
          </a:solidFill>
          <a:ln w="28575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源操作数 </a:t>
            </a:r>
            <a:r>
              <a:rPr lang="en-US" altLang="zh-CN" sz="2800" dirty="0">
                <a:latin typeface="Times New Roman" panose="02020603050405020304" pitchFamily="18" charset="0"/>
              </a:rPr>
              <a:t>src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41316" name="线形标注 1(带边框和强调线) 141315"/>
          <p:cNvSpPr/>
          <p:nvPr/>
        </p:nvSpPr>
        <p:spPr>
          <a:xfrm>
            <a:off x="5181600" y="2687638"/>
            <a:ext cx="3206750" cy="547687"/>
          </a:xfrm>
          <a:prstGeom prst="accentBorderCallout1">
            <a:avLst>
              <a:gd name="adj1" fmla="val 13213"/>
              <a:gd name="adj2" fmla="val -2375"/>
              <a:gd name="adj3" fmla="val 13213"/>
              <a:gd name="adj4" fmla="val -44556"/>
            </a:avLst>
          </a:prstGeom>
          <a:solidFill>
            <a:schemeClr val="accent1"/>
          </a:solidFill>
          <a:ln w="28575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目的操作数 </a:t>
            </a:r>
            <a:r>
              <a:rPr lang="en-US" altLang="zh-CN" sz="2800" dirty="0">
                <a:latin typeface="Times New Roman" panose="02020603050405020304" pitchFamily="18" charset="0"/>
              </a:rPr>
              <a:t>dest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82949" name="椭圆 141316"/>
          <p:cNvSpPr/>
          <p:nvPr/>
        </p:nvSpPr>
        <p:spPr>
          <a:xfrm>
            <a:off x="1447800" y="2216150"/>
            <a:ext cx="1981200" cy="1066800"/>
          </a:xfrm>
          <a:prstGeom prst="ellipse">
            <a:avLst/>
          </a:prstGeom>
          <a:solidFill>
            <a:schemeClr val="accent1"/>
          </a:solidFill>
          <a:ln w="12700" cap="sq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/>
          </a:p>
        </p:txBody>
      </p:sp>
      <p:sp>
        <p:nvSpPr>
          <p:cNvPr id="141318" name="文本框 141317"/>
          <p:cNvSpPr txBox="1"/>
          <p:nvPr/>
        </p:nvSpPr>
        <p:spPr>
          <a:xfrm>
            <a:off x="1905000" y="2476500"/>
            <a:ext cx="1143000" cy="579438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</a:rPr>
              <a:t>30H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82951" name="椭圆 141318"/>
          <p:cNvSpPr/>
          <p:nvPr/>
        </p:nvSpPr>
        <p:spPr>
          <a:xfrm>
            <a:off x="1447800" y="4311650"/>
            <a:ext cx="1981200" cy="1066800"/>
          </a:xfrm>
          <a:prstGeom prst="ellipse">
            <a:avLst/>
          </a:prstGeom>
          <a:solidFill>
            <a:schemeClr val="accent1"/>
          </a:solidFill>
          <a:ln w="12700" cap="sq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/>
          </a:p>
        </p:txBody>
      </p:sp>
      <p:sp>
        <p:nvSpPr>
          <p:cNvPr id="141320" name="文本框 141319"/>
          <p:cNvSpPr txBox="1"/>
          <p:nvPr/>
        </p:nvSpPr>
        <p:spPr>
          <a:xfrm>
            <a:off x="1905000" y="4572000"/>
            <a:ext cx="1143000" cy="579438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0000CC"/>
                </a:solidFill>
                <a:latin typeface="Times New Roman" panose="02020603050405020304" pitchFamily="18" charset="0"/>
              </a:rPr>
              <a:t>30H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141321" name="任意多边形 141320"/>
          <p:cNvSpPr/>
          <p:nvPr/>
        </p:nvSpPr>
        <p:spPr>
          <a:xfrm rot="-5400000" flipV="1">
            <a:off x="1676400" y="3505200"/>
            <a:ext cx="1524000" cy="4572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>
                <a:moveTo>
                  <a:pt x="17035" y="0"/>
                </a:moveTo>
                <a:lnTo>
                  <a:pt x="17035" y="7125"/>
                </a:lnTo>
                <a:lnTo>
                  <a:pt x="3375" y="7125"/>
                </a:lnTo>
                <a:lnTo>
                  <a:pt x="3375" y="14475"/>
                </a:lnTo>
                <a:lnTo>
                  <a:pt x="17035" y="14475"/>
                </a:lnTo>
                <a:lnTo>
                  <a:pt x="17035" y="21600"/>
                </a:lnTo>
                <a:lnTo>
                  <a:pt x="21600" y="10800"/>
                </a:lnTo>
                <a:lnTo>
                  <a:pt x="17035" y="0"/>
                </a:lnTo>
                <a:close/>
              </a:path>
              <a:path w="21600" h="21600">
                <a:moveTo>
                  <a:pt x="1350" y="7125"/>
                </a:moveTo>
                <a:lnTo>
                  <a:pt x="1350" y="14475"/>
                </a:lnTo>
                <a:lnTo>
                  <a:pt x="2700" y="14475"/>
                </a:lnTo>
                <a:lnTo>
                  <a:pt x="2700" y="7125"/>
                </a:lnTo>
                <a:lnTo>
                  <a:pt x="1350" y="7125"/>
                </a:lnTo>
                <a:close/>
              </a:path>
              <a:path w="21600" h="21600">
                <a:moveTo>
                  <a:pt x="0" y="7125"/>
                </a:moveTo>
                <a:lnTo>
                  <a:pt x="0" y="14475"/>
                </a:lnTo>
                <a:lnTo>
                  <a:pt x="675" y="14475"/>
                </a:lnTo>
                <a:lnTo>
                  <a:pt x="675" y="7125"/>
                </a:lnTo>
                <a:lnTo>
                  <a:pt x="0" y="7125"/>
                </a:lnTo>
                <a:close/>
              </a:path>
            </a:pathLst>
          </a:custGeom>
          <a:gradFill rotWithShape="0">
            <a:gsLst>
              <a:gs pos="0">
                <a:srgbClr val="339933">
                  <a:alpha val="100000"/>
                </a:srgbClr>
              </a:gs>
              <a:gs pos="100000">
                <a:schemeClr val="folHlink">
                  <a:alpha val="100000"/>
                </a:schemeClr>
              </a:gs>
            </a:gsLst>
            <a:lin ang="5400000" scaled="1"/>
            <a:tileRect/>
          </a:gradFill>
          <a:ln w="12700" cap="sq" cmpd="sng">
            <a:solidFill>
              <a:srgbClr val="0000CC">
                <a:alpha val="10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41322" name="线形标注 1(带强调线) 141321"/>
          <p:cNvSpPr/>
          <p:nvPr/>
        </p:nvSpPr>
        <p:spPr>
          <a:xfrm>
            <a:off x="4876800" y="3886200"/>
            <a:ext cx="3079750" cy="547688"/>
          </a:xfrm>
          <a:prstGeom prst="accentCallout1">
            <a:avLst>
              <a:gd name="adj1" fmla="val 11727"/>
              <a:gd name="adj2" fmla="val -2472"/>
              <a:gd name="adj3" fmla="val 153745"/>
              <a:gd name="adj4" fmla="val -61597"/>
            </a:avLst>
          </a:prstGeom>
          <a:solidFill>
            <a:schemeClr val="accent1"/>
          </a:solidFill>
          <a:ln w="28575" cap="sq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被传送的数据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7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0"/>
                            </p:stCondLst>
                            <p:childTnLst>
                              <p:par>
                                <p:cTn id="23" presetID="17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animBg="1"/>
      <p:bldP spid="141316" grpId="0" animBg="1"/>
      <p:bldP spid="141318" grpId="0" animBg="1"/>
      <p:bldP spid="141320" grpId="0" animBg="1"/>
      <p:bldP spid="14132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标题 14233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立即数寻址方式</a:t>
            </a:r>
            <a:endParaRPr lang="zh-CN" altLang="en-US" dirty="0"/>
          </a:p>
        </p:txBody>
      </p:sp>
      <p:sp>
        <p:nvSpPr>
          <p:cNvPr id="83971" name="文本占位符 14234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指令中的操作数直接存放在机器代码中，紧跟在操作码之后（操作数作为指令的一部分存放在操作码之后的主存单元中）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这种操作数被称为立即数</a:t>
            </a:r>
            <a:r>
              <a:rPr lang="en-US" altLang="zh-CN" sz="3200" dirty="0"/>
              <a:t>imm</a:t>
            </a:r>
            <a:endParaRPr lang="en-US" altLang="zh-CN" sz="3200" dirty="0"/>
          </a:p>
          <a:p>
            <a:pPr lvl="1" eaLnBrk="1" hangingPunct="1"/>
            <a:r>
              <a:rPr lang="zh-CN" altLang="en-US" sz="2800" dirty="0"/>
              <a:t>它可以是</a:t>
            </a:r>
            <a:r>
              <a:rPr lang="en-US" altLang="zh-CN" sz="2800" dirty="0"/>
              <a:t>8</a:t>
            </a:r>
            <a:r>
              <a:rPr lang="zh-CN" altLang="en-US" sz="2800" dirty="0"/>
              <a:t>位数值</a:t>
            </a:r>
            <a:r>
              <a:rPr lang="en-US" altLang="zh-CN" sz="2800" dirty="0"/>
              <a:t>i8</a:t>
            </a:r>
            <a:r>
              <a:rPr lang="zh-CN" altLang="en-US" sz="2800" dirty="0"/>
              <a:t>（</a:t>
            </a:r>
            <a:r>
              <a:rPr lang="en-US" altLang="zh-CN" sz="2800" dirty="0"/>
              <a:t>00H</a:t>
            </a:r>
            <a:r>
              <a:rPr lang="zh-CN" altLang="en-US" sz="2800" dirty="0"/>
              <a:t>～</a:t>
            </a:r>
            <a:r>
              <a:rPr lang="en-US" altLang="zh-CN" sz="2800" dirty="0"/>
              <a:t>FFH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lvl="1" eaLnBrk="1" hangingPunct="1"/>
            <a:r>
              <a:rPr lang="zh-CN" altLang="en-US" sz="2800" dirty="0"/>
              <a:t>也可以是</a:t>
            </a:r>
            <a:r>
              <a:rPr lang="en-US" altLang="zh-CN" sz="2800" dirty="0"/>
              <a:t>16</a:t>
            </a:r>
            <a:r>
              <a:rPr lang="zh-CN" altLang="en-US" sz="2800" dirty="0"/>
              <a:t>位数值</a:t>
            </a:r>
            <a:r>
              <a:rPr lang="en-US" altLang="zh-CN" sz="2800" dirty="0"/>
              <a:t>i16</a:t>
            </a:r>
            <a:r>
              <a:rPr lang="zh-CN" altLang="en-US" sz="2800" dirty="0"/>
              <a:t>（</a:t>
            </a:r>
            <a:r>
              <a:rPr lang="en-US" altLang="zh-CN" sz="2800" dirty="0"/>
              <a:t>0000H</a:t>
            </a:r>
            <a:r>
              <a:rPr lang="zh-CN" altLang="en-US" sz="2800" dirty="0"/>
              <a:t>～</a:t>
            </a:r>
            <a:r>
              <a:rPr lang="en-US" altLang="zh-CN" sz="2800" dirty="0"/>
              <a:t>FFFFH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/>
            <a:r>
              <a:rPr lang="zh-CN" altLang="en-US" sz="3200" dirty="0"/>
              <a:t>立即数寻址方式常用来给寄存器赋值</a:t>
            </a:r>
            <a:endParaRPr lang="zh-CN" altLang="en-US" sz="3200" dirty="0"/>
          </a:p>
          <a:p>
            <a:pPr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	</a:t>
            </a:r>
            <a:r>
              <a:rPr lang="en-US" altLang="zh-CN" dirty="0">
                <a:solidFill>
                  <a:schemeClr val="accent2"/>
                </a:solidFill>
              </a:rPr>
              <a:t>MOV AL,05H</a:t>
            </a:r>
            <a:r>
              <a:rPr lang="en-US" altLang="zh-CN" dirty="0"/>
              <a:t>		</a:t>
            </a:r>
            <a:r>
              <a:rPr lang="zh-CN" altLang="en-US" dirty="0"/>
              <a:t>；</a:t>
            </a:r>
            <a:r>
              <a:rPr lang="en-US" altLang="zh-CN" dirty="0"/>
              <a:t>AL←05H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	MOV AX,0102H</a:t>
            </a:r>
            <a:r>
              <a:rPr lang="en-US" altLang="zh-CN" dirty="0"/>
              <a:t>		</a:t>
            </a:r>
            <a:r>
              <a:rPr lang="zh-CN" altLang="en-US" dirty="0"/>
              <a:t>；</a:t>
            </a:r>
            <a:r>
              <a:rPr lang="en-US" altLang="zh-CN" dirty="0"/>
              <a:t>AX←0102H</a:t>
            </a:r>
            <a:endParaRPr lang="en-US" altLang="zh-CN" sz="3200" dirty="0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标题 21299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立即数寻址指令</a:t>
            </a:r>
            <a:endParaRPr lang="zh-CN" altLang="en-US" dirty="0"/>
          </a:p>
        </p:txBody>
      </p:sp>
      <p:sp>
        <p:nvSpPr>
          <p:cNvPr id="84995" name="文本占位符 212994"/>
          <p:cNvSpPr>
            <a:spLocks noGrp="1"/>
          </p:cNvSpPr>
          <p:nvPr>
            <p:ph idx="1"/>
          </p:nvPr>
        </p:nvSpPr>
        <p:spPr>
          <a:xfrm>
            <a:off x="900113" y="981075"/>
            <a:ext cx="7848600" cy="6477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MOV AX,0102H</a:t>
            </a:r>
            <a:r>
              <a:rPr lang="en-US" altLang="zh-CN" dirty="0"/>
              <a:t>		</a:t>
            </a:r>
            <a:r>
              <a:rPr lang="zh-CN" altLang="en-US" dirty="0"/>
              <a:t>；</a:t>
            </a:r>
            <a:r>
              <a:rPr lang="en-US" altLang="zh-CN" dirty="0"/>
              <a:t>AX←0102H</a:t>
            </a:r>
            <a:endParaRPr lang="en-US" altLang="zh-CN" sz="3200" dirty="0"/>
          </a:p>
        </p:txBody>
      </p:sp>
      <p:pic>
        <p:nvPicPr>
          <p:cNvPr id="84996" name="图片 212995" descr="hy01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8" y="1825625"/>
            <a:ext cx="8893175" cy="426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ver dir="d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标题 1443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寄存器寻址方式</a:t>
            </a:r>
            <a:endParaRPr lang="zh-CN" altLang="en-US" dirty="0"/>
          </a:p>
        </p:txBody>
      </p:sp>
      <p:sp>
        <p:nvSpPr>
          <p:cNvPr id="86019" name="文本占位符 14438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操作数存放在</a:t>
            </a:r>
            <a:r>
              <a:rPr lang="en-US" altLang="zh-CN" sz="3200" dirty="0"/>
              <a:t>CPU</a:t>
            </a:r>
            <a:r>
              <a:rPr lang="zh-CN" altLang="en-US" sz="3200" dirty="0"/>
              <a:t>的内部寄存器</a:t>
            </a:r>
            <a:r>
              <a:rPr lang="en-US" altLang="zh-CN" sz="3200" dirty="0"/>
              <a:t>reg</a:t>
            </a:r>
            <a:r>
              <a:rPr lang="zh-CN" altLang="en-US" sz="3200" dirty="0"/>
              <a:t>中：</a:t>
            </a:r>
            <a:endParaRPr lang="zh-CN" altLang="en-US" sz="3200" dirty="0"/>
          </a:p>
          <a:p>
            <a:pPr lvl="1" eaLnBrk="1" hangingPunct="1"/>
            <a:r>
              <a:rPr lang="en-US" altLang="zh-CN" sz="2800" dirty="0"/>
              <a:t>8</a:t>
            </a:r>
            <a:r>
              <a:rPr lang="zh-CN" altLang="en-US" sz="2800" dirty="0"/>
              <a:t>位寄存器</a:t>
            </a:r>
            <a:r>
              <a:rPr lang="en-US" altLang="zh-CN" sz="2800" dirty="0"/>
              <a:t>r8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AH</a:t>
            </a:r>
            <a:r>
              <a:rPr lang="zh-CN" altLang="en-US" sz="2800" dirty="0"/>
              <a:t>、</a:t>
            </a:r>
            <a:r>
              <a:rPr lang="en-US" altLang="zh-CN" sz="2800" dirty="0"/>
              <a:t>AL</a:t>
            </a:r>
            <a:r>
              <a:rPr lang="zh-CN" altLang="en-US" sz="2800" dirty="0"/>
              <a:t>、</a:t>
            </a:r>
            <a:r>
              <a:rPr lang="en-US" altLang="zh-CN" sz="2800" dirty="0"/>
              <a:t>BH</a:t>
            </a:r>
            <a:r>
              <a:rPr lang="zh-CN" altLang="en-US" sz="2800" dirty="0"/>
              <a:t>、</a:t>
            </a:r>
            <a:r>
              <a:rPr lang="en-US" altLang="zh-CN" sz="2800" dirty="0"/>
              <a:t>BL</a:t>
            </a:r>
            <a:r>
              <a:rPr lang="zh-CN" altLang="en-US" sz="2800" dirty="0"/>
              <a:t>、</a:t>
            </a:r>
            <a:r>
              <a:rPr lang="en-US" altLang="zh-CN" sz="2800" dirty="0"/>
              <a:t>CH</a:t>
            </a:r>
            <a:r>
              <a:rPr lang="zh-CN" altLang="en-US" sz="2800" dirty="0"/>
              <a:t>、</a:t>
            </a:r>
            <a:r>
              <a:rPr lang="en-US" altLang="zh-CN" sz="2800" dirty="0"/>
              <a:t>CL</a:t>
            </a:r>
            <a:r>
              <a:rPr lang="zh-CN" altLang="en-US" sz="2800" dirty="0"/>
              <a:t>、</a:t>
            </a:r>
            <a:r>
              <a:rPr lang="en-US" altLang="zh-CN" sz="2800" dirty="0"/>
              <a:t>DH</a:t>
            </a:r>
            <a:r>
              <a:rPr lang="zh-CN" altLang="en-US" sz="2800" dirty="0"/>
              <a:t>、</a:t>
            </a:r>
            <a:r>
              <a:rPr lang="en-US" altLang="zh-CN" sz="2800" dirty="0"/>
              <a:t>DL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16</a:t>
            </a:r>
            <a:r>
              <a:rPr lang="zh-CN" altLang="en-US" sz="2800" dirty="0"/>
              <a:t>位寄存器</a:t>
            </a:r>
            <a:r>
              <a:rPr lang="en-US" altLang="zh-CN" sz="2800" dirty="0"/>
              <a:t>r16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AX</a:t>
            </a:r>
            <a:r>
              <a:rPr lang="zh-CN" altLang="en-US" sz="2800" dirty="0"/>
              <a:t>、</a:t>
            </a:r>
            <a:r>
              <a:rPr lang="en-US" altLang="zh-CN" sz="2800" dirty="0"/>
              <a:t>BX</a:t>
            </a:r>
            <a:r>
              <a:rPr lang="zh-CN" altLang="en-US" sz="2800" dirty="0"/>
              <a:t>、</a:t>
            </a:r>
            <a:r>
              <a:rPr lang="en-US" altLang="zh-CN" sz="2800" dirty="0"/>
              <a:t>CX</a:t>
            </a:r>
            <a:r>
              <a:rPr lang="zh-CN" altLang="en-US" sz="2800" dirty="0"/>
              <a:t>、</a:t>
            </a:r>
            <a:r>
              <a:rPr lang="en-US" altLang="zh-CN" sz="2800" dirty="0"/>
              <a:t>DX</a:t>
            </a:r>
            <a:r>
              <a:rPr lang="zh-CN" altLang="en-US" sz="2800" dirty="0"/>
              <a:t>、</a:t>
            </a:r>
            <a:r>
              <a:rPr lang="en-US" altLang="zh-CN" sz="2800" dirty="0"/>
              <a:t>SI</a:t>
            </a:r>
            <a:r>
              <a:rPr lang="zh-CN" altLang="en-US" sz="2800" dirty="0"/>
              <a:t>、</a:t>
            </a:r>
            <a:r>
              <a:rPr lang="en-US" altLang="zh-CN" sz="2800" dirty="0"/>
              <a:t>DI</a:t>
            </a:r>
            <a:r>
              <a:rPr lang="zh-CN" altLang="en-US" sz="2800" dirty="0"/>
              <a:t>、</a:t>
            </a:r>
            <a:r>
              <a:rPr lang="en-US" altLang="zh-CN" sz="2800" dirty="0"/>
              <a:t>BP</a:t>
            </a:r>
            <a:r>
              <a:rPr lang="zh-CN" altLang="en-US" sz="2800" dirty="0"/>
              <a:t>、</a:t>
            </a:r>
            <a:r>
              <a:rPr lang="en-US" altLang="zh-CN" sz="2800" dirty="0"/>
              <a:t>SP</a:t>
            </a:r>
            <a:endParaRPr lang="en-US" altLang="zh-CN" sz="2800" dirty="0"/>
          </a:p>
          <a:p>
            <a:pPr lvl="1" eaLnBrk="1" hangingPunct="1"/>
            <a:r>
              <a:rPr lang="en-US" altLang="zh-CN" sz="2800" dirty="0"/>
              <a:t>4</a:t>
            </a:r>
            <a:r>
              <a:rPr lang="zh-CN" altLang="en-US" sz="2800" dirty="0"/>
              <a:t>个段寄存器</a:t>
            </a:r>
            <a:r>
              <a:rPr lang="en-US" altLang="zh-CN" sz="2800" dirty="0"/>
              <a:t>seg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CS</a:t>
            </a:r>
            <a:r>
              <a:rPr lang="zh-CN" altLang="en-US" sz="2800" dirty="0"/>
              <a:t>、</a:t>
            </a:r>
            <a:r>
              <a:rPr lang="en-US" altLang="zh-CN" sz="2800" dirty="0"/>
              <a:t>DS</a:t>
            </a:r>
            <a:r>
              <a:rPr lang="zh-CN" altLang="en-US" sz="2800" dirty="0"/>
              <a:t>、</a:t>
            </a:r>
            <a:r>
              <a:rPr lang="en-US" altLang="zh-CN" sz="2800" dirty="0"/>
              <a:t>SS</a:t>
            </a:r>
            <a:r>
              <a:rPr lang="zh-CN" altLang="en-US" sz="2800" dirty="0"/>
              <a:t>、</a:t>
            </a:r>
            <a:r>
              <a:rPr lang="en-US" altLang="zh-CN" sz="2800" dirty="0"/>
              <a:t>ES</a:t>
            </a:r>
            <a:endParaRPr lang="en-US" altLang="zh-CN" sz="2800" dirty="0"/>
          </a:p>
          <a:p>
            <a:pPr eaLnBrk="1" hangingPunct="1">
              <a:buNone/>
            </a:pPr>
            <a:endParaRPr lang="en-US" altLang="zh-CN" sz="3200" dirty="0"/>
          </a:p>
          <a:p>
            <a:pPr eaLnBrk="1" hangingPunct="1">
              <a:buNone/>
            </a:pPr>
            <a:r>
              <a:rPr lang="en-US" altLang="zh-CN" sz="3200" dirty="0"/>
              <a:t>	MOV </a:t>
            </a:r>
            <a:r>
              <a:rPr lang="en-US" altLang="zh-CN" sz="3200" dirty="0">
                <a:solidFill>
                  <a:schemeClr val="accent2"/>
                </a:solidFill>
              </a:rPr>
              <a:t>AX</a:t>
            </a:r>
            <a:r>
              <a:rPr lang="en-US" altLang="zh-CN" sz="3200" dirty="0"/>
              <a:t>,1234H	</a:t>
            </a:r>
            <a:r>
              <a:rPr lang="zh-CN" altLang="en-US" sz="3200" dirty="0"/>
              <a:t>；</a:t>
            </a:r>
            <a:r>
              <a:rPr lang="en-US" altLang="zh-CN" sz="3200" dirty="0"/>
              <a:t>AX←1234H</a:t>
            </a:r>
            <a:endParaRPr lang="en-US" altLang="zh-CN" sz="3200" dirty="0"/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accent2"/>
                </a:solidFill>
              </a:rPr>
              <a:t>	MOV BX,AX</a:t>
            </a:r>
            <a:r>
              <a:rPr lang="en-US" altLang="zh-CN" sz="3200" dirty="0"/>
              <a:t>		</a:t>
            </a:r>
            <a:r>
              <a:rPr lang="zh-CN" altLang="en-US" sz="3200" dirty="0"/>
              <a:t>；</a:t>
            </a:r>
            <a:r>
              <a:rPr lang="en-US" altLang="zh-CN" sz="3200" dirty="0"/>
              <a:t>BX←AX</a:t>
            </a:r>
            <a:endParaRPr lang="en-US" altLang="zh-CN" sz="3200" dirty="0"/>
          </a:p>
        </p:txBody>
      </p:sp>
    </p:spTree>
  </p:cSld>
  <p:clrMapOvr>
    <a:masterClrMapping/>
  </p:clrMapOvr>
  <p:transition>
    <p:cover dir="d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标题 1454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寄存器寻址指令</a:t>
            </a:r>
            <a:endParaRPr lang="zh-CN" altLang="en-US" dirty="0"/>
          </a:p>
        </p:txBody>
      </p:sp>
      <p:sp>
        <p:nvSpPr>
          <p:cNvPr id="87043" name="文本占位符 145410"/>
          <p:cNvSpPr>
            <a:spLocks noGrp="1"/>
          </p:cNvSpPr>
          <p:nvPr>
            <p:ph idx="1"/>
          </p:nvPr>
        </p:nvSpPr>
        <p:spPr>
          <a:xfrm>
            <a:off x="1163638" y="908050"/>
            <a:ext cx="7521575" cy="731838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MOV BX,AX</a:t>
            </a:r>
            <a:r>
              <a:rPr lang="en-US" altLang="zh-CN" dirty="0"/>
              <a:t>		</a:t>
            </a:r>
            <a:r>
              <a:rPr lang="zh-CN" altLang="en-US" dirty="0"/>
              <a:t>；</a:t>
            </a:r>
            <a:r>
              <a:rPr lang="en-US" altLang="zh-CN" dirty="0"/>
              <a:t>BX←AX</a:t>
            </a:r>
            <a:endParaRPr lang="en-US" altLang="zh-CN" dirty="0"/>
          </a:p>
        </p:txBody>
      </p:sp>
      <p:pic>
        <p:nvPicPr>
          <p:cNvPr id="87044" name="图片 145412" descr="hy01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1909763"/>
            <a:ext cx="7345362" cy="3319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ver dir="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标题 1464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存储器寻址方式</a:t>
            </a:r>
            <a:endParaRPr lang="zh-CN" altLang="en-US" dirty="0"/>
          </a:p>
        </p:txBody>
      </p:sp>
      <p:sp>
        <p:nvSpPr>
          <p:cNvPr id="88067" name="文本占位符 1464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指令中给出操作数的主存地址信息（偏移地址，称之为有效地址</a:t>
            </a:r>
            <a:r>
              <a:rPr lang="en-US" altLang="zh-CN" sz="3200" dirty="0"/>
              <a:t>EA</a:t>
            </a:r>
            <a:r>
              <a:rPr lang="zh-CN" altLang="en-US" sz="3200" dirty="0"/>
              <a:t>），而段地址在默认的或用段超越前缀指定的段寄存器中</a:t>
            </a:r>
            <a:endParaRPr lang="zh-CN" altLang="en-US" sz="3200" dirty="0"/>
          </a:p>
          <a:p>
            <a:pPr eaLnBrk="1" hangingPunct="1"/>
            <a:r>
              <a:rPr lang="en-US" altLang="zh-CN" sz="3200" dirty="0"/>
              <a:t>8086</a:t>
            </a:r>
            <a:r>
              <a:rPr lang="zh-CN" altLang="en-US" sz="3200" dirty="0"/>
              <a:t>设计了多种存储器寻址方式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直接寻址方式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寄存器间接寻址方式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寄存器相对寻址方式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基址变址寻址方式</a:t>
            </a:r>
            <a:endParaRPr lang="zh-CN" altLang="en-US" sz="2800" dirty="0"/>
          </a:p>
          <a:p>
            <a:pPr lvl="1" eaLnBrk="1" hangingPunct="1">
              <a:buNone/>
            </a:pPr>
            <a:r>
              <a:rPr lang="en-US" altLang="zh-CN" sz="2800" dirty="0"/>
              <a:t>5. </a:t>
            </a:r>
            <a:r>
              <a:rPr lang="zh-CN" altLang="en-US" sz="2800" dirty="0"/>
              <a:t>相对基址变址寻址方式</a:t>
            </a:r>
            <a:endParaRPr lang="zh-CN" altLang="en-US" sz="2800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标题 14745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直接寻址方式</a:t>
            </a:r>
            <a:endParaRPr lang="zh-CN" altLang="en-US" dirty="0"/>
          </a:p>
        </p:txBody>
      </p:sp>
      <p:sp>
        <p:nvSpPr>
          <p:cNvPr id="89091" name="文本占位符 147458"/>
          <p:cNvSpPr>
            <a:spLocks noGrp="1"/>
          </p:cNvSpPr>
          <p:nvPr>
            <p:ph idx="1"/>
          </p:nvPr>
        </p:nvSpPr>
        <p:spPr>
          <a:xfrm>
            <a:off x="395288" y="981075"/>
            <a:ext cx="6802437" cy="5472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有效地址在指令中直接给出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默认的段地址在</a:t>
            </a:r>
            <a:r>
              <a:rPr lang="en-US" altLang="zh-CN" sz="3200" dirty="0"/>
              <a:t>DS</a:t>
            </a:r>
            <a:r>
              <a:rPr lang="zh-CN" altLang="en-US" sz="3200" dirty="0"/>
              <a:t>段寄存器，可使用段超越前缀改变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AX,[2000H]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zh-CN" altLang="en-US" sz="2800" dirty="0"/>
              <a:t>；</a:t>
            </a:r>
            <a:r>
              <a:rPr lang="en-US" altLang="zh-CN" sz="2800" dirty="0"/>
              <a:t>AX←DS:[2000H]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zh-CN" altLang="en-US" sz="2800" dirty="0"/>
              <a:t>；指令代码：</a:t>
            </a:r>
            <a:r>
              <a:rPr lang="en-US" altLang="zh-CN" sz="2800" dirty="0"/>
              <a:t>A1 00 20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AX,ES:[2000H]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zh-CN" altLang="en-US" sz="2800" dirty="0"/>
              <a:t>；</a:t>
            </a:r>
            <a:r>
              <a:rPr lang="en-US" altLang="zh-CN" sz="2800" dirty="0"/>
              <a:t>AX←ES:[2000H]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zh-CN" altLang="en-US" sz="2800" dirty="0"/>
              <a:t>；指令代码：</a:t>
            </a:r>
            <a:r>
              <a:rPr lang="en-US" altLang="zh-CN" sz="2800" dirty="0"/>
              <a:t>26 A1 00 20</a:t>
            </a:r>
            <a:endParaRPr lang="en-US" altLang="zh-CN" sz="2800" dirty="0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标题 2140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直接寻址指令</a:t>
            </a:r>
            <a:endParaRPr lang="zh-CN" altLang="en-US" dirty="0"/>
          </a:p>
        </p:txBody>
      </p:sp>
      <p:sp>
        <p:nvSpPr>
          <p:cNvPr id="90115" name="文本占位符 214018"/>
          <p:cNvSpPr>
            <a:spLocks noGrp="1"/>
          </p:cNvSpPr>
          <p:nvPr>
            <p:ph idx="1"/>
          </p:nvPr>
        </p:nvSpPr>
        <p:spPr>
          <a:xfrm>
            <a:off x="395288" y="981075"/>
            <a:ext cx="8424862" cy="6477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</a:rPr>
              <a:t>MOV AX,[2000H]      </a:t>
            </a:r>
            <a:r>
              <a:rPr lang="zh-CN" altLang="en-US" dirty="0"/>
              <a:t>；</a:t>
            </a:r>
            <a:r>
              <a:rPr lang="en-US" altLang="zh-CN" dirty="0"/>
              <a:t>AX←DS:[2000H]</a:t>
            </a:r>
            <a:endParaRPr lang="en-US" altLang="zh-CN" dirty="0"/>
          </a:p>
        </p:txBody>
      </p:sp>
      <p:pic>
        <p:nvPicPr>
          <p:cNvPr id="90116" name="图片 214020" descr="hy01_12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484313"/>
            <a:ext cx="9144000" cy="5337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ver dir="d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标题 1484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寄存器间接寻址方式</a:t>
            </a:r>
            <a:endParaRPr lang="zh-CN" altLang="en-US" dirty="0"/>
          </a:p>
        </p:txBody>
      </p:sp>
      <p:sp>
        <p:nvSpPr>
          <p:cNvPr id="91139" name="文本占位符 148482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8846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有效地址存放在基址寄存器</a:t>
            </a:r>
            <a:r>
              <a:rPr lang="en-US" altLang="zh-CN" dirty="0"/>
              <a:t>BX</a:t>
            </a:r>
            <a:r>
              <a:rPr lang="zh-CN" altLang="en-US" dirty="0"/>
              <a:t>或变址寄存器</a:t>
            </a:r>
            <a:r>
              <a:rPr lang="en-US" altLang="zh-CN" dirty="0"/>
              <a:t>SI</a:t>
            </a:r>
            <a:r>
              <a:rPr lang="zh-CN" altLang="en-US" dirty="0"/>
              <a:t>、</a:t>
            </a:r>
            <a:r>
              <a:rPr lang="en-US" altLang="zh-CN" dirty="0"/>
              <a:t>DI</a:t>
            </a:r>
            <a:r>
              <a:rPr lang="zh-CN" altLang="en-US" dirty="0"/>
              <a:t>中</a:t>
            </a:r>
            <a:endParaRPr lang="zh-CN" altLang="en-US" dirty="0"/>
          </a:p>
          <a:p>
            <a:pPr eaLnBrk="1" hangingPunct="1"/>
            <a:r>
              <a:rPr lang="zh-CN" altLang="en-US" dirty="0"/>
              <a:t>默认的段地址在</a:t>
            </a:r>
            <a:r>
              <a:rPr lang="en-US" altLang="zh-CN" dirty="0"/>
              <a:t>DS</a:t>
            </a:r>
            <a:r>
              <a:rPr lang="zh-CN" altLang="en-US" dirty="0"/>
              <a:t>段寄存器，可使用段超越前缀改变</a:t>
            </a:r>
            <a:endParaRPr lang="zh-CN" altLang="en-US" dirty="0"/>
          </a:p>
          <a:p>
            <a:pPr lvl="1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chemeClr val="accent2"/>
                </a:solidFill>
              </a:rPr>
              <a:t>MOV AX,[SI]</a:t>
            </a:r>
            <a:r>
              <a:rPr lang="en-US" altLang="zh-CN" dirty="0"/>
              <a:t>	</a:t>
            </a:r>
            <a:r>
              <a:rPr lang="zh-CN" altLang="en-US" dirty="0"/>
              <a:t>；</a:t>
            </a:r>
            <a:r>
              <a:rPr lang="en-US" altLang="zh-CN" dirty="0"/>
              <a:t>AX←DS:[SI]</a:t>
            </a:r>
            <a:endParaRPr lang="en-US" altLang="zh-CN" dirty="0"/>
          </a:p>
        </p:txBody>
      </p:sp>
    </p:spTree>
  </p:cSld>
  <p:clrMapOvr>
    <a:masterClrMapping/>
  </p:clrMapOvr>
  <p:transition>
    <p:cover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标题 14950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寄存器相对寻址方式</a:t>
            </a:r>
            <a:endParaRPr lang="zh-CN" altLang="en-US" dirty="0"/>
          </a:p>
        </p:txBody>
      </p:sp>
      <p:sp>
        <p:nvSpPr>
          <p:cNvPr id="92163" name="文本占位符 14950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有效地址是寄存器内容与有符号</a:t>
            </a:r>
            <a:r>
              <a:rPr lang="en-US" altLang="zh-CN" sz="3200" dirty="0"/>
              <a:t>8</a:t>
            </a:r>
            <a:r>
              <a:rPr lang="zh-CN" altLang="en-US" sz="3200" dirty="0"/>
              <a:t>位或</a:t>
            </a:r>
            <a:r>
              <a:rPr lang="en-US" altLang="zh-CN" sz="3200" dirty="0"/>
              <a:t>16</a:t>
            </a:r>
            <a:r>
              <a:rPr lang="zh-CN" altLang="en-US" sz="3200" dirty="0"/>
              <a:t>位位移量之和，寄存器可以是</a:t>
            </a:r>
            <a:r>
              <a:rPr lang="en-US" altLang="zh-CN" sz="3200" dirty="0"/>
              <a:t>BX/BP</a:t>
            </a:r>
            <a:r>
              <a:rPr lang="zh-CN" altLang="en-US" sz="3200" dirty="0"/>
              <a:t>或</a:t>
            </a:r>
            <a:r>
              <a:rPr lang="en-US" altLang="zh-CN" sz="3200" dirty="0"/>
              <a:t>SI/DI</a:t>
            </a:r>
            <a:endParaRPr lang="en-US" altLang="zh-CN" sz="32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有效地址＝</a:t>
            </a:r>
            <a:r>
              <a:rPr lang="en-US" altLang="zh-CN" sz="2800" dirty="0">
                <a:solidFill>
                  <a:schemeClr val="accent2"/>
                </a:solidFill>
              </a:rPr>
              <a:t>BX/BP/SI/DI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8/16</a:t>
            </a:r>
            <a:r>
              <a:rPr lang="zh-CN" altLang="en-US" sz="2800" dirty="0">
                <a:solidFill>
                  <a:schemeClr val="accent2"/>
                </a:solidFill>
              </a:rPr>
              <a:t>位位移量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3200" dirty="0"/>
              <a:t>段地址对应</a:t>
            </a:r>
            <a:r>
              <a:rPr lang="en-US" altLang="zh-CN" sz="3200" dirty="0"/>
              <a:t>BX/SI/DI</a:t>
            </a:r>
            <a:r>
              <a:rPr lang="zh-CN" altLang="en-US" sz="3200" dirty="0"/>
              <a:t>寄存器默认在</a:t>
            </a:r>
            <a:r>
              <a:rPr lang="en-US" altLang="zh-CN" sz="3200" dirty="0"/>
              <a:t>DS</a:t>
            </a:r>
            <a:r>
              <a:rPr lang="zh-CN" altLang="en-US" sz="3200" dirty="0"/>
              <a:t>，对应</a:t>
            </a:r>
            <a:r>
              <a:rPr lang="en-US" altLang="zh-CN" sz="3200" dirty="0"/>
              <a:t>BP</a:t>
            </a:r>
            <a:r>
              <a:rPr lang="zh-CN" altLang="en-US" sz="3200" dirty="0"/>
              <a:t>寄存器默认在</a:t>
            </a:r>
            <a:r>
              <a:rPr lang="en-US" altLang="zh-CN" sz="3200" dirty="0"/>
              <a:t>SS</a:t>
            </a:r>
            <a:r>
              <a:rPr lang="zh-CN" altLang="en-US" sz="3200" dirty="0"/>
              <a:t>；</a:t>
            </a:r>
            <a:endParaRPr lang="zh-CN" altLang="en-US" sz="3200" dirty="0"/>
          </a:p>
          <a:p>
            <a:pPr eaLnBrk="1" hangingPunct="1"/>
            <a:r>
              <a:rPr lang="zh-CN" altLang="en-US" sz="3200" dirty="0"/>
              <a:t>可用段超越前缀</a:t>
            </a:r>
            <a:endParaRPr lang="zh-CN" altLang="en-US" sz="3200" dirty="0"/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accent2"/>
                </a:solidFill>
              </a:rPr>
              <a:t>MOV AX,[DI+06H]       </a:t>
            </a:r>
            <a:r>
              <a:rPr lang="zh-CN" altLang="en-US" sz="3200" dirty="0"/>
              <a:t>；</a:t>
            </a:r>
            <a:r>
              <a:rPr lang="en-US" altLang="zh-CN" sz="3200" dirty="0"/>
              <a:t>AX←DS:[DI+06H]</a:t>
            </a:r>
            <a:endParaRPr lang="en-US" altLang="zh-CN" sz="3200" dirty="0"/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</a:rPr>
              <a:t>MOV AX,[BP+06H]     </a:t>
            </a:r>
            <a:r>
              <a:rPr lang="zh-CN" altLang="en-US" sz="3200" dirty="0"/>
              <a:t>；</a:t>
            </a:r>
            <a:r>
              <a:rPr lang="en-US" altLang="zh-CN" sz="3200" dirty="0"/>
              <a:t>AX←SS:[BP+06H]</a:t>
            </a:r>
            <a:endParaRPr lang="en-US" altLang="zh-CN" sz="3200" dirty="0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标题 1515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基址变址寻址方式</a:t>
            </a:r>
            <a:endParaRPr lang="zh-CN" altLang="en-US" dirty="0"/>
          </a:p>
        </p:txBody>
      </p:sp>
      <p:sp>
        <p:nvSpPr>
          <p:cNvPr id="93187" name="文本占位符 15155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有效地址由基址寄存器（</a:t>
            </a:r>
            <a:r>
              <a:rPr lang="en-US" altLang="zh-CN" sz="3200" dirty="0"/>
              <a:t>BX</a:t>
            </a:r>
            <a:r>
              <a:rPr lang="zh-CN" altLang="en-US" sz="3200" dirty="0"/>
              <a:t>或</a:t>
            </a:r>
            <a:r>
              <a:rPr lang="en-US" altLang="zh-CN" sz="3200" dirty="0"/>
              <a:t>BP</a:t>
            </a:r>
            <a:r>
              <a:rPr lang="zh-CN" altLang="en-US" sz="3200" dirty="0"/>
              <a:t>）的内容加上变址寄存器（</a:t>
            </a:r>
            <a:r>
              <a:rPr lang="en-US" altLang="zh-CN" sz="3200" dirty="0"/>
              <a:t>SI</a:t>
            </a:r>
            <a:r>
              <a:rPr lang="zh-CN" altLang="en-US" sz="3200" dirty="0"/>
              <a:t>或</a:t>
            </a:r>
            <a:r>
              <a:rPr lang="en-US" altLang="zh-CN" sz="3200" dirty="0"/>
              <a:t>DI</a:t>
            </a:r>
            <a:r>
              <a:rPr lang="zh-CN" altLang="en-US" sz="3200" dirty="0"/>
              <a:t>）的内容构成：</a:t>
            </a:r>
            <a:endParaRPr lang="zh-CN" altLang="en-US" sz="3200" dirty="0"/>
          </a:p>
          <a:p>
            <a:pPr lvl="1" eaLnBrk="1" hangingPunct="1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有效地址＝</a:t>
            </a:r>
            <a:r>
              <a:rPr lang="en-US" altLang="zh-CN" sz="2800" dirty="0">
                <a:solidFill>
                  <a:schemeClr val="accent2"/>
                </a:solidFill>
              </a:rPr>
              <a:t>BX/BP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SI/DI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3200" dirty="0"/>
              <a:t>段地址对应</a:t>
            </a:r>
            <a:r>
              <a:rPr lang="en-US" altLang="zh-CN" sz="3200" dirty="0"/>
              <a:t>BX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DS</a:t>
            </a:r>
            <a:r>
              <a:rPr lang="zh-CN" altLang="en-US" sz="3200" dirty="0"/>
              <a:t>，对应</a:t>
            </a:r>
            <a:r>
              <a:rPr lang="en-US" altLang="zh-CN" sz="3200" dirty="0"/>
              <a:t>BP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SS</a:t>
            </a:r>
            <a:r>
              <a:rPr lang="zh-CN" altLang="en-US" sz="3200" dirty="0"/>
              <a:t>；可用段超越前缀</a:t>
            </a:r>
            <a:endParaRPr lang="zh-CN" altLang="en-US" sz="3200" dirty="0"/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	</a:t>
            </a:r>
            <a:r>
              <a:rPr lang="en-US" altLang="zh-CN" sz="2800" dirty="0">
                <a:solidFill>
                  <a:schemeClr val="accent2"/>
                </a:solidFill>
              </a:rPr>
              <a:t>MOV AX,[BX+SI]              </a:t>
            </a:r>
            <a:r>
              <a:rPr lang="zh-CN" altLang="en-US" sz="2800" dirty="0"/>
              <a:t>；</a:t>
            </a:r>
            <a:r>
              <a:rPr lang="en-US" altLang="zh-CN" sz="2800" dirty="0"/>
              <a:t>AX←DS:[BX+SI]</a:t>
            </a:r>
            <a:endParaRPr lang="en-US" altLang="zh-CN" sz="2800" dirty="0"/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	MOV AX,[BP+DI]              </a:t>
            </a:r>
            <a:r>
              <a:rPr lang="zh-CN" altLang="en-US" sz="2800" dirty="0"/>
              <a:t>；</a:t>
            </a:r>
            <a:r>
              <a:rPr lang="en-US" altLang="zh-CN" sz="2800" dirty="0"/>
              <a:t>AX←SS:[BP+DI]</a:t>
            </a:r>
            <a:endParaRPr lang="en-US" altLang="zh-CN" sz="2800" dirty="0"/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	MOV AX,DS:[BP+DI]</a:t>
            </a:r>
            <a:r>
              <a:rPr lang="en-US" altLang="zh-CN" sz="2800" dirty="0"/>
              <a:t>        </a:t>
            </a:r>
            <a:r>
              <a:rPr lang="zh-CN" altLang="en-US" sz="2800" dirty="0"/>
              <a:t>；</a:t>
            </a:r>
            <a:r>
              <a:rPr lang="en-US" altLang="zh-CN" sz="2800" dirty="0"/>
              <a:t>AX←DS:[BP+DI]</a:t>
            </a:r>
            <a:endParaRPr lang="en-US" altLang="zh-CN" sz="2800" dirty="0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标题 15360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相对基址变址寻址方式</a:t>
            </a:r>
            <a:endParaRPr lang="zh-CN" altLang="en-US" dirty="0"/>
          </a:p>
        </p:txBody>
      </p:sp>
      <p:sp>
        <p:nvSpPr>
          <p:cNvPr id="94211" name="文本占位符 15360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有效地址是基址寄存器</a:t>
            </a:r>
            <a:r>
              <a:rPr lang="en-US" altLang="zh-CN" sz="3200" dirty="0"/>
              <a:t>(BX/BP)</a:t>
            </a:r>
            <a:r>
              <a:rPr lang="zh-CN" altLang="en-US" sz="3200" dirty="0"/>
              <a:t>、变址寄存器</a:t>
            </a:r>
            <a:r>
              <a:rPr lang="en-US" altLang="zh-CN" sz="3200" dirty="0"/>
              <a:t>(SI/DI)</a:t>
            </a:r>
            <a:r>
              <a:rPr lang="zh-CN" altLang="en-US" sz="3200" dirty="0"/>
              <a:t>与一个</a:t>
            </a:r>
            <a:r>
              <a:rPr lang="en-US" altLang="zh-CN" sz="3200" dirty="0"/>
              <a:t>8</a:t>
            </a:r>
            <a:r>
              <a:rPr lang="zh-CN" altLang="en-US" sz="3200" dirty="0"/>
              <a:t>位或</a:t>
            </a:r>
            <a:r>
              <a:rPr lang="en-US" altLang="zh-CN" sz="3200" dirty="0"/>
              <a:t>16</a:t>
            </a:r>
            <a:r>
              <a:rPr lang="zh-CN" altLang="en-US" sz="3200" dirty="0"/>
              <a:t>位位移量之和：</a:t>
            </a:r>
            <a:endParaRPr lang="zh-CN" altLang="en-US" sz="32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有效地址＝</a:t>
            </a:r>
            <a:r>
              <a:rPr lang="en-US" altLang="zh-CN" sz="2800" dirty="0">
                <a:solidFill>
                  <a:schemeClr val="accent2"/>
                </a:solidFill>
              </a:rPr>
              <a:t>BX/BP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SI/DI</a:t>
            </a:r>
            <a:r>
              <a:rPr lang="zh-CN" altLang="en-US" sz="2800" dirty="0">
                <a:solidFill>
                  <a:schemeClr val="accent2"/>
                </a:solidFill>
              </a:rPr>
              <a:t>＋</a:t>
            </a:r>
            <a:r>
              <a:rPr lang="en-US" altLang="zh-CN" sz="2800" dirty="0">
                <a:solidFill>
                  <a:schemeClr val="accent2"/>
                </a:solidFill>
              </a:rPr>
              <a:t>8/16</a:t>
            </a:r>
            <a:r>
              <a:rPr lang="zh-CN" altLang="en-US" sz="2800" dirty="0">
                <a:solidFill>
                  <a:schemeClr val="accent2"/>
                </a:solidFill>
              </a:rPr>
              <a:t>位位移量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3200" dirty="0"/>
              <a:t>段地址对应</a:t>
            </a:r>
            <a:r>
              <a:rPr lang="en-US" altLang="zh-CN" sz="3200" dirty="0"/>
              <a:t>BX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DS</a:t>
            </a:r>
            <a:r>
              <a:rPr lang="zh-CN" altLang="en-US" sz="3200" dirty="0"/>
              <a:t>，对应</a:t>
            </a:r>
            <a:r>
              <a:rPr lang="en-US" altLang="zh-CN" sz="3200" dirty="0"/>
              <a:t>BP</a:t>
            </a:r>
            <a:r>
              <a:rPr lang="zh-CN" altLang="en-US" sz="3200" dirty="0"/>
              <a:t>基址寄存器默认是</a:t>
            </a:r>
            <a:r>
              <a:rPr lang="en-US" altLang="zh-CN" sz="3200" dirty="0"/>
              <a:t>SS</a:t>
            </a:r>
            <a:r>
              <a:rPr lang="zh-CN" altLang="en-US" sz="3200" dirty="0"/>
              <a:t>；可用段超越前缀</a:t>
            </a:r>
            <a:endParaRPr lang="zh-CN" altLang="en-US" sz="3200" dirty="0"/>
          </a:p>
          <a:p>
            <a:pPr eaLnBrk="1" hangingPunct="1">
              <a:buNone/>
            </a:pPr>
            <a:r>
              <a:rPr lang="zh-CN" altLang="en-US" sz="3200" dirty="0">
                <a:solidFill>
                  <a:schemeClr val="accent2"/>
                </a:solidFill>
              </a:rPr>
              <a:t>	</a:t>
            </a:r>
            <a:r>
              <a:rPr lang="en-US" altLang="zh-CN" sz="3200" dirty="0">
                <a:solidFill>
                  <a:schemeClr val="accent2"/>
                </a:solidFill>
              </a:rPr>
              <a:t>MOV AX,[BX+SI+06H]</a:t>
            </a:r>
            <a:endParaRPr lang="en-US" altLang="zh-CN" sz="32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en-US" altLang="zh-CN" sz="3200" dirty="0"/>
              <a:t>	</a:t>
            </a:r>
            <a:r>
              <a:rPr lang="zh-CN" altLang="en-US" sz="3200" dirty="0"/>
              <a:t>；</a:t>
            </a:r>
            <a:r>
              <a:rPr lang="en-US" altLang="zh-CN" sz="3200" dirty="0"/>
              <a:t>AX←DS:[BX+SI+06H]</a:t>
            </a:r>
            <a:endParaRPr lang="en-US" altLang="zh-CN" sz="3200" dirty="0"/>
          </a:p>
        </p:txBody>
      </p:sp>
      <p:sp>
        <p:nvSpPr>
          <p:cNvPr id="153605" name="圆角矩形 153604" descr="画布"/>
          <p:cNvSpPr/>
          <p:nvPr/>
        </p:nvSpPr>
        <p:spPr>
          <a:xfrm>
            <a:off x="1260475" y="5300663"/>
            <a:ext cx="5472113" cy="10795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952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just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Tx/>
              <a:buSzTx/>
              <a:buFontTx/>
              <a:buBlip>
                <a:blip r:embed="rId2"/>
              </a:buBlip>
            </a:pPr>
            <a:r>
              <a:rPr lang="en-US" altLang="zh-CN" sz="2800" dirty="0">
                <a:solidFill>
                  <a:schemeClr val="accent2"/>
                </a:solidFill>
              </a:rPr>
              <a:t>  </a:t>
            </a:r>
            <a:r>
              <a:rPr lang="zh-CN" altLang="en-US" sz="2800" dirty="0"/>
              <a:t>位移量可用符号表示</a:t>
            </a:r>
            <a:endParaRPr lang="zh-CN" altLang="en-US" sz="2800" dirty="0"/>
          </a:p>
          <a:p>
            <a:pPr marL="0" lvl="0" indent="0" eaLnBrk="1" hangingPunct="1">
              <a:buClrTx/>
              <a:buSzTx/>
              <a:buFontTx/>
              <a:buBlip>
                <a:blip r:embed="rId2"/>
              </a:buBlip>
            </a:pPr>
            <a:r>
              <a:rPr lang="zh-CN" altLang="en-US" sz="2800" dirty="0"/>
              <a:t>  同一寻址方式有多种表达形式</a:t>
            </a:r>
            <a:endParaRPr lang="zh-CN" altLang="en-US" sz="2800" dirty="0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标题 15564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寻址方式的多种表示方式</a:t>
            </a:r>
            <a:endParaRPr lang="zh-CN" altLang="en-US" dirty="0"/>
          </a:p>
        </p:txBody>
      </p:sp>
      <p:sp>
        <p:nvSpPr>
          <p:cNvPr id="95235" name="文本占位符 15565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/>
              <a:t>位移量可用符号表示：</a:t>
            </a:r>
            <a:endParaRPr lang="zh-CN" altLang="en-US" sz="3200" dirty="0"/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AX,[SI+</a:t>
            </a:r>
            <a:r>
              <a:rPr lang="en-US" altLang="zh-CN" sz="2800" dirty="0">
                <a:solidFill>
                  <a:schemeClr val="tx2"/>
                </a:solidFill>
              </a:rPr>
              <a:t>COUNT</a:t>
            </a:r>
            <a:r>
              <a:rPr lang="en-US" altLang="zh-CN" sz="2800" dirty="0">
                <a:solidFill>
                  <a:schemeClr val="accent2"/>
                </a:solidFill>
              </a:rPr>
              <a:t>]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zh-CN" altLang="en-US" sz="2800" dirty="0"/>
              <a:t>；</a:t>
            </a:r>
            <a:r>
              <a:rPr lang="en-US" altLang="zh-CN" sz="2800" dirty="0"/>
              <a:t>COUNT</a:t>
            </a:r>
            <a:r>
              <a:rPr lang="zh-CN" altLang="en-US" sz="2800" dirty="0"/>
              <a:t>是事先定义的变量或常量（就是数值）</a:t>
            </a:r>
            <a:endParaRPr lang="zh-CN" altLang="en-US" sz="2800" dirty="0"/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AX,[BX+SI+</a:t>
            </a:r>
            <a:r>
              <a:rPr lang="en-US" altLang="zh-CN" sz="2800" dirty="0">
                <a:solidFill>
                  <a:schemeClr val="tx2"/>
                </a:solidFill>
              </a:rPr>
              <a:t>WNUM</a:t>
            </a:r>
            <a:r>
              <a:rPr lang="en-US" altLang="zh-CN" sz="2800" dirty="0">
                <a:solidFill>
                  <a:schemeClr val="accent2"/>
                </a:solidFill>
              </a:rPr>
              <a:t>]   </a:t>
            </a:r>
            <a:r>
              <a:rPr lang="zh-CN" altLang="en-US" sz="2800" dirty="0"/>
              <a:t>；</a:t>
            </a:r>
            <a:r>
              <a:rPr lang="en-US" altLang="zh-CN" sz="2800" dirty="0"/>
              <a:t>WNUM</a:t>
            </a:r>
            <a:r>
              <a:rPr lang="zh-CN" altLang="en-US" sz="2800" dirty="0"/>
              <a:t>是变量或常量</a:t>
            </a:r>
            <a:endParaRPr lang="zh-CN" altLang="en-US" sz="2800" dirty="0"/>
          </a:p>
          <a:p>
            <a:pPr eaLnBrk="1" hangingPunct="1"/>
            <a:r>
              <a:rPr lang="zh-CN" altLang="en-US" sz="3200" dirty="0"/>
              <a:t>同一寻址方式可以写成不同的形式：</a:t>
            </a:r>
            <a:endParaRPr lang="zh-CN" altLang="en-US" sz="3200" dirty="0"/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AX,[BX][SI]          </a:t>
            </a:r>
            <a:r>
              <a:rPr lang="zh-CN" altLang="en-US" sz="2800" dirty="0"/>
              <a:t>；</a:t>
            </a:r>
            <a:r>
              <a:rPr lang="en-US" altLang="zh-CN" sz="2800" dirty="0">
                <a:solidFill>
                  <a:schemeClr val="tx2"/>
                </a:solidFill>
              </a:rPr>
              <a:t>MOV AX,[BX+SI]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AX,COUNT[SI]</a:t>
            </a:r>
            <a:r>
              <a:rPr lang="en-US" altLang="zh-CN" sz="2800" dirty="0"/>
              <a:t>     </a:t>
            </a:r>
            <a:r>
              <a:rPr lang="zh-CN" altLang="en-US" sz="2800" dirty="0"/>
              <a:t>；</a:t>
            </a:r>
            <a:r>
              <a:rPr lang="en-US" altLang="zh-CN" sz="2800" dirty="0">
                <a:solidFill>
                  <a:schemeClr val="tx2"/>
                </a:solidFill>
              </a:rPr>
              <a:t>MOV AX,[SI+COUNT]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MOV AX,WNUM[BX][SI]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；等同于  </a:t>
            </a:r>
            <a:r>
              <a:rPr lang="en-US" altLang="zh-CN" sz="2800" dirty="0">
                <a:solidFill>
                  <a:schemeClr val="tx2"/>
                </a:solidFill>
              </a:rPr>
              <a:t>MOV AX,WNUM[BX+SI]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；等同于  </a:t>
            </a:r>
            <a:r>
              <a:rPr lang="en-US" altLang="zh-CN" sz="2800" dirty="0">
                <a:solidFill>
                  <a:schemeClr val="tx2"/>
                </a:solidFill>
              </a:rPr>
              <a:t>MOV AX,[BX+SI+WNUM]</a:t>
            </a:r>
            <a:endParaRPr lang="en-US" altLang="zh-CN" sz="24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标题 23142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数据寻址的组合</a:t>
            </a:r>
            <a:endParaRPr lang="zh-CN" altLang="en-US" dirty="0"/>
          </a:p>
        </p:txBody>
      </p:sp>
      <p:pic>
        <p:nvPicPr>
          <p:cNvPr id="96259" name="图片 23142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925" y="835025"/>
            <a:ext cx="8820150" cy="538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ver dir="d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标题 15974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立即数的表达</a:t>
            </a:r>
            <a:endParaRPr lang="zh-CN" altLang="en-US" dirty="0"/>
          </a:p>
        </p:txBody>
      </p:sp>
      <p:sp>
        <p:nvSpPr>
          <p:cNvPr id="97283" name="文本占位符 159746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7957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i8——</a:t>
            </a:r>
            <a:r>
              <a:rPr lang="zh-CN" altLang="en-US" dirty="0"/>
              <a:t>一个</a:t>
            </a:r>
            <a:r>
              <a:rPr lang="en-US" altLang="zh-CN" dirty="0"/>
              <a:t>8</a:t>
            </a:r>
            <a:r>
              <a:rPr lang="zh-CN" altLang="en-US" dirty="0"/>
              <a:t>位立即数</a:t>
            </a:r>
            <a:endParaRPr lang="zh-CN" altLang="en-US" dirty="0"/>
          </a:p>
          <a:p>
            <a:pPr eaLnBrk="1" hangingPunct="1"/>
            <a:r>
              <a:rPr lang="en-US" altLang="zh-CN" dirty="0"/>
              <a:t>i16——</a:t>
            </a:r>
            <a:r>
              <a:rPr lang="zh-CN" altLang="en-US" dirty="0"/>
              <a:t>一个</a:t>
            </a:r>
            <a:r>
              <a:rPr lang="en-US" altLang="zh-CN" dirty="0"/>
              <a:t>16</a:t>
            </a:r>
            <a:r>
              <a:rPr lang="zh-CN" altLang="en-US" dirty="0"/>
              <a:t>位立即数</a:t>
            </a:r>
            <a:endParaRPr lang="zh-CN" altLang="en-US" dirty="0"/>
          </a:p>
          <a:p>
            <a:pPr eaLnBrk="1" hangingPunct="1"/>
            <a:r>
              <a:rPr lang="en-US" altLang="zh-CN" dirty="0"/>
              <a:t>imm——</a:t>
            </a:r>
            <a:r>
              <a:rPr lang="zh-CN" altLang="en-US" dirty="0"/>
              <a:t>代表</a:t>
            </a:r>
            <a:r>
              <a:rPr lang="en-US" altLang="zh-CN" dirty="0"/>
              <a:t>i8</a:t>
            </a:r>
            <a:r>
              <a:rPr lang="zh-CN" altLang="en-US" dirty="0"/>
              <a:t>或</a:t>
            </a:r>
            <a:r>
              <a:rPr lang="en-US" altLang="zh-CN" dirty="0"/>
              <a:t>i16</a:t>
            </a:r>
            <a:endParaRPr lang="en-US" altLang="zh-CN" dirty="0"/>
          </a:p>
          <a:p>
            <a:pPr eaLnBrk="1" hangingPunct="1"/>
            <a:r>
              <a:rPr lang="en-US" altLang="zh-CN" dirty="0"/>
              <a:t>dest——</a:t>
            </a:r>
            <a:r>
              <a:rPr lang="zh-CN" altLang="en-US" dirty="0"/>
              <a:t>目的操作数</a:t>
            </a:r>
            <a:endParaRPr lang="zh-CN" altLang="en-US" dirty="0"/>
          </a:p>
          <a:p>
            <a:pPr eaLnBrk="1" hangingPunct="1"/>
            <a:r>
              <a:rPr lang="en-US" altLang="zh-CN" dirty="0"/>
              <a:t>src——</a:t>
            </a:r>
            <a:r>
              <a:rPr lang="zh-CN" altLang="en-US" dirty="0"/>
              <a:t>源操作数</a:t>
            </a:r>
            <a:endParaRPr lang="zh-CN" altLang="en-US" dirty="0"/>
          </a:p>
        </p:txBody>
      </p:sp>
    </p:spTree>
  </p:cSld>
  <p:clrMapOvr>
    <a:masterClrMapping/>
  </p:clrMapOvr>
  <p:transition>
    <p:spli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标题 15769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寄存器操作数的表达</a:t>
            </a:r>
            <a:endParaRPr lang="zh-CN" altLang="en-US" dirty="0"/>
          </a:p>
        </p:txBody>
      </p:sp>
      <p:sp>
        <p:nvSpPr>
          <p:cNvPr id="98307" name="文本占位符 15769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r8——</a:t>
            </a:r>
            <a:r>
              <a:rPr lang="zh-CN" altLang="en-US" dirty="0"/>
              <a:t>任意一个</a:t>
            </a:r>
            <a:r>
              <a:rPr lang="en-US" altLang="zh-CN" dirty="0"/>
              <a:t>8</a:t>
            </a:r>
            <a:r>
              <a:rPr lang="zh-CN" altLang="en-US" dirty="0"/>
              <a:t>位通用寄存器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AH  AL   BH  BL   CH  CL   DH  DL</a:t>
            </a:r>
            <a:endParaRPr lang="en-US" altLang="zh-CN" dirty="0"/>
          </a:p>
          <a:p>
            <a:pPr eaLnBrk="1" hangingPunct="1"/>
            <a:r>
              <a:rPr lang="en-US" altLang="zh-CN" dirty="0"/>
              <a:t>r16——</a:t>
            </a:r>
            <a:r>
              <a:rPr lang="zh-CN" altLang="en-US" dirty="0"/>
              <a:t>任意一个</a:t>
            </a:r>
            <a:r>
              <a:rPr lang="en-US" altLang="zh-CN" dirty="0"/>
              <a:t>16</a:t>
            </a:r>
            <a:r>
              <a:rPr lang="zh-CN" altLang="en-US" dirty="0"/>
              <a:t>位通用寄存器</a:t>
            </a:r>
            <a:endParaRPr lang="zh-CN" altLang="en-US" dirty="0"/>
          </a:p>
          <a:p>
            <a:pPr lvl="1" eaLnBrk="1" hangingPunct="1">
              <a:buNone/>
            </a:pPr>
            <a:r>
              <a:rPr lang="en-US" altLang="zh-CN" dirty="0"/>
              <a:t>AX  BX  CX  DX    SI  DI  BP  SP</a:t>
            </a:r>
            <a:endParaRPr lang="en-US" altLang="zh-CN" dirty="0"/>
          </a:p>
          <a:p>
            <a:pPr eaLnBrk="1" hangingPunct="1"/>
            <a:r>
              <a:rPr lang="en-US" altLang="zh-CN" dirty="0"/>
              <a:t>reg——</a:t>
            </a:r>
            <a:r>
              <a:rPr lang="zh-CN" altLang="en-US" dirty="0"/>
              <a:t>代表</a:t>
            </a:r>
            <a:r>
              <a:rPr lang="en-US" altLang="zh-CN" dirty="0"/>
              <a:t>r8</a:t>
            </a:r>
            <a:r>
              <a:rPr lang="zh-CN" altLang="en-US" dirty="0"/>
              <a:t>或</a:t>
            </a:r>
            <a:r>
              <a:rPr lang="en-US" altLang="zh-CN" dirty="0"/>
              <a:t>r16</a:t>
            </a:r>
            <a:endParaRPr lang="en-US" altLang="zh-CN" dirty="0"/>
          </a:p>
          <a:p>
            <a:pPr eaLnBrk="1" hangingPunct="1"/>
            <a:r>
              <a:rPr lang="en-US" altLang="zh-CN" dirty="0"/>
              <a:t>seg——</a:t>
            </a:r>
            <a:r>
              <a:rPr lang="zh-CN" altLang="en-US" dirty="0"/>
              <a:t>段寄存器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	</a:t>
            </a:r>
            <a:r>
              <a:rPr lang="en-US" altLang="zh-CN" dirty="0"/>
              <a:t>CS  DS  ES  SS</a:t>
            </a:r>
            <a:endParaRPr lang="en-US" altLang="zh-CN" dirty="0"/>
          </a:p>
        </p:txBody>
      </p:sp>
    </p:spTree>
  </p:cSld>
  <p:clrMapOvr>
    <a:masterClrMapping/>
  </p:clrMapOvr>
  <p:transition>
    <p:spli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标题 15872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存储器操作数的表达</a:t>
            </a:r>
            <a:endParaRPr lang="zh-CN" altLang="en-US" dirty="0"/>
          </a:p>
        </p:txBody>
      </p:sp>
      <p:sp>
        <p:nvSpPr>
          <p:cNvPr id="99331" name="文本占位符 158722"/>
          <p:cNvSpPr>
            <a:spLocks noGrp="1"/>
          </p:cNvSpPr>
          <p:nvPr>
            <p:ph idx="1"/>
          </p:nvPr>
        </p:nvSpPr>
        <p:spPr>
          <a:xfrm>
            <a:off x="395288" y="981075"/>
            <a:ext cx="8353425" cy="37068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m8——</a:t>
            </a:r>
            <a:r>
              <a:rPr lang="zh-CN" altLang="en-US" dirty="0"/>
              <a:t>一个</a:t>
            </a:r>
            <a:r>
              <a:rPr lang="en-US" altLang="zh-CN" dirty="0"/>
              <a:t>8</a:t>
            </a:r>
            <a:r>
              <a:rPr lang="zh-CN" altLang="en-US" dirty="0"/>
              <a:t>位存储器操作数单元（所有主存寻址方式）</a:t>
            </a:r>
            <a:endParaRPr lang="zh-CN" altLang="en-US" dirty="0"/>
          </a:p>
          <a:p>
            <a:pPr eaLnBrk="1" hangingPunct="1"/>
            <a:r>
              <a:rPr lang="en-US" altLang="zh-CN" dirty="0"/>
              <a:t>m16——</a:t>
            </a:r>
            <a:r>
              <a:rPr lang="zh-CN" altLang="en-US" dirty="0"/>
              <a:t>一个</a:t>
            </a:r>
            <a:r>
              <a:rPr lang="en-US" altLang="zh-CN" dirty="0"/>
              <a:t>16</a:t>
            </a:r>
            <a:r>
              <a:rPr lang="zh-CN" altLang="en-US" dirty="0"/>
              <a:t>位存储器操作数单元（所有主存寻址方式）</a:t>
            </a:r>
            <a:endParaRPr lang="zh-CN" altLang="en-US" dirty="0"/>
          </a:p>
          <a:p>
            <a:pPr eaLnBrk="1" hangingPunct="1"/>
            <a:r>
              <a:rPr lang="en-US" altLang="zh-CN" dirty="0"/>
              <a:t>mem——</a:t>
            </a:r>
            <a:r>
              <a:rPr lang="zh-CN" altLang="en-US" dirty="0"/>
              <a:t>代表</a:t>
            </a:r>
            <a:r>
              <a:rPr lang="en-US" altLang="zh-CN" dirty="0"/>
              <a:t>m8</a:t>
            </a:r>
            <a:r>
              <a:rPr lang="zh-CN" altLang="en-US" dirty="0"/>
              <a:t>或</a:t>
            </a:r>
            <a:r>
              <a:rPr lang="en-US" altLang="zh-CN" dirty="0"/>
              <a:t>m16</a:t>
            </a:r>
            <a:endParaRPr lang="en-US" altLang="zh-CN" dirty="0"/>
          </a:p>
        </p:txBody>
      </p:sp>
    </p:spTree>
  </p:cSld>
  <p:clrMapOvr>
    <a:masterClrMapping/>
  </p:clrMapOvr>
  <p:transition>
    <p:spli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标题 160769"/>
          <p:cNvSpPr>
            <a:spLocks noGrp="1"/>
          </p:cNvSpPr>
          <p:nvPr>
            <p:ph type="ctrTitle"/>
          </p:nvPr>
        </p:nvSpPr>
        <p:spPr>
          <a:xfrm>
            <a:off x="3886200" y="333375"/>
            <a:ext cx="4495800" cy="685800"/>
          </a:xfrm>
        </p:spPr>
        <p:txBody>
          <a:bodyPr vert="horz" wrap="square" lIns="91440" tIns="45720" rIns="91440" bIns="45720" anchor="t" anchorCtr="0"/>
          <a:p>
            <a:pPr eaLnBrk="1" hangingPunct="1">
              <a:buSzTx/>
              <a:buFontTx/>
            </a:pPr>
            <a:r>
              <a:rPr lang="zh-CN" altLang="en-US" sz="4000" kern="1200" dirty="0">
                <a:latin typeface="+mj-lt"/>
                <a:ea typeface="+mj-ea"/>
                <a:cs typeface="+mj-cs"/>
              </a:rPr>
              <a:t>第</a:t>
            </a:r>
            <a:r>
              <a:rPr lang="en-US" altLang="zh-CN" sz="4000" kern="1200" dirty="0">
                <a:latin typeface="+mj-lt"/>
                <a:ea typeface="+mj-ea"/>
                <a:cs typeface="+mj-cs"/>
              </a:rPr>
              <a:t>1</a:t>
            </a:r>
            <a:r>
              <a:rPr lang="zh-CN" altLang="en-US" sz="4000" kern="1200" dirty="0">
                <a:latin typeface="+mj-lt"/>
                <a:ea typeface="+mj-ea"/>
                <a:cs typeface="+mj-cs"/>
              </a:rPr>
              <a:t>章 教学要求</a:t>
            </a:r>
            <a:endParaRPr lang="zh-CN" altLang="en-US" sz="40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00355" name="副标题 160770"/>
          <p:cNvSpPr>
            <a:spLocks noGrp="1"/>
          </p:cNvSpPr>
          <p:nvPr>
            <p:ph type="subTitle" idx="1"/>
          </p:nvPr>
        </p:nvSpPr>
        <p:spPr>
          <a:xfrm>
            <a:off x="935038" y="1955800"/>
            <a:ext cx="7273925" cy="4040188"/>
          </a:xfrm>
        </p:spPr>
        <p:txBody>
          <a:bodyPr vert="horz" wrap="square" lIns="91440" tIns="45720" rIns="91440" bIns="45720" anchor="t" anchorCtr="0"/>
          <a:p>
            <a:pPr marL="609600" indent="-609600" algn="just" eaLnBrk="1" hangingPunct="1">
              <a:lnSpc>
                <a:spcPct val="120000"/>
              </a:lnSpc>
              <a:buSzPct val="90000"/>
            </a:pPr>
            <a:r>
              <a:rPr lang="en-US" altLang="zh-CN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了解微机系统的基本软硬件组成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09600" indent="-609600" algn="just" eaLnBrk="1" hangingPunct="1">
              <a:lnSpc>
                <a:spcPct val="120000"/>
              </a:lnSpc>
              <a:buSzPct val="90000"/>
            </a:pPr>
            <a:r>
              <a:rPr lang="en-US" altLang="zh-CN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熟悉汇编语言的基本概念和应用特点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09600" indent="-609600" algn="just" eaLnBrk="1" hangingPunct="1">
              <a:lnSpc>
                <a:spcPct val="120000"/>
              </a:lnSpc>
              <a:buSzPct val="90000"/>
            </a:pPr>
            <a:r>
              <a:rPr lang="en-US" altLang="zh-CN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掌握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8086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的寄存器组和存储器组织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09600" indent="-609600" algn="just" eaLnBrk="1" hangingPunct="1">
              <a:lnSpc>
                <a:spcPct val="120000"/>
              </a:lnSpc>
              <a:buSzPct val="90000"/>
            </a:pPr>
            <a:r>
              <a:rPr lang="en-US" altLang="zh-CN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掌握</a:t>
            </a:r>
            <a:r>
              <a:rPr lang="en-US" altLang="zh-CN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8086</a:t>
            </a:r>
            <a:r>
              <a:rPr lang="zh-CN" alt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的寻址方式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09600" indent="-609600" algn="just" eaLnBrk="1" hangingPunct="1">
              <a:lnSpc>
                <a:spcPct val="120000"/>
              </a:lnSpc>
              <a:buSzPct val="90000"/>
            </a:pPr>
            <a:r>
              <a:rPr lang="zh-CN" altLang="en-US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习题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09600" indent="-609600" algn="just" eaLnBrk="1" hangingPunct="1">
              <a:lnSpc>
                <a:spcPct val="120000"/>
              </a:lnSpc>
              <a:buSzPct val="90000"/>
            </a:pPr>
            <a:r>
              <a:rPr lang="en-US" altLang="zh-CN" kern="1200" dirty="0">
                <a:latin typeface="+mn-lt"/>
                <a:ea typeface="+mn-ea"/>
                <a:cs typeface="+mn-cs"/>
              </a:rPr>
              <a:t>1.14    1.17   1.18    1.19    1.20    1.24</a:t>
            </a:r>
            <a:endParaRPr lang="en-US" altLang="zh-CN" kern="1200" dirty="0">
              <a:latin typeface="+mn-lt"/>
              <a:ea typeface="+mn-ea"/>
              <a:cs typeface="+mn-cs"/>
            </a:endParaRPr>
          </a:p>
        </p:txBody>
      </p:sp>
      <p:grpSp>
        <p:nvGrpSpPr>
          <p:cNvPr id="100356" name="组合 160771"/>
          <p:cNvGrpSpPr/>
          <p:nvPr/>
        </p:nvGrpSpPr>
        <p:grpSpPr>
          <a:xfrm>
            <a:off x="5181600" y="6113463"/>
            <a:ext cx="3276600" cy="211137"/>
            <a:chOff x="1824" y="2640"/>
            <a:chExt cx="2064" cy="133"/>
          </a:xfrm>
        </p:grpSpPr>
        <p:sp>
          <p:nvSpPr>
            <p:cNvPr id="100357" name="直接连接符 160772"/>
            <p:cNvSpPr/>
            <p:nvPr/>
          </p:nvSpPr>
          <p:spPr>
            <a:xfrm>
              <a:off x="1824" y="2711"/>
              <a:ext cx="2064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58" name="矩形 160773"/>
            <p:cNvSpPr/>
            <p:nvPr/>
          </p:nvSpPr>
          <p:spPr>
            <a:xfrm>
              <a:off x="2592" y="2640"/>
              <a:ext cx="133" cy="133"/>
            </a:xfrm>
            <a:prstGeom prst="rect">
              <a:avLst/>
            </a:prstGeom>
            <a:solidFill>
              <a:schemeClr val="accent2"/>
            </a:solidFill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0" dirty="0"/>
            </a:p>
          </p:txBody>
        </p:sp>
        <p:sp>
          <p:nvSpPr>
            <p:cNvPr id="100359" name="矩形 160774"/>
            <p:cNvSpPr/>
            <p:nvPr/>
          </p:nvSpPr>
          <p:spPr>
            <a:xfrm>
              <a:off x="2784" y="2640"/>
              <a:ext cx="133" cy="133"/>
            </a:xfrm>
            <a:prstGeom prst="rect">
              <a:avLst/>
            </a:prstGeom>
            <a:solidFill>
              <a:schemeClr val="bg2"/>
            </a:solidFill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0" dirty="0"/>
            </a:p>
          </p:txBody>
        </p:sp>
        <p:sp>
          <p:nvSpPr>
            <p:cNvPr id="100360" name="矩形 160775"/>
            <p:cNvSpPr/>
            <p:nvPr/>
          </p:nvSpPr>
          <p:spPr>
            <a:xfrm>
              <a:off x="2976" y="2640"/>
              <a:ext cx="133" cy="133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Ø"/>
                <a:defRPr sz="3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  <a:defRPr sz="32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just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0" dirty="0"/>
            </a:p>
          </p:txBody>
        </p:sp>
      </p:grpSp>
    </p:spTree>
  </p:cSld>
  <p:clrMapOvr>
    <a:masterClrMapping/>
  </p:clrMapOvr>
  <p:transition spd="med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标题 158721"/>
          <p:cNvSpPr>
            <a:spLocks noGrp="1"/>
          </p:cNvSpPr>
          <p:nvPr>
            <p:ph type="title"/>
          </p:nvPr>
        </p:nvSpPr>
        <p:spPr>
          <a:xfrm>
            <a:off x="2051050" y="76200"/>
            <a:ext cx="5041900" cy="544513"/>
          </a:xfrm>
        </p:spPr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en-US" altLang="zh-CN" dirty="0"/>
              <a:t>DOSBox DEBUG</a:t>
            </a:r>
            <a:r>
              <a:rPr lang="zh-CN" altLang="en-US" dirty="0"/>
              <a:t>演示</a:t>
            </a:r>
            <a:endParaRPr lang="zh-CN" altLang="en-US" dirty="0"/>
          </a:p>
        </p:txBody>
      </p:sp>
      <p:sp>
        <p:nvSpPr>
          <p:cNvPr id="99331" name="文本占位符 158722"/>
          <p:cNvSpPr>
            <a:spLocks noGrp="1" noChangeArrowheads="1"/>
          </p:cNvSpPr>
          <p:nvPr>
            <p:ph idx="1"/>
          </p:nvPr>
        </p:nvSpPr>
        <p:spPr>
          <a:xfrm>
            <a:off x="395288" y="981075"/>
            <a:ext cx="8353425" cy="580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AX,1234H	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AX←1234H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BX,AX		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BX←AX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AX,[2000H]      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AX←DS:[2000H]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SI,0102H	          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SI←0102H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AX,[SI]	          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AX←DS:[SI]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BX,0001H	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BX←0001H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SI</a:t>
            </a:r>
            <a:r>
              <a:rPr kumimoji="0" lang="en-US" altLang="zh-CN" sz="28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,0002H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      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SI←0002H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MOV AX,[BX+SI]       </a:t>
            </a: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AX←DS:[BX+SI]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plit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f7af6e0c-1fad-4859-9d08-1c9959d9f046"/>
  <p:tag name="COMMONDATA" val="eyJoZGlkIjoiNTVjNjE2MmZmMDcyMzc0YWY3ZTE4MGY4MmU3ZTgyYTcifQ=="/>
</p:tagLst>
</file>

<file path=ppt/theme/theme1.xml><?xml version="1.0" encoding="utf-8"?>
<a:theme xmlns:a="http://schemas.openxmlformats.org/drawingml/2006/main" name="推荐策略">
  <a:themeElements>
    <a:clrScheme name="">
      <a:dk1>
        <a:srgbClr val="000000"/>
      </a:dk1>
      <a:lt1>
        <a:srgbClr val="FFFFFF"/>
      </a:lt1>
      <a:dk2>
        <a:srgbClr val="009900"/>
      </a:dk2>
      <a:lt2>
        <a:srgbClr val="CC0000"/>
      </a:lt2>
      <a:accent1>
        <a:srgbClr val="CCCC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E2E2AA"/>
      </a:accent5>
      <a:accent6>
        <a:srgbClr val="2D2DB7"/>
      </a:accent6>
      <a:hlink>
        <a:srgbClr val="000000"/>
      </a:hlink>
      <a:folHlink>
        <a:srgbClr val="808080"/>
      </a:folHlink>
    </a:clrScheme>
    <a:fontScheme name="">
      <a:majorFont>
        <a:latin typeface="Tahoma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推荐策略 1">
        <a:dk1>
          <a:srgbClr val="009999"/>
        </a:dk1>
        <a:lt1>
          <a:srgbClr val="FFFFFF"/>
        </a:lt1>
        <a:dk2>
          <a:srgbClr val="000066"/>
        </a:dk2>
        <a:lt2>
          <a:srgbClr val="339966"/>
        </a:lt2>
        <a:accent1>
          <a:srgbClr val="00CC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E2CA"/>
        </a:accent5>
        <a:accent6>
          <a:srgbClr val="008AB9"/>
        </a:accent6>
        <a:hlink>
          <a:srgbClr val="33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推荐策略 2">
        <a:dk1>
          <a:srgbClr val="000000"/>
        </a:dk1>
        <a:lt1>
          <a:srgbClr val="FFFFFF"/>
        </a:lt1>
        <a:dk2>
          <a:srgbClr val="009900"/>
        </a:dk2>
        <a:lt2>
          <a:srgbClr val="CC0000"/>
        </a:lt2>
        <a:accent1>
          <a:srgbClr val="CC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2DB9"/>
        </a:accent6>
        <a:hlink>
          <a:srgbClr val="00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推荐策略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推荐策略 4">
        <a:dk1>
          <a:srgbClr val="333399"/>
        </a:dk1>
        <a:lt1>
          <a:srgbClr val="FFFFCC"/>
        </a:lt1>
        <a:dk2>
          <a:srgbClr val="000000"/>
        </a:dk2>
        <a:lt2>
          <a:srgbClr val="0000FF"/>
        </a:lt2>
        <a:accent1>
          <a:srgbClr val="800000"/>
        </a:accent1>
        <a:accent2>
          <a:srgbClr val="3366CC"/>
        </a:accent2>
        <a:accent3>
          <a:srgbClr val="AAAAAA"/>
        </a:accent3>
        <a:accent4>
          <a:srgbClr val="DADAAE"/>
        </a:accent4>
        <a:accent5>
          <a:srgbClr val="C0AAAA"/>
        </a:accent5>
        <a:accent6>
          <a:srgbClr val="2D5CB9"/>
        </a:accent6>
        <a:hlink>
          <a:srgbClr val="FFFF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推荐策略 5">
        <a:dk1>
          <a:srgbClr val="CC3300"/>
        </a:dk1>
        <a:lt1>
          <a:srgbClr val="FFFFCC"/>
        </a:lt1>
        <a:dk2>
          <a:srgbClr val="000000"/>
        </a:dk2>
        <a:lt2>
          <a:srgbClr val="CC6600"/>
        </a:lt2>
        <a:accent1>
          <a:srgbClr val="993300"/>
        </a:accent1>
        <a:accent2>
          <a:srgbClr val="808000"/>
        </a:accent2>
        <a:accent3>
          <a:srgbClr val="AAAAAA"/>
        </a:accent3>
        <a:accent4>
          <a:srgbClr val="DADAAE"/>
        </a:accent4>
        <a:accent5>
          <a:srgbClr val="CAAD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推荐策略 6">
        <a:dk1>
          <a:srgbClr val="66CCFF"/>
        </a:dk1>
        <a:lt1>
          <a:srgbClr val="CCECFF"/>
        </a:lt1>
        <a:dk2>
          <a:srgbClr val="000000"/>
        </a:dk2>
        <a:lt2>
          <a:srgbClr val="9999FF"/>
        </a:lt2>
        <a:accent1>
          <a:srgbClr val="FFFFFF"/>
        </a:accent1>
        <a:accent2>
          <a:srgbClr val="99CCFF"/>
        </a:accent2>
        <a:accent3>
          <a:srgbClr val="AAAAAA"/>
        </a:accent3>
        <a:accent4>
          <a:srgbClr val="AEC9DA"/>
        </a:accent4>
        <a:accent5>
          <a:srgbClr val="FFFFFF"/>
        </a:accent5>
        <a:accent6>
          <a:srgbClr val="8AB9E7"/>
        </a:accent6>
        <a:hlink>
          <a:srgbClr val="CCE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推荐策略 7">
        <a:dk1>
          <a:srgbClr val="993366"/>
        </a:dk1>
        <a:lt1>
          <a:srgbClr val="FFFFCC"/>
        </a:lt1>
        <a:dk2>
          <a:srgbClr val="333399"/>
        </a:dk2>
        <a:lt2>
          <a:srgbClr val="0066FF"/>
        </a:lt2>
        <a:accent1>
          <a:srgbClr val="6600FF"/>
        </a:accent1>
        <a:accent2>
          <a:srgbClr val="0099CC"/>
        </a:accent2>
        <a:accent3>
          <a:srgbClr val="ADADCA"/>
        </a:accent3>
        <a:accent4>
          <a:srgbClr val="DADAAE"/>
        </a:accent4>
        <a:accent5>
          <a:srgbClr val="B8AAFF"/>
        </a:accent5>
        <a:accent6>
          <a:srgbClr val="008AB9"/>
        </a:accent6>
        <a:hlink>
          <a:srgbClr val="66FF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推荐策略 8">
        <a:dk1>
          <a:srgbClr val="993366"/>
        </a:dk1>
        <a:lt1>
          <a:srgbClr val="EAEAEA"/>
        </a:lt1>
        <a:dk2>
          <a:srgbClr val="660066"/>
        </a:dk2>
        <a:lt2>
          <a:srgbClr val="CC0000"/>
        </a:lt2>
        <a:accent1>
          <a:srgbClr val="A50021"/>
        </a:accent1>
        <a:accent2>
          <a:srgbClr val="660033"/>
        </a:accent2>
        <a:accent3>
          <a:srgbClr val="B8AAB8"/>
        </a:accent3>
        <a:accent4>
          <a:srgbClr val="C8C8C8"/>
        </a:accent4>
        <a:accent5>
          <a:srgbClr val="CFAAAB"/>
        </a:accent5>
        <a:accent6>
          <a:srgbClr val="5C00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Data\Microsoft\Templates\推荐策略.pot</Template>
  <TotalTime>0</TotalTime>
  <Words>11861</Words>
  <Application>WPS 演示</Application>
  <PresentationFormat>全屏显示(4:3)</PresentationFormat>
  <Paragraphs>1305</Paragraphs>
  <Slides>95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95</vt:i4>
      </vt:variant>
    </vt:vector>
  </HeadingPairs>
  <TitlesOfParts>
    <vt:vector size="111" baseType="lpstr">
      <vt:lpstr>Arial</vt:lpstr>
      <vt:lpstr>宋体</vt:lpstr>
      <vt:lpstr>Wingdings</vt:lpstr>
      <vt:lpstr>Times New Roman</vt:lpstr>
      <vt:lpstr>Tahoma</vt:lpstr>
      <vt:lpstr>华文新魏</vt:lpstr>
      <vt:lpstr>黑体</vt:lpstr>
      <vt:lpstr>华文行楷</vt:lpstr>
      <vt:lpstr>微软雅黑</vt:lpstr>
      <vt:lpstr>Arial Unicode MS</vt:lpstr>
      <vt:lpstr>Impact</vt:lpstr>
      <vt:lpstr>隶书</vt:lpstr>
      <vt:lpstr>楷体</vt:lpstr>
      <vt:lpstr>推荐策略</vt:lpstr>
      <vt:lpstr>Paint.Picture</vt:lpstr>
      <vt:lpstr>Paint.Picture</vt:lpstr>
      <vt:lpstr>PowerPoint 演示文稿</vt:lpstr>
      <vt:lpstr>PowerPoint 演示文稿</vt:lpstr>
      <vt:lpstr>教学重点</vt:lpstr>
      <vt:lpstr>1.1  计算机系统概述</vt:lpstr>
      <vt:lpstr>微型计算机的系统组成</vt:lpstr>
      <vt:lpstr>汇编语言程序员看到的硬件</vt:lpstr>
      <vt:lpstr>寄存器（Register）</vt:lpstr>
      <vt:lpstr>存储器地址（Address）</vt:lpstr>
      <vt:lpstr>端口（Port）</vt:lpstr>
      <vt:lpstr>计算机的程序设计语言</vt:lpstr>
      <vt:lpstr>什么是汇编语言</vt:lpstr>
      <vt:lpstr>汇编语言和高级语言的比较-1</vt:lpstr>
      <vt:lpstr>汇编语言和高级语言的比较-2</vt:lpstr>
      <vt:lpstr>汇编语言和高级语言的比较-3</vt:lpstr>
      <vt:lpstr>汇编语言的特点</vt:lpstr>
      <vt:lpstr>汇编语言和高级语言的混合编程</vt:lpstr>
      <vt:lpstr>汇编语言的应用场合</vt:lpstr>
      <vt:lpstr>1.2  数据表示</vt:lpstr>
      <vt:lpstr>BCD码（Binary Coded Decimal）</vt:lpstr>
      <vt:lpstr>ASCII码（美国标准信息交换码）</vt:lpstr>
      <vt:lpstr>真值和机器数</vt:lpstr>
      <vt:lpstr>补码</vt:lpstr>
      <vt:lpstr>负数求补</vt:lpstr>
      <vt:lpstr>十六进制数的加减运算</vt:lpstr>
      <vt:lpstr>1.3  Intel 80x86系列微处理器</vt:lpstr>
      <vt:lpstr>1.4  PC微型计算机</vt:lpstr>
      <vt:lpstr>1.4  PC微型计算机</vt:lpstr>
      <vt:lpstr>1.4  PC微型计算机</vt:lpstr>
      <vt:lpstr>主存空间的分配</vt:lpstr>
      <vt:lpstr>微机的软件</vt:lpstr>
      <vt:lpstr>文本编辑器（Editor）</vt:lpstr>
      <vt:lpstr>汇编程序（Assembler）</vt:lpstr>
      <vt:lpstr>连接程序（Linker）</vt:lpstr>
      <vt:lpstr>调试程序（Debugger）</vt:lpstr>
      <vt:lpstr>集成化开发环境</vt:lpstr>
      <vt:lpstr>1.5  8086微处理器</vt:lpstr>
      <vt:lpstr>8086的内部结构</vt:lpstr>
      <vt:lpstr>8086的寄存器</vt:lpstr>
      <vt:lpstr>通用寄存器</vt:lpstr>
      <vt:lpstr>数据寄存器</vt:lpstr>
      <vt:lpstr>变址及指针寄存器</vt:lpstr>
      <vt:lpstr>堆栈（Stack）</vt:lpstr>
      <vt:lpstr>标志寄存器</vt:lpstr>
      <vt:lpstr>指令指针IP</vt:lpstr>
      <vt:lpstr>段寄存器</vt:lpstr>
      <vt:lpstr>数据信息的表达单位</vt:lpstr>
      <vt:lpstr>数据的存储格式</vt:lpstr>
      <vt:lpstr>存储单元及其存储内容</vt:lpstr>
      <vt:lpstr>多字节数据存放方式</vt:lpstr>
      <vt:lpstr>数据的地址对齐</vt:lpstr>
      <vt:lpstr>存储器的分段管理</vt:lpstr>
      <vt:lpstr>物理地址和逻辑地址</vt:lpstr>
      <vt:lpstr>逻辑地址与物理地址</vt:lpstr>
      <vt:lpstr>逻辑地址</vt:lpstr>
      <vt:lpstr>物理地址和逻辑地址的转换</vt:lpstr>
      <vt:lpstr>代码段（Code Segment）</vt:lpstr>
      <vt:lpstr>堆栈段（Stack Segment）</vt:lpstr>
      <vt:lpstr>数据段（Data Segment）</vt:lpstr>
      <vt:lpstr>附加段（Extra Segment）</vt:lpstr>
      <vt:lpstr>如何分配各个逻辑段</vt:lpstr>
      <vt:lpstr>段超越前缀指令</vt:lpstr>
      <vt:lpstr>段超越的示例</vt:lpstr>
      <vt:lpstr>段寄存器的使用规定</vt:lpstr>
      <vt:lpstr>存储器的分段</vt:lpstr>
      <vt:lpstr>各个逻辑段独立</vt:lpstr>
      <vt:lpstr>各个逻辑段重叠</vt:lpstr>
      <vt:lpstr>1MB空间的分段</vt:lpstr>
      <vt:lpstr>1.6  8086的寻址方式</vt:lpstr>
      <vt:lpstr>指令的组成</vt:lpstr>
      <vt:lpstr>指令的操作码和操作数</vt:lpstr>
      <vt:lpstr>8086的机器代码格式</vt:lpstr>
      <vt:lpstr>标准机器代码示例1</vt:lpstr>
      <vt:lpstr>标准机器代码示例2</vt:lpstr>
      <vt:lpstr>其它机器代码形式</vt:lpstr>
      <vt:lpstr>指令的助记符格式</vt:lpstr>
      <vt:lpstr>传送指令MOV的格式</vt:lpstr>
      <vt:lpstr>传送指令MOV的功能</vt:lpstr>
      <vt:lpstr>立即数寻址方式</vt:lpstr>
      <vt:lpstr>立即数寻址指令</vt:lpstr>
      <vt:lpstr>寄存器寻址方式</vt:lpstr>
      <vt:lpstr>寄存器寻址指令</vt:lpstr>
      <vt:lpstr>存储器寻址方式</vt:lpstr>
      <vt:lpstr>直接寻址方式</vt:lpstr>
      <vt:lpstr>直接寻址指令</vt:lpstr>
      <vt:lpstr>寄存器间接寻址方式</vt:lpstr>
      <vt:lpstr>寄存器相对寻址方式</vt:lpstr>
      <vt:lpstr>基址变址寻址方式</vt:lpstr>
      <vt:lpstr>相对基址变址寻址方式</vt:lpstr>
      <vt:lpstr>寻址方式的多种表示方式</vt:lpstr>
      <vt:lpstr>数据寻址的组合</vt:lpstr>
      <vt:lpstr>立即数的表达</vt:lpstr>
      <vt:lpstr>寄存器操作数的表达</vt:lpstr>
      <vt:lpstr>存储器操作数的表达</vt:lpstr>
      <vt:lpstr>第1章 教学要求</vt:lpstr>
      <vt:lpstr>DOSBox DEBUG演示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汇编语言第1章</dc:title>
  <dc:creator>qxj</dc:creator>
  <cp:lastModifiedBy>鲁宏伟</cp:lastModifiedBy>
  <cp:revision>84</cp:revision>
  <dcterms:created xsi:type="dcterms:W3CDTF">2002-07-02T07:48:00Z</dcterms:created>
  <dcterms:modified xsi:type="dcterms:W3CDTF">2023-08-26T08:41:13Z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FF073595A0F047549125A8E3AE732755</vt:lpwstr>
  </property>
</Properties>
</file>